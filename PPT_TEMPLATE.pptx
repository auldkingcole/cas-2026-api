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9" r:id="rId5"/>
  </p:sldMasterIdLst>
  <p:notesMasterIdLst>
    <p:notesMasterId r:id="rId34"/>
  </p:notesMasterIdLst>
  <p:sldIdLst>
    <p:sldId id="257" r:id="rId6"/>
    <p:sldId id="1577" r:id="rId7"/>
    <p:sldId id="256" r:id="rId8"/>
    <p:sldId id="1595" r:id="rId9"/>
    <p:sldId id="1596" r:id="rId10"/>
    <p:sldId id="1581" r:id="rId11"/>
    <p:sldId id="258" r:id="rId12"/>
    <p:sldId id="1578" r:id="rId13"/>
    <p:sldId id="259" r:id="rId14"/>
    <p:sldId id="1583" r:id="rId15"/>
    <p:sldId id="1584" r:id="rId16"/>
    <p:sldId id="1585" r:id="rId17"/>
    <p:sldId id="1586" r:id="rId18"/>
    <p:sldId id="1587" r:id="rId19"/>
    <p:sldId id="1588" r:id="rId20"/>
    <p:sldId id="1589" r:id="rId21"/>
    <p:sldId id="1590" r:id="rId22"/>
    <p:sldId id="1591" r:id="rId23"/>
    <p:sldId id="1592" r:id="rId24"/>
    <p:sldId id="1593" r:id="rId25"/>
    <p:sldId id="1594" r:id="rId26"/>
    <p:sldId id="1597" r:id="rId27"/>
    <p:sldId id="1563" r:id="rId28"/>
    <p:sldId id="1572" r:id="rId29"/>
    <p:sldId id="1573" r:id="rId30"/>
    <p:sldId id="1574" r:id="rId31"/>
    <p:sldId id="1575" r:id="rId32"/>
    <p:sldId id="15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576" autoAdjust="0"/>
  </p:normalViewPr>
  <p:slideViewPr>
    <p:cSldViewPr snapToGrid="0">
      <p:cViewPr>
        <p:scale>
          <a:sx n="100" d="100"/>
          <a:sy n="100" d="100"/>
        </p:scale>
        <p:origin x="48" y="-4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Market Share</c:v>
                </c:pt>
              </c:strCache>
            </c:strRef>
          </c:tx>
          <c:spPr>
            <a:solidFill>
              <a:srgbClr val="002C71"/>
            </a:solidFill>
          </c:spPr>
          <c:invertIfNegative val="0"/>
          <c:dPt>
            <c:idx val="0"/>
            <c:invertIfNegative val="0"/>
            <c:bubble3D val="0"/>
            <c:spPr>
              <a:solidFill>
                <a:srgbClr val="B6BFC9"/>
              </a:solidFill>
              <a:ln>
                <a:noFill/>
              </a:ln>
            </c:spPr>
            <c:extLst>
              <c:ext xmlns:c16="http://schemas.microsoft.com/office/drawing/2014/chart" uri="{C3380CC4-5D6E-409C-BE32-E72D297353CC}">
                <c16:uniqueId val="{00000001-8EC7-4696-8B3D-B3BC0EA87DAB}"/>
              </c:ext>
            </c:extLst>
          </c:dPt>
          <c:dLbls>
            <c:numFmt formatCode="0&quot;%&quot;" sourceLinked="0"/>
            <c:spPr>
              <a:noFill/>
              <a:ln>
                <a:noFill/>
              </a:ln>
            </c:spPr>
            <c:txPr>
              <a:bodyPr/>
              <a:lstStyle/>
              <a:p>
                <a:pPr>
                  <a:defRPr sz="1800" b="1">
                    <a:solidFill>
                      <a:srgbClr val="002C71"/>
                    </a:solidFill>
                    <a:latin typeface="Source Sans 3"/>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Other</c:v>
                </c:pt>
                <c:pt idx="1">
                  <c:v>Lemonade</c:v>
                </c:pt>
                <c:pt idx="2">
                  <c:v>Independence Pet Holdings</c:v>
                </c:pt>
                <c:pt idx="3">
                  <c:v>Nationwide</c:v>
                </c:pt>
                <c:pt idx="4">
                  <c:v>Trupanion</c:v>
                </c:pt>
              </c:strCache>
            </c:strRef>
          </c:cat>
          <c:val>
            <c:numRef>
              <c:f>Sheet1!$B$2:$B$6</c:f>
              <c:numCache>
                <c:formatCode>General</c:formatCode>
                <c:ptCount val="5"/>
                <c:pt idx="0">
                  <c:v>29</c:v>
                </c:pt>
                <c:pt idx="1">
                  <c:v>8</c:v>
                </c:pt>
                <c:pt idx="2">
                  <c:v>13</c:v>
                </c:pt>
                <c:pt idx="3">
                  <c:v>21</c:v>
                </c:pt>
                <c:pt idx="4">
                  <c:v>29</c:v>
                </c:pt>
              </c:numCache>
            </c:numRef>
          </c:val>
          <c:extLst>
            <c:ext xmlns:c16="http://schemas.microsoft.com/office/drawing/2014/chart" uri="{C3380CC4-5D6E-409C-BE32-E72D297353CC}">
              <c16:uniqueId val="{00000000-D99C-4FCC-BC57-983B6E703E62}"/>
            </c:ext>
          </c:extLst>
        </c:ser>
        <c:dLbls>
          <c:showLegendKey val="0"/>
          <c:showVal val="0"/>
          <c:showCatName val="0"/>
          <c:showSerName val="0"/>
          <c:showPercent val="0"/>
          <c:showBubbleSize val="0"/>
        </c:dLbls>
        <c:gapWidth val="60"/>
        <c:axId val="111111111"/>
        <c:axId val="222222222"/>
      </c:barChart>
      <c:catAx>
        <c:axId val="111111111"/>
        <c:scaling>
          <c:orientation val="minMax"/>
        </c:scaling>
        <c:delete val="0"/>
        <c:axPos val="l"/>
        <c:numFmt formatCode="General" sourceLinked="0"/>
        <c:majorTickMark val="none"/>
        <c:minorTickMark val="none"/>
        <c:tickLblPos val="nextTo"/>
        <c:spPr>
          <a:ln w="9525">
            <a:solidFill>
              <a:srgbClr val="002C71"/>
            </a:solidFill>
          </a:ln>
        </c:spPr>
        <c:txPr>
          <a:bodyPr/>
          <a:lstStyle/>
          <a:p>
            <a:pPr>
              <a:defRPr sz="1600">
                <a:solidFill>
                  <a:srgbClr val="002C71"/>
                </a:solidFill>
                <a:latin typeface="Source Sans 3"/>
              </a:defRPr>
            </a:pPr>
            <a:endParaRPr lang="en-US"/>
          </a:p>
        </c:txPr>
        <c:crossAx val="222222222"/>
        <c:crosses val="autoZero"/>
        <c:auto val="1"/>
        <c:lblAlgn val="ctr"/>
        <c:lblOffset val="100"/>
        <c:noMultiLvlLbl val="0"/>
      </c:catAx>
      <c:valAx>
        <c:axId val="222222222"/>
        <c:scaling>
          <c:orientation val="minMax"/>
          <c:max val="35"/>
          <c:min val="0"/>
        </c:scaling>
        <c:delete val="1"/>
        <c:axPos val="b"/>
        <c:numFmt formatCode="General" sourceLinked="1"/>
        <c:majorTickMark val="out"/>
        <c:minorTickMark val="none"/>
        <c:tickLblPos val="nextTo"/>
        <c:crossAx val="11111111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524294-439B-4B28-9E3A-83B69F9FEACB}"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734F5-E3A5-4DBD-AE9F-B25D4675E616}" type="slidenum">
              <a:rPr lang="en-US" smtClean="0"/>
              <a:t>‹#›</a:t>
            </a:fld>
            <a:endParaRPr lang="en-US"/>
          </a:p>
        </p:txBody>
      </p:sp>
    </p:spTree>
    <p:extLst>
      <p:ext uri="{BB962C8B-B14F-4D97-AF65-F5344CB8AC3E}">
        <p14:creationId xmlns:p14="http://schemas.microsoft.com/office/powerpoint/2010/main" val="2365688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better image</a:t>
            </a:r>
          </a:p>
        </p:txBody>
      </p:sp>
      <p:sp>
        <p:nvSpPr>
          <p:cNvPr id="4" name="Slide Number Placeholder 3"/>
          <p:cNvSpPr>
            <a:spLocks noGrp="1"/>
          </p:cNvSpPr>
          <p:nvPr>
            <p:ph type="sldNum" sz="quarter" idx="5"/>
          </p:nvPr>
        </p:nvSpPr>
        <p:spPr/>
        <p:txBody>
          <a:bodyPr/>
          <a:lstStyle/>
          <a:p>
            <a:fld id="{E14734F5-E3A5-4DBD-AE9F-B25D4675E616}" type="slidenum">
              <a:rPr lang="en-US" smtClean="0"/>
              <a:t>3</a:t>
            </a:fld>
            <a:endParaRPr lang="en-US"/>
          </a:p>
        </p:txBody>
      </p:sp>
    </p:spTree>
    <p:extLst>
      <p:ext uri="{BB962C8B-B14F-4D97-AF65-F5344CB8AC3E}">
        <p14:creationId xmlns:p14="http://schemas.microsoft.com/office/powerpoint/2010/main" val="3611511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4734F5-E3A5-4DBD-AE9F-B25D4675E616}" type="slidenum">
              <a:rPr lang="en-US" smtClean="0"/>
              <a:t>4</a:t>
            </a:fld>
            <a:endParaRPr lang="en-US"/>
          </a:p>
        </p:txBody>
      </p:sp>
    </p:spTree>
    <p:extLst>
      <p:ext uri="{BB962C8B-B14F-4D97-AF65-F5344CB8AC3E}">
        <p14:creationId xmlns:p14="http://schemas.microsoft.com/office/powerpoint/2010/main" val="189139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4734F5-E3A5-4DBD-AE9F-B25D4675E616}" type="slidenum">
              <a:rPr lang="en-US" smtClean="0"/>
              <a:t>5</a:t>
            </a:fld>
            <a:endParaRPr lang="en-US"/>
          </a:p>
        </p:txBody>
      </p:sp>
    </p:spTree>
    <p:extLst>
      <p:ext uri="{BB962C8B-B14F-4D97-AF65-F5344CB8AC3E}">
        <p14:creationId xmlns:p14="http://schemas.microsoft.com/office/powerpoint/2010/main" val="4190797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a small market, highly concentrated, and much younger as a distinct product than most people assume.</a:t>
            </a:r>
          </a:p>
          <a:p>
            <a:r>
              <a:rPr lang="en-US" dirty="0"/>
              <a:t>Five million insured pets sounds large until you compare it to the roughly ninety million dogs and seventy-five million cats in US households. Penetration is low single digits, which is the gap that every growth projection in this market is built on.</a:t>
            </a:r>
          </a:p>
          <a:p>
            <a:r>
              <a:rPr lang="en-US" dirty="0"/>
              <a:t>1982 is the first US policy, written on Lassie. The product is forty-plus years old, but most of the premium has been written in the last decade.</a:t>
            </a:r>
          </a:p>
          <a:p>
            <a:r>
              <a:rPr lang="en-US" dirty="0"/>
              <a:t>Eighty percent dogs is a pricing fact, not a trivia fact. Dogs claim more often and more expensively than cats, so the mix drives the overall loss cost and any shift in mix moves the indication.</a:t>
            </a:r>
          </a:p>
          <a:p>
            <a:r>
              <a:rPr lang="en-US" dirty="0"/>
              <a:t>Historically filed as inland marine: pet had no line of its own, which is why market-wide data has been so hard to assemble and why the move to a distinct line matters.</a:t>
            </a:r>
          </a:p>
          <a:p>
            <a:r>
              <a:rPr lang="en-US" dirty="0"/>
              <a:t>On the chart, the top four carriers write about seventy percent of the market. Other is shown in gray so the concentration is easy to read. A market this concentrated means a few carriers' pricing decisions set the tone for everyone.</a:t>
            </a:r>
          </a:p>
          <a:p>
            <a:r>
              <a:rPr lang="en-US" dirty="0"/>
              <a:t>Check the market share figures and the insured pet count against a current source before presenting, since both move every year.</a:t>
            </a:r>
          </a:p>
        </p:txBody>
      </p:sp>
      <p:sp>
        <p:nvSpPr>
          <p:cNvPr id="4" name="Slide Number Placeholder 3"/>
          <p:cNvSpPr>
            <a:spLocks noGrp="1"/>
          </p:cNvSpPr>
          <p:nvPr>
            <p:ph type="sldNum" sz="quarter" idx="5"/>
          </p:nvPr>
        </p:nvSpPr>
        <p:spPr/>
        <p:txBody>
          <a:bodyPr/>
          <a:lstStyle/>
          <a:p>
            <a:fld id="{E14734F5-E3A5-4DBD-AE9F-B25D4675E616}" type="slidenum">
              <a:rPr lang="en-US" smtClean="0"/>
              <a:t>7</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what pet insurance covers looks like health insurance, but how it pays looks like a P&amp;C reimbursement policy. Both sides of this slide are pricing levers.</a:t>
            </a:r>
          </a:p>
          <a:p>
            <a:r>
              <a:rPr lang="en-US" dirty="0"/>
              <a:t>Coverage tiers, top to bottom: accident-only is the entry product, with the lowest cost and the lowest utilization. Accident plus illness is what most people actually buy, and it is where the chronic and recurring claims live. Each step up adds cost, adds utilization, and changes who selects into the product.</a:t>
            </a:r>
          </a:p>
          <a:p>
            <a:r>
              <a:rPr lang="en-US" dirty="0"/>
              <a:t>Wellness and preventative care is shown separately on purpose. Routine exams, vaccines and dental cleanings are scheduled, predictable purchases rather than fortuitous losses, so they behave more like a budgeting plan than insurance. The NAIC model act requires wellness to be sold and disclosed separately from insurance for that reason.</a:t>
            </a:r>
          </a:p>
          <a:p>
            <a:r>
              <a:rPr lang="en-US" dirty="0"/>
              <a:t>Policy terms, as loss-cost levers. Deductible, limit and coinsurance: with vet costs rising faster than general inflation, fixed-dollar deductibles and limits erode and the insurer's share of each claim grows every year.</a:t>
            </a:r>
          </a:p>
          <a:p>
            <a:r>
              <a:rPr lang="en-US" dirty="0"/>
              <a:t>Pre-existing condition exclusions are the single biggest cost control in the product. How a pre-existing condition is defined does more to the loss cost than most rating variables.</a:t>
            </a:r>
          </a:p>
          <a:p>
            <a:r>
              <a:rPr lang="en-US" dirty="0"/>
              <a:t>Waiting periods are the first line of defense against anti-selection, stopping someone from buying coverage on the way to the vet.</a:t>
            </a:r>
          </a:p>
          <a:p>
            <a:r>
              <a:rPr lang="en-US" dirty="0"/>
              <a:t>Bilateral exclusions, where a condition on one side is treated as pre-existing for the other, such as cruciate ligament tears, are actuarially sound but are one of the most frequent sources of consumer complaints.</a:t>
            </a:r>
          </a:p>
          <a:p>
            <a:r>
              <a:rPr lang="en-US" dirty="0"/>
              <a:t>Ask the room: which of these terms would you expect a regulator to challenge first?</a:t>
            </a:r>
          </a:p>
        </p:txBody>
      </p:sp>
      <p:sp>
        <p:nvSpPr>
          <p:cNvPr id="4" name="Slide Number Placeholder 3"/>
          <p:cNvSpPr>
            <a:spLocks noGrp="1"/>
          </p:cNvSpPr>
          <p:nvPr>
            <p:ph type="sldNum" sz="quarter" idx="5"/>
          </p:nvPr>
        </p:nvSpPr>
        <p:spPr/>
        <p:txBody>
          <a:bodyPr/>
          <a:lstStyle/>
          <a:p>
            <a:fld id="{E14734F5-E3A5-4DBD-AE9F-B25D4675E616}" type="slidenum">
              <a:rPr lang="en-US" smtClean="0"/>
              <a:t>8</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pet insurance is a health-shaped risk living inside a P&amp;C chassis. Everything challenging about this line comes from that mismatch, and the rest of this section works through it.</a:t>
            </a:r>
          </a:p>
          <a:p>
            <a:r>
              <a:rPr lang="en-US" dirty="0"/>
              <a:t>Read the slide as pairs, left to right. Medical cost inflation runs into state-specific filing requirements: veterinary costs rise faster than general inflation, but the rate that recognizes that has to clear a filing process built for property and liability trends.</a:t>
            </a:r>
          </a:p>
          <a:p>
            <a:r>
              <a:rPr lang="en-US" dirty="0"/>
              <a:t>Age-driven risk progression runs into traditional ratemaking: loss cost climbs steeply with the age of the pet, so a rating plan built around a one-year policy term has to reflect a lifetime cost curve.</a:t>
            </a:r>
          </a:p>
          <a:p>
            <a:r>
              <a:rPr lang="en-US" dirty="0"/>
              <a:t>Chronic condition management runs into loss ratio and reserving discipline: diabetes, allergies and arthritis recur every renewal, which strains the assumption that policy years are independent.</a:t>
            </a:r>
          </a:p>
          <a:p>
            <a:r>
              <a:rPr lang="en-US" dirty="0"/>
              <a:t>Provider utilization runs into the indemnity reimbursement structure: there is no network and no negotiated fee schedule, so the insurer reimburses whatever the vet charges and has very little control over the cost of a claim.</a:t>
            </a:r>
          </a:p>
          <a:p>
            <a:r>
              <a:rPr lang="en-US" dirty="0"/>
              <a:t>Behavioral and anti-selection dynamics run into underwriting-driven pricing: who buys, who renews and who claims is driven by owner behavior as much as by the pet, and the underwriting tools available are limited.</a:t>
            </a:r>
          </a:p>
          <a:p>
            <a:r>
              <a:rPr lang="en-US" dirty="0"/>
              <a:t>Where this goes next: we will look at that mismatch through three lenses in turn, product design, pricing, and regulation, and we will come back to these same pairings each time.</a:t>
            </a:r>
          </a:p>
        </p:txBody>
      </p:sp>
      <p:sp>
        <p:nvSpPr>
          <p:cNvPr id="4" name="Slide Number Placeholder 3"/>
          <p:cNvSpPr>
            <a:spLocks noGrp="1"/>
          </p:cNvSpPr>
          <p:nvPr>
            <p:ph type="sldNum" sz="quarter" idx="5"/>
          </p:nvPr>
        </p:nvSpPr>
        <p:spPr/>
        <p:txBody>
          <a:bodyPr/>
          <a:lstStyle/>
          <a:p>
            <a:fld id="{E14734F5-E3A5-4DBD-AE9F-B25D4675E616}" type="slidenum">
              <a:rPr lang="en-US" smtClean="0"/>
              <a:t>10</a:t>
            </a:fld>
            <a:endParaRPr lang="en-US"/>
          </a:p>
        </p:txBody>
      </p:sp>
    </p:spTree>
    <p:extLst>
      <p:ext uri="{BB962C8B-B14F-4D97-AF65-F5344CB8AC3E}">
        <p14:creationId xmlns:p14="http://schemas.microsoft.com/office/powerpoint/2010/main" val="1121415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product design is not just a marketing decision. In pet insurance, small changes to coverage terms can move loss ratios materially, so actuaries need a seat at the product design table.</a:t>
            </a:r>
          </a:p>
          <a:p>
            <a:r>
              <a:rPr lang="en-US" dirty="0"/>
              <a:t>Richer coverage drives higher utilization: this is the classic moral hazard and induced-demand effect. When wellness or preventive care is covered, owners visit the vet more often. That changes frequency, not just severity. </a:t>
            </a:r>
          </a:p>
          <a:p>
            <a:r>
              <a:rPr lang="en-US" dirty="0"/>
              <a:t>Simpler products improve consumer understanding: fewer options and clearer terms reduce complaints and disputed claims, and can improve retention. It also supports regulatory review. Rate and form filings under P&amp;C oversight go more smoothly when the product is easy to explain.</a:t>
            </a:r>
          </a:p>
          <a:p>
            <a:r>
              <a:rPr lang="en-US" dirty="0"/>
              <a:t>Medical inflation pressures limits and deductibles: veterinary costs have been rising faster than general inflation. Fixed-dollar deductibles and limits erode in real terms, so the insurer's share of each claim grows every year. This is the deductible and increased-limits leveraging effect. </a:t>
            </a:r>
          </a:p>
          <a:p>
            <a:r>
              <a:rPr lang="en-US" dirty="0"/>
              <a:t>P&amp;C pricing must stay actuarially sound: pet insurance is filed and regulated as P&amp;C, but its claims look like health claims. They recur, grow with age, and are driven by chronic conditions. Standard P&amp;C tools such as trending, loss development, and credibility still apply. But assumptions like independence between policy years or a short tail may not hold, and the rating framework must still meet the Statement of Principles Regarding P&amp;C Insurance Ratemaking.</a:t>
            </a:r>
          </a:p>
          <a:p>
            <a:r>
              <a:rPr lang="en-US" dirty="0"/>
              <a:t>Tie-back for the audience: none of this needs new actuarial theory. It is the exam syllabus toolkit applied to a product where health-style dynamics sit inside a P&amp;C framework. </a:t>
            </a:r>
          </a:p>
        </p:txBody>
      </p:sp>
      <p:sp>
        <p:nvSpPr>
          <p:cNvPr id="4" name="Slide Number Placeholder 3"/>
          <p:cNvSpPr>
            <a:spLocks noGrp="1"/>
          </p:cNvSpPr>
          <p:nvPr>
            <p:ph type="sldNum" sz="quarter" idx="5"/>
          </p:nvPr>
        </p:nvSpPr>
        <p:spPr/>
        <p:txBody>
          <a:bodyPr/>
          <a:lstStyle/>
          <a:p>
            <a:fld id="{E14734F5-E3A5-4DBD-AE9F-B25D4675E616}" type="slidenum">
              <a:rPr lang="en-US" smtClean="0"/>
              <a:t>11</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pet insurance is priced with P&amp;C tools, but the claims behave like health claims. The pricing job is to bridge the two without breaking either framework.</a:t>
            </a:r>
          </a:p>
          <a:p>
            <a:r>
              <a:rPr lang="en-US" dirty="0"/>
              <a:t>Age curves shape lifetime loss cost: claim frequency and severity rise steeply with age, so the rate that is adequate at year one is badly inadequate at year eight. If you price only the first year, you build in a guaranteed shortfall and a book that gets worse as it matures. This is a classic ratemaking question about the exposure period and trend, applied to an aging exposure base.</a:t>
            </a:r>
          </a:p>
          <a:p>
            <a:r>
              <a:rPr lang="en-US" dirty="0"/>
              <a:t>Chronic conditions persist and recur: once a pet develops diabetes, allergies or arthritis, the claims repeat every year. That breaks the independence-between-policy-years assumption behind much standard P&amp;C work. Pre-existing condition definitions, not the rate, are often what controls this cost, which is exactly why product design and pricing cannot be separated.</a:t>
            </a:r>
          </a:p>
          <a:p>
            <a:r>
              <a:rPr lang="en-US" dirty="0"/>
              <a:t>Wellness care is predictable, not fortuitous: routine exams, vaccines and dental cleanings are scheduled purchases, not random losses. Pricing them is closer to a financing arrangement with an expense load than to insurance. Many states require these to be sold as a separate plan for that reason.</a:t>
            </a:r>
          </a:p>
          <a:p>
            <a:r>
              <a:rPr lang="en-US" dirty="0"/>
              <a:t>Tie-back: the toolkit is familiar. Trend, development, credibility and classification all still apply. What changes is which assumptions hold. Ask the room which of these three dynamics they think is hardest to reflect in a filed rate.</a:t>
            </a:r>
          </a:p>
        </p:txBody>
      </p:sp>
      <p:sp>
        <p:nvSpPr>
          <p:cNvPr id="4" name="Slide Number Placeholder 3"/>
          <p:cNvSpPr>
            <a:spLocks noGrp="1"/>
          </p:cNvSpPr>
          <p:nvPr>
            <p:ph type="sldNum" sz="quarter" idx="5"/>
          </p:nvPr>
        </p:nvSpPr>
        <p:spPr/>
        <p:txBody>
          <a:bodyPr/>
          <a:lstStyle/>
          <a:p>
            <a:fld id="{E14734F5-E3A5-4DBD-AE9F-B25D4675E616}" type="slidenum">
              <a:rPr lang="en-US" smtClean="0"/>
              <a:t>12</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pricing logic that makes actuarial sense for pet insurance is the same logic that draws the most regulatory scrutiny, because this product is filed and reviewed as P&amp;C.</a:t>
            </a:r>
          </a:p>
          <a:p>
            <a:r>
              <a:rPr lang="en-US" dirty="0"/>
              <a:t>Age factors raise renewal rates: the loss cost genuinely rises with age, but a rating plan that increases a policyholder's premium every year purely for getting older looks like a renewal penalty to a regulator. Expect questions about whether the increase is supported by data rather than by an assumed trend</a:t>
            </a:r>
          </a:p>
          <a:p>
            <a:r>
              <a:rPr lang="en-US" dirty="0"/>
              <a:t>Pricing on utilization draws pushback: using a pet's own claim history is intuitive to an actuary and looks like experience rating. To a regulator it can look like penalizing people for using the coverage they bought. This is where the distinction between a prohibited utilization factor and an allowed claims-free discount matters, and it is a big part of why the same rating idea gets different answers in different states.</a:t>
            </a:r>
          </a:p>
          <a:p>
            <a:r>
              <a:rPr lang="en-US" dirty="0"/>
              <a:t>Exclusions and waiting periods need disclosure: pre-existing condition language, bilateral exclusions and waiting periods are the most common source of consumer complaints in this line. The NAIC Pet Insurance Model Act pushes those terms into plain-language disclosure at the point of sale. The actuarial point is that the exclusion is a pricing assumption, so if disclosure or regulation narrows it, the rate has to move with it.</a:t>
            </a:r>
          </a:p>
          <a:p>
            <a:r>
              <a:rPr lang="en-US" dirty="0"/>
              <a:t>Tie-back: the pricing question and the filing question are the same question here. Ask the room how they would support an age curve in a rate filing when the regulator sees it as an automatic increase.</a:t>
            </a:r>
          </a:p>
        </p:txBody>
      </p:sp>
      <p:sp>
        <p:nvSpPr>
          <p:cNvPr id="4" name="Slide Number Placeholder 3"/>
          <p:cNvSpPr>
            <a:spLocks noGrp="1"/>
          </p:cNvSpPr>
          <p:nvPr>
            <p:ph type="sldNum" sz="quarter" idx="5"/>
          </p:nvPr>
        </p:nvSpPr>
        <p:spPr/>
        <p:txBody>
          <a:bodyPr/>
          <a:lstStyle/>
          <a:p>
            <a:fld id="{E14734F5-E3A5-4DBD-AE9F-B25D4675E616}" type="slidenum">
              <a:rPr lang="en-US" smtClean="0"/>
              <a:t>13</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market has grown dramatically, but the product itself has barely changed. Growth has come from more people buying roughly the same policy, not from better policies.</a:t>
            </a:r>
          </a:p>
          <a:p>
            <a:r>
              <a:rPr lang="en-US" dirty="0"/>
              <a:t>New carriers enter on low rates: much of the recent entry is new subsidiaries and MGA-backed programs competing on price rather than on coverage. New entrants have no loss history of their own, so early rates lean on industry assumptions and are often optimistic.</a:t>
            </a:r>
          </a:p>
          <a:p>
            <a:r>
              <a:rPr lang="en-US" dirty="0"/>
              <a:t>Copycat coverage leaves price as the lever: most products look alike, with similar annual limits, deductibles, reimbursement percentages and exclusions. When coverage is undifferentiated, competition collapses to price, which pressures margins across the whole market.</a:t>
            </a:r>
          </a:p>
          <a:p>
            <a:r>
              <a:rPr lang="en-US" dirty="0"/>
              <a:t>Penetration stays low: only a small share of US pets are insured. The barriers are cost, confusion about what is covered, and the exclusions people discover at claim time. That is a product design problem as much as a marketing one.</a:t>
            </a:r>
          </a:p>
          <a:p>
            <a:r>
              <a:rPr lang="en-US" dirty="0"/>
              <a:t>Distribution is innovating, products are not: the real innovation is in how the product is sold, through employee benefits, adoption and vet-point sales, and embedded offers. That changes the mix of who buys, which changes the risk, even when the policy form is unchanged.</a:t>
            </a:r>
          </a:p>
          <a:p>
            <a:r>
              <a:rPr lang="en-US" dirty="0"/>
              <a:t>Tie-back: ask the room what a genuinely differentiated pet product would look like, and what it would take to price one with no relevant history.</a:t>
            </a:r>
          </a:p>
        </p:txBody>
      </p:sp>
      <p:sp>
        <p:nvSpPr>
          <p:cNvPr id="4" name="Slide Number Placeholder 3"/>
          <p:cNvSpPr>
            <a:spLocks noGrp="1"/>
          </p:cNvSpPr>
          <p:nvPr>
            <p:ph type="sldNum" sz="quarter" idx="5"/>
          </p:nvPr>
        </p:nvSpPr>
        <p:spPr/>
        <p:txBody>
          <a:bodyPr/>
          <a:lstStyle/>
          <a:p>
            <a:fld id="{E14734F5-E3A5-4DBD-AE9F-B25D4675E616}" type="slidenum">
              <a:rPr lang="en-US" smtClean="0"/>
              <a:t>15</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book grew faster than the data. Every pricing decision here is made on experience that is thin, immature, or no longer representative of the current book.</a:t>
            </a:r>
          </a:p>
          <a:p>
            <a:r>
              <a:rPr lang="en-US" dirty="0"/>
              <a:t>Thin loss history and adverse selection: early in a program, the people most eager to buy are often the ones who already expect a claim. With little credible history, that selection is hard to see until it shows up in the loss ratio. Standard credibility methods apply, but the complement of credibility is doing most of the work.</a:t>
            </a:r>
          </a:p>
          <a:p>
            <a:r>
              <a:rPr lang="en-US" dirty="0"/>
              <a:t>Growth strains adequacy: a fast-growing book means a large share of exposure is new and priced on assumptions rather than experience. If rate need appears, the honest answer is to file early and often, because waiting lets inadequacy compound across a bigger book.</a:t>
            </a:r>
          </a:p>
          <a:p>
            <a:r>
              <a:rPr lang="en-US" dirty="0"/>
              <a:t>New data makes better pricing possible: breed, age, geography, and vet cost data are far richer than they were a decade ago. Multivariate methods that were impractical on a small book are now both feasible and necessary, and a carrier that does not use them will be selected against by one that does.</a:t>
            </a:r>
          </a:p>
          <a:p>
            <a:r>
              <a:rPr lang="en-US" dirty="0"/>
              <a:t>Big increases push healthy pets out: this is the anti-selective lapse problem. Large increases are most likely to be accepted by owners who expect to claim, so the pool deteriorates and the next indication is worse. It is why the size and pace of increases matter as much as the total.</a:t>
            </a:r>
          </a:p>
          <a:p>
            <a:r>
              <a:rPr lang="en-US" dirty="0"/>
              <a:t>Tie-back: growth hides pricing errors, and it hides them longer than most of us are comfortable with. Ask the room how they would set a rate level when most of the exposure has no mature history.</a:t>
            </a:r>
          </a:p>
        </p:txBody>
      </p:sp>
      <p:sp>
        <p:nvSpPr>
          <p:cNvPr id="4" name="Slide Number Placeholder 3"/>
          <p:cNvSpPr>
            <a:spLocks noGrp="1"/>
          </p:cNvSpPr>
          <p:nvPr>
            <p:ph type="sldNum" sz="quarter" idx="5"/>
          </p:nvPr>
        </p:nvSpPr>
        <p:spPr/>
        <p:txBody>
          <a:bodyPr/>
          <a:lstStyle/>
          <a:p>
            <a:fld id="{E14734F5-E3A5-4DBD-AE9F-B25D4675E616}" type="slidenum">
              <a:rPr lang="en-US" smtClean="0"/>
              <a:t>16</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regulation is catching up with the market. Pet insurance is moving from an afterthought inside other lines to a product with its own rules.</a:t>
            </a:r>
          </a:p>
          <a:p>
            <a:r>
              <a:rPr lang="en-US" dirty="0"/>
              <a:t>Pet is becoming its own line: historically pet was reported inside inland marine or other liability, which made market-wide data hard to assemble. As it gains its own statistical identity, regulators and actuaries both get better visibility, and carriers get more scrutiny.</a:t>
            </a:r>
          </a:p>
          <a:p>
            <a:r>
              <a:rPr lang="en-US" dirty="0"/>
              <a:t>States continue to adopt the model act: the NAIC Pet Insurance Model Act was adopted in 2022 and states have been enacting versions of it since. It standardizes definitions of pre-existing condition and waiting period, requires plain-language disclosure, separates wellness plans from insurance, and adds producer training requirements.</a:t>
            </a:r>
          </a:p>
          <a:p>
            <a:r>
              <a:rPr lang="en-US" dirty="0"/>
              <a:t>Disclosure rules keep evolving: the direction of travel is clear, more disclosure at point of sale and less room for exclusions that surprise the consumer at claim time. Each of those requirements is a constraint on the product, which makes it a constraint on the rate.</a:t>
            </a:r>
          </a:p>
          <a:p>
            <a:r>
              <a:rPr lang="en-US" dirty="0"/>
              <a:t>Tie-back: the practical message is that the regulatory framework is still being written, so assumptions about what is allowed should be revisited every filing season, not set once.</a:t>
            </a:r>
          </a:p>
        </p:txBody>
      </p:sp>
      <p:sp>
        <p:nvSpPr>
          <p:cNvPr id="4" name="Slide Number Placeholder 3"/>
          <p:cNvSpPr>
            <a:spLocks noGrp="1"/>
          </p:cNvSpPr>
          <p:nvPr>
            <p:ph type="sldNum" sz="quarter" idx="5"/>
          </p:nvPr>
        </p:nvSpPr>
        <p:spPr/>
        <p:txBody>
          <a:bodyPr/>
          <a:lstStyle/>
          <a:p>
            <a:fld id="{E14734F5-E3A5-4DBD-AE9F-B25D4675E616}" type="slidenum">
              <a:rPr lang="en-US" smtClean="0"/>
              <a:t>17</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what owners now expect from veterinary care has changed, and the policy has to keep up with it. This is a coverage design problem created by outside forces.</a:t>
            </a:r>
          </a:p>
          <a:p>
            <a:r>
              <a:rPr lang="en-US" dirty="0"/>
              <a:t>The gold standard expectation: MRIs, oncology, specialty surgery and referral hospitals are now routine requests, not exotic ones. Owners increasingly ask for the best available treatment rather than the most economical one, and the presence of a policy makes that ask easier.</a:t>
            </a:r>
          </a:p>
          <a:p>
            <a:r>
              <a:rPr lang="en-US" dirty="0"/>
              <a:t>Coverage itself drives utilization: this is induced demand, the same effect seen in health insurance. An insured owner visits the vet sooner, accepts more diagnostics and approves more treatment. It raises frequency and severity at once, and it means a coverage change needs its own utilization load rather than a pro-rata cost estimate.</a:t>
            </a:r>
          </a:p>
          <a:p>
            <a:r>
              <a:rPr lang="en-US" dirty="0"/>
              <a:t>Coverage must keep pace: telemedicine, rehabilitation and physical therapy, and alternative treatments like acupuncture were edge cases a few years ago and are mainstream requests now. A form that is silent on them creates disputes; a form that covers them without pricing them creates losses.</a:t>
            </a:r>
          </a:p>
          <a:p>
            <a:r>
              <a:rPr lang="en-US" dirty="0"/>
              <a:t>Fixed deductibles and limits erode: when vet costs rise faster than general inflation, a fixed-dollar deductible covers a smaller share of each claim and a fixed annual limit caps less of it. The insurer's share grows every year with no change in the policy. This is the leveraged effect of inflation on deductibles and limits, and it argues for indexing or regular review.</a:t>
            </a:r>
          </a:p>
          <a:p>
            <a:r>
              <a:rPr lang="en-US" dirty="0"/>
              <a:t>Tie-back: ask the room which of these they think their current rating plan actually reflects, and which is being absorbed silently in the loss ratio.</a:t>
            </a:r>
          </a:p>
        </p:txBody>
      </p:sp>
      <p:sp>
        <p:nvSpPr>
          <p:cNvPr id="4" name="Slide Number Placeholder 3"/>
          <p:cNvSpPr>
            <a:spLocks noGrp="1"/>
          </p:cNvSpPr>
          <p:nvPr>
            <p:ph type="sldNum" sz="quarter" idx="5"/>
          </p:nvPr>
        </p:nvSpPr>
        <p:spPr/>
        <p:txBody>
          <a:bodyPr/>
          <a:lstStyle/>
          <a:p>
            <a:fld id="{E14734F5-E3A5-4DBD-AE9F-B25D4675E616}" type="slidenum">
              <a:rPr lang="en-US" smtClean="0"/>
              <a:t>19</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a one-two punch. Severity is rising because veterinary medicine is more advanced and more expensive, and frequency is rising because insured owners use more of it. Most pricing frameworks are built to absorb one of those at a time.</a:t>
            </a:r>
          </a:p>
          <a:p>
            <a:r>
              <a:rPr lang="en-US" dirty="0"/>
              <a:t>Costlier medicine plus higher utilization: trending severity alone understates the problem, because the frequency trend is moving in the same direction for behavioral reasons rather than for risk reasons. Rate need compounds faster than a single trend factor suggests.</a:t>
            </a:r>
          </a:p>
          <a:p>
            <a:r>
              <a:rPr lang="en-US" dirty="0"/>
              <a:t>Utilization signals owner behavior: this is the subtle point. A pet's claim history is partly a signal of underlying health, but it is much more a signal of the owner's willingness to take the pet to a vet. Two identical pets with different owners produce very different claim counts, and that owner effect is persistent and predictive, which is exactly why it is such a useful and such a contested rating variable.</a:t>
            </a:r>
          </a:p>
          <a:p>
            <a:r>
              <a:rPr lang="en-US" dirty="0"/>
              <a:t>DOIs deny utilization but allow claims free: regulators generally reject rating directly on utilization as penalizing people for using coverage, while permitting a claims-free discount that captures much of the same signal from the other direction. The economics are similar, the framing is what differs, and knowing that distinction is worth a lot in a filing.</a:t>
            </a:r>
          </a:p>
          <a:p>
            <a:r>
              <a:rPr lang="en-US" dirty="0"/>
              <a:t>Rapid change dates assumptions: when treatment patterns shift every few years, historical loss data describes a different product being delivered to a different standard of care. Development patterns and trend selections based on older years need to be questioned rather than rolled forward.</a:t>
            </a:r>
          </a:p>
          <a:p>
            <a:r>
              <a:rPr lang="en-US" dirty="0"/>
              <a:t>Tie-back: ask the room how they would separate the pet's risk from the owner's behavior in a rating plan that a regulator will accept.</a:t>
            </a:r>
          </a:p>
        </p:txBody>
      </p:sp>
      <p:sp>
        <p:nvSpPr>
          <p:cNvPr id="4" name="Slide Number Placeholder 3"/>
          <p:cNvSpPr>
            <a:spLocks noGrp="1"/>
          </p:cNvSpPr>
          <p:nvPr>
            <p:ph type="sldNum" sz="quarter" idx="5"/>
          </p:nvPr>
        </p:nvSpPr>
        <p:spPr/>
        <p:txBody>
          <a:bodyPr/>
          <a:lstStyle/>
          <a:p>
            <a:fld id="{E14734F5-E3A5-4DBD-AE9F-B25D4675E616}" type="slidenum">
              <a:rPr lang="en-US" smtClean="0"/>
              <a:t>20</a:t>
            </a:fld>
            <a:endParaRPr lang="en-US"/>
          </a:p>
        </p:txBody>
      </p:sp>
    </p:spTree>
    <p:extLst>
      <p:ext uri="{BB962C8B-B14F-4D97-AF65-F5344CB8AC3E}">
        <p14:creationId xmlns:p14="http://schemas.microsoft.com/office/powerpoint/2010/main" val="1121415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what happens when genuine rate need meets a rate approval process that was not expecting it. The actuarial answer and the regulatory answer diverged, and consumers felt the result.</a:t>
            </a:r>
          </a:p>
          <a:p>
            <a:r>
              <a:rPr lang="en-US" dirty="0"/>
              <a:t>Every carrier needed increases at once: because the cost pressure was industry-wide rather than company-specific, indications moved together and in large amounts. A filing that looks extreme on its own looks very different when every carrier in the market is filing something similar.</a:t>
            </a:r>
          </a:p>
          <a:p>
            <a:r>
              <a:rPr lang="en-US" dirty="0"/>
              <a:t>States denied or capped the filings: prior approval states in particular pushed back on the size of increases, and some approved only a portion of the indication. A partially approved increase does not remove the rate need, it defers it and makes the next filing larger.</a:t>
            </a:r>
          </a:p>
          <a:p>
            <a:r>
              <a:rPr lang="en-US" dirty="0"/>
              <a:t>The result was non-renewals: when a carrier cannot get an adequate rate, the remaining levers are underwriting restrictions, withdrawal from a state, or mass non-renewal. That converts a rate adequacy problem into an availability problem, which is a worse outcome for the consumer than the increase would have been.</a:t>
            </a:r>
          </a:p>
          <a:p>
            <a:r>
              <a:rPr lang="en-US" dirty="0"/>
              <a:t>Tie-back: this is the core tension in rate regulation, affordability now against availability later. Ask the room what they would have filed, and what they would have done if half of it came back approved.</a:t>
            </a:r>
          </a:p>
        </p:txBody>
      </p:sp>
      <p:sp>
        <p:nvSpPr>
          <p:cNvPr id="4" name="Slide Number Placeholder 3"/>
          <p:cNvSpPr>
            <a:spLocks noGrp="1"/>
          </p:cNvSpPr>
          <p:nvPr>
            <p:ph type="sldNum" sz="quarter" idx="5"/>
          </p:nvPr>
        </p:nvSpPr>
        <p:spPr/>
        <p:txBody>
          <a:bodyPr/>
          <a:lstStyle/>
          <a:p>
            <a:fld id="{E14734F5-E3A5-4DBD-AE9F-B25D4675E616}" type="slidenum">
              <a:rPr lang="en-US" smtClean="0"/>
              <a:t>21</a:t>
            </a:fld>
            <a:endParaRPr lang="en-US"/>
          </a:p>
        </p:txBody>
      </p:sp>
    </p:spTree>
    <p:extLst>
      <p:ext uri="{BB962C8B-B14F-4D97-AF65-F5344CB8AC3E}">
        <p14:creationId xmlns:p14="http://schemas.microsoft.com/office/powerpoint/2010/main" val="11214155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A0E5E4-5D69-48E1-4CC8-A8B9F490F65F}"/>
              </a:ext>
            </a:extLst>
          </p:cNvPr>
          <p:cNvSpPr>
            <a:spLocks noGrp="1"/>
          </p:cNvSpPr>
          <p:nvPr>
            <p:ph type="dt" sz="half" idx="10"/>
          </p:nvPr>
        </p:nvSpPr>
        <p:spPr/>
        <p:txBody>
          <a:bodyPr/>
          <a:lstStyle/>
          <a:p>
            <a:fld id="{7C5F1525-D19C-421C-A7D7-D76F3A4AF57C}" type="datetimeFigureOut">
              <a:rPr lang="en-US" smtClean="0"/>
              <a:t>9/29/2026</a:t>
            </a:fld>
            <a:endParaRPr lang="en-US"/>
          </a:p>
        </p:txBody>
      </p:sp>
    </p:spTree>
    <p:extLst>
      <p:ext uri="{BB962C8B-B14F-4D97-AF65-F5344CB8AC3E}">
        <p14:creationId xmlns:p14="http://schemas.microsoft.com/office/powerpoint/2010/main" val="2626335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8482B-19FE-C78B-B6EA-89D6B4D6712B}"/>
              </a:ext>
            </a:extLst>
          </p:cNvPr>
          <p:cNvSpPr>
            <a:spLocks noGrp="1"/>
          </p:cNvSpPr>
          <p:nvPr>
            <p:ph type="ctrTitle"/>
          </p:nvPr>
        </p:nvSpPr>
        <p:spPr>
          <a:xfrm>
            <a:off x="1524000" y="1639600"/>
            <a:ext cx="9144000" cy="2387600"/>
          </a:xfrm>
          <a:prstGeom prst="rect">
            <a:avLst/>
          </a:prstGeom>
        </p:spPr>
        <p:txBody>
          <a:bodyPr anchor="b"/>
          <a:lstStyle>
            <a:lvl1pPr algn="ctr">
              <a:defRPr sz="6000">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007CF5F8-8C69-2FCF-48F5-0CC6D837953E}"/>
              </a:ext>
            </a:extLst>
          </p:cNvPr>
          <p:cNvSpPr>
            <a:spLocks noGrp="1"/>
          </p:cNvSpPr>
          <p:nvPr>
            <p:ph type="subTitle" idx="1"/>
          </p:nvPr>
        </p:nvSpPr>
        <p:spPr>
          <a:xfrm>
            <a:off x="1524000" y="4119275"/>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738923B8-FDCD-997F-F4EA-1BF99B876996}"/>
              </a:ext>
            </a:extLst>
          </p:cNvPr>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7C5F1525-D19C-421C-A7D7-D76F3A4AF57C}" type="datetimeFigureOut">
              <a:rPr lang="en-US" smtClean="0"/>
              <a:pPr/>
              <a:t>9/29/2026</a:t>
            </a:fld>
            <a:endParaRPr lang="en-US" dirty="0"/>
          </a:p>
        </p:txBody>
      </p:sp>
      <p:sp>
        <p:nvSpPr>
          <p:cNvPr id="5" name="Footer Placeholder 4">
            <a:extLst>
              <a:ext uri="{FF2B5EF4-FFF2-40B4-BE49-F238E27FC236}">
                <a16:creationId xmlns:a16="http://schemas.microsoft.com/office/drawing/2014/main" id="{923FC172-4856-9DE6-A84C-EF3CF17689CA}"/>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5600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99AA2-4BF1-6BC5-5F08-9873126835DC}"/>
              </a:ext>
            </a:extLst>
          </p:cNvPr>
          <p:cNvSpPr>
            <a:spLocks noGrp="1"/>
          </p:cNvSpPr>
          <p:nvPr>
            <p:ph type="title"/>
          </p:nvPr>
        </p:nvSpPr>
        <p:spPr>
          <a:xfrm>
            <a:off x="2346036" y="819509"/>
            <a:ext cx="7749309" cy="871179"/>
          </a:xfrm>
          <a:prstGeom prst="rect">
            <a:avLst/>
          </a:prstGeo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a:t>
            </a:r>
          </a:p>
        </p:txBody>
      </p:sp>
      <p:sp>
        <p:nvSpPr>
          <p:cNvPr id="3" name="Content Placeholder 2">
            <a:extLst>
              <a:ext uri="{FF2B5EF4-FFF2-40B4-BE49-F238E27FC236}">
                <a16:creationId xmlns:a16="http://schemas.microsoft.com/office/drawing/2014/main" id="{2549CB80-0EFF-C170-A0D8-B7266FCA91C7}"/>
              </a:ext>
            </a:extLst>
          </p:cNvPr>
          <p:cNvSpPr>
            <a:spLocks noGrp="1"/>
          </p:cNvSpPr>
          <p:nvPr>
            <p:ph idx="1"/>
          </p:nvPr>
        </p:nvSpPr>
        <p:spPr/>
        <p:txBody>
          <a:bodyPr/>
          <a:lstStyle>
            <a:lvl1pPr>
              <a:defRPr sz="2400">
                <a:latin typeface="Arial" panose="020B0604020202020204" pitchFamily="34" charset="0"/>
                <a:cs typeface="Arial" panose="020B0604020202020204" pitchFamily="34" charset="0"/>
              </a:defRPr>
            </a:lvl1pPr>
            <a:lvl2pPr>
              <a:defRPr sz="2200">
                <a:latin typeface="Arial" panose="020B0604020202020204" pitchFamily="34" charset="0"/>
                <a:cs typeface="Arial" panose="020B0604020202020204" pitchFamily="34" charset="0"/>
              </a:defRPr>
            </a:lvl2pPr>
            <a:lvl3pPr>
              <a:defRPr sz="2200"/>
            </a:lvl3pPr>
          </a:lstStyle>
          <a:p>
            <a:pPr lvl="0"/>
            <a:r>
              <a:rPr lang="en-US" dirty="0"/>
              <a:t>Click to edit Master text styles</a:t>
            </a:r>
          </a:p>
          <a:p>
            <a:pPr lvl="1"/>
            <a:r>
              <a:rPr lang="en-US" dirty="0"/>
              <a:t>Second level</a:t>
            </a:r>
          </a:p>
        </p:txBody>
      </p:sp>
      <p:sp>
        <p:nvSpPr>
          <p:cNvPr id="4" name="Date Placeholder 3">
            <a:extLst>
              <a:ext uri="{FF2B5EF4-FFF2-40B4-BE49-F238E27FC236}">
                <a16:creationId xmlns:a16="http://schemas.microsoft.com/office/drawing/2014/main" id="{1720513F-BB4B-9819-699A-EEC475F89341}"/>
              </a:ext>
            </a:extLst>
          </p:cNvPr>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7C5F1525-D19C-421C-A7D7-D76F3A4AF57C}" type="datetimeFigureOut">
              <a:rPr lang="en-US" smtClean="0"/>
              <a:pPr/>
              <a:t>9/29/2026</a:t>
            </a:fld>
            <a:endParaRPr lang="en-US" dirty="0"/>
          </a:p>
        </p:txBody>
      </p:sp>
      <p:sp>
        <p:nvSpPr>
          <p:cNvPr id="5" name="Footer Placeholder 4">
            <a:extLst>
              <a:ext uri="{FF2B5EF4-FFF2-40B4-BE49-F238E27FC236}">
                <a16:creationId xmlns:a16="http://schemas.microsoft.com/office/drawing/2014/main" id="{AD9D3320-AAD3-9024-0D31-376758B7F04A}"/>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494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FC7FC-6C08-2049-7E5B-A3C36BD737D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BF022A1E-61BC-4641-A40F-A2A99D2437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F12BC6-08F8-E3A0-8B61-150BACE5F087}"/>
              </a:ext>
            </a:extLst>
          </p:cNvPr>
          <p:cNvSpPr>
            <a:spLocks noGrp="1"/>
          </p:cNvSpPr>
          <p:nvPr>
            <p:ph type="dt" sz="half" idx="10"/>
          </p:nvPr>
        </p:nvSpPr>
        <p:spPr/>
        <p:txBody>
          <a:bodyPr/>
          <a:lstStyle>
            <a:lvl1pPr>
              <a:defRPr>
                <a:solidFill>
                  <a:schemeClr val="bg1"/>
                </a:solidFill>
              </a:defRPr>
            </a:lvl1pPr>
          </a:lstStyle>
          <a:p>
            <a:fld id="{7C5F1525-D19C-421C-A7D7-D76F3A4AF57C}" type="datetimeFigureOut">
              <a:rPr lang="en-US" smtClean="0"/>
              <a:pPr/>
              <a:t>9/29/2026</a:t>
            </a:fld>
            <a:endParaRPr lang="en-US" dirty="0"/>
          </a:p>
        </p:txBody>
      </p:sp>
      <p:sp>
        <p:nvSpPr>
          <p:cNvPr id="5" name="Footer Placeholder 4">
            <a:extLst>
              <a:ext uri="{FF2B5EF4-FFF2-40B4-BE49-F238E27FC236}">
                <a16:creationId xmlns:a16="http://schemas.microsoft.com/office/drawing/2014/main" id="{50A89DD9-7005-A8EB-8C44-EAA6E90719B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40769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7DAA5B-0DE6-1147-6794-9EC8548C33F3}"/>
              </a:ext>
            </a:extLst>
          </p:cNvPr>
          <p:cNvSpPr>
            <a:spLocks noGrp="1"/>
          </p:cNvSpPr>
          <p:nvPr>
            <p:ph sz="half" idx="1"/>
          </p:nvPr>
        </p:nvSpPr>
        <p:spPr>
          <a:xfrm>
            <a:off x="838200" y="1825625"/>
            <a:ext cx="5181600" cy="4351338"/>
          </a:xfrm>
        </p:spPr>
        <p:txBody>
          <a:bodyPr/>
          <a:lstStyle>
            <a:lvl1pPr>
              <a:defRPr sz="2400"/>
            </a:lvl1pPr>
            <a:lvl2pPr>
              <a:defRPr sz="2200"/>
            </a:lvl2pPr>
          </a:lstStyle>
          <a:p>
            <a:pPr lvl="0"/>
            <a:r>
              <a:rPr lang="en-US" dirty="0"/>
              <a:t>Click to edit Master text styles</a:t>
            </a:r>
          </a:p>
          <a:p>
            <a:pPr lvl="1"/>
            <a:r>
              <a:rPr lang="en-US" dirty="0"/>
              <a:t>Second level</a:t>
            </a:r>
          </a:p>
        </p:txBody>
      </p:sp>
      <p:sp>
        <p:nvSpPr>
          <p:cNvPr id="4" name="Content Placeholder 3">
            <a:extLst>
              <a:ext uri="{FF2B5EF4-FFF2-40B4-BE49-F238E27FC236}">
                <a16:creationId xmlns:a16="http://schemas.microsoft.com/office/drawing/2014/main" id="{E22EAEF1-42A8-BBC4-E7DD-7D81624EF8DE}"/>
              </a:ext>
            </a:extLst>
          </p:cNvPr>
          <p:cNvSpPr>
            <a:spLocks noGrp="1"/>
          </p:cNvSpPr>
          <p:nvPr>
            <p:ph sz="half" idx="2"/>
          </p:nvPr>
        </p:nvSpPr>
        <p:spPr>
          <a:xfrm>
            <a:off x="6172200" y="1825625"/>
            <a:ext cx="5181600" cy="4351338"/>
          </a:xfrm>
        </p:spPr>
        <p:txBody>
          <a:bodyPr/>
          <a:lstStyle>
            <a:lvl1pPr>
              <a:defRPr sz="2400"/>
            </a:lvl1pPr>
            <a:lvl2pPr>
              <a:defRPr sz="2200"/>
            </a:lvl2pPr>
          </a:lstStyle>
          <a:p>
            <a:pPr lvl="0"/>
            <a:r>
              <a:rPr lang="en-US" dirty="0"/>
              <a:t>Click to edit Master text styles</a:t>
            </a:r>
          </a:p>
          <a:p>
            <a:pPr lvl="1"/>
            <a:r>
              <a:rPr lang="en-US" dirty="0"/>
              <a:t>Second level</a:t>
            </a:r>
          </a:p>
        </p:txBody>
      </p:sp>
      <p:sp>
        <p:nvSpPr>
          <p:cNvPr id="5" name="Date Placeholder 4">
            <a:extLst>
              <a:ext uri="{FF2B5EF4-FFF2-40B4-BE49-F238E27FC236}">
                <a16:creationId xmlns:a16="http://schemas.microsoft.com/office/drawing/2014/main" id="{C4AF8B17-A44C-DCBA-7731-83926AE0812B}"/>
              </a:ext>
            </a:extLst>
          </p:cNvPr>
          <p:cNvSpPr>
            <a:spLocks noGrp="1"/>
          </p:cNvSpPr>
          <p:nvPr>
            <p:ph type="dt" sz="half" idx="10"/>
          </p:nvPr>
        </p:nvSpPr>
        <p:spPr/>
        <p:txBody>
          <a:bodyPr/>
          <a:lstStyle>
            <a:lvl1pPr>
              <a:defRPr>
                <a:solidFill>
                  <a:schemeClr val="bg1"/>
                </a:solidFill>
              </a:defRPr>
            </a:lvl1pPr>
          </a:lstStyle>
          <a:p>
            <a:fld id="{7C5F1525-D19C-421C-A7D7-D76F3A4AF57C}" type="datetimeFigureOut">
              <a:rPr lang="en-US" smtClean="0"/>
              <a:pPr/>
              <a:t>9/29/2026</a:t>
            </a:fld>
            <a:endParaRPr lang="en-US" dirty="0"/>
          </a:p>
        </p:txBody>
      </p:sp>
      <p:sp>
        <p:nvSpPr>
          <p:cNvPr id="6" name="Footer Placeholder 5">
            <a:extLst>
              <a:ext uri="{FF2B5EF4-FFF2-40B4-BE49-F238E27FC236}">
                <a16:creationId xmlns:a16="http://schemas.microsoft.com/office/drawing/2014/main" id="{2661777F-CEEC-0CC9-7B72-85CA16372F79}"/>
              </a:ext>
            </a:extLst>
          </p:cNvPr>
          <p:cNvSpPr>
            <a:spLocks noGrp="1"/>
          </p:cNvSpPr>
          <p:nvPr>
            <p:ph type="ftr" sz="quarter" idx="11"/>
          </p:nvPr>
        </p:nvSpPr>
        <p:spPr/>
        <p:txBody>
          <a:bodyPr/>
          <a:lstStyle/>
          <a:p>
            <a:endParaRPr lang="en-US"/>
          </a:p>
        </p:txBody>
      </p:sp>
      <p:sp>
        <p:nvSpPr>
          <p:cNvPr id="7" name="Title 1">
            <a:extLst>
              <a:ext uri="{FF2B5EF4-FFF2-40B4-BE49-F238E27FC236}">
                <a16:creationId xmlns:a16="http://schemas.microsoft.com/office/drawing/2014/main" id="{B4762976-990E-1C61-8783-E64F8D6D7B82}"/>
              </a:ext>
            </a:extLst>
          </p:cNvPr>
          <p:cNvSpPr>
            <a:spLocks noGrp="1"/>
          </p:cNvSpPr>
          <p:nvPr>
            <p:ph type="title"/>
          </p:nvPr>
        </p:nvSpPr>
        <p:spPr>
          <a:xfrm>
            <a:off x="2346036" y="819509"/>
            <a:ext cx="7749309" cy="871179"/>
          </a:xfrm>
          <a:prstGeom prst="rect">
            <a:avLst/>
          </a:prstGeo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a:t>
            </a:r>
          </a:p>
        </p:txBody>
      </p:sp>
    </p:spTree>
    <p:extLst>
      <p:ext uri="{BB962C8B-B14F-4D97-AF65-F5344CB8AC3E}">
        <p14:creationId xmlns:p14="http://schemas.microsoft.com/office/powerpoint/2010/main" val="366222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8094AE-9571-0ADC-1B79-E9411B0CBA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2C5E6BE-29EF-919B-964C-308B7B776DB4}"/>
              </a:ext>
            </a:extLst>
          </p:cNvPr>
          <p:cNvSpPr>
            <a:spLocks noGrp="1"/>
          </p:cNvSpPr>
          <p:nvPr>
            <p:ph sz="half" idx="2"/>
          </p:nvPr>
        </p:nvSpPr>
        <p:spPr>
          <a:xfrm>
            <a:off x="839788" y="2505075"/>
            <a:ext cx="5157787" cy="3684588"/>
          </a:xfrm>
        </p:spPr>
        <p:txBody>
          <a:bodyPr/>
          <a:lstStyle>
            <a:lvl1pPr>
              <a:defRPr sz="2400"/>
            </a:lvl1pPr>
            <a:lvl2pPr>
              <a:defRPr sz="2200"/>
            </a:lvl2pPr>
          </a:lstStyle>
          <a:p>
            <a:pPr lvl="0"/>
            <a:r>
              <a:rPr lang="en-US" dirty="0"/>
              <a:t>Click to edit Master text styles</a:t>
            </a:r>
          </a:p>
          <a:p>
            <a:pPr lvl="1"/>
            <a:r>
              <a:rPr lang="en-US" dirty="0"/>
              <a:t>Second level</a:t>
            </a:r>
          </a:p>
        </p:txBody>
      </p:sp>
      <p:sp>
        <p:nvSpPr>
          <p:cNvPr id="5" name="Text Placeholder 4">
            <a:extLst>
              <a:ext uri="{FF2B5EF4-FFF2-40B4-BE49-F238E27FC236}">
                <a16:creationId xmlns:a16="http://schemas.microsoft.com/office/drawing/2014/main" id="{9D2C2691-3A00-42A5-D1C4-2A9BE8FDFB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60DD5A-6944-F624-E144-BEDF56CDF0BC}"/>
              </a:ext>
            </a:extLst>
          </p:cNvPr>
          <p:cNvSpPr>
            <a:spLocks noGrp="1"/>
          </p:cNvSpPr>
          <p:nvPr>
            <p:ph sz="quarter" idx="4"/>
          </p:nvPr>
        </p:nvSpPr>
        <p:spPr>
          <a:xfrm>
            <a:off x="6172200" y="2505075"/>
            <a:ext cx="5183188" cy="3684588"/>
          </a:xfrm>
        </p:spPr>
        <p:txBody>
          <a:bodyPr/>
          <a:lstStyle>
            <a:lvl1pPr>
              <a:defRPr sz="2400"/>
            </a:lvl1pPr>
            <a:lvl2pPr>
              <a:defRPr sz="2200"/>
            </a:lvl2pPr>
          </a:lstStyle>
          <a:p>
            <a:pPr lvl="0"/>
            <a:r>
              <a:rPr lang="en-US" dirty="0"/>
              <a:t>Click to edit Master text styles</a:t>
            </a:r>
          </a:p>
          <a:p>
            <a:pPr lvl="1"/>
            <a:r>
              <a:rPr lang="en-US" dirty="0"/>
              <a:t>Second level</a:t>
            </a:r>
          </a:p>
        </p:txBody>
      </p:sp>
      <p:sp>
        <p:nvSpPr>
          <p:cNvPr id="7" name="Date Placeholder 6">
            <a:extLst>
              <a:ext uri="{FF2B5EF4-FFF2-40B4-BE49-F238E27FC236}">
                <a16:creationId xmlns:a16="http://schemas.microsoft.com/office/drawing/2014/main" id="{18E806AF-DA4E-D640-2DD8-4CC8624E5443}"/>
              </a:ext>
            </a:extLst>
          </p:cNvPr>
          <p:cNvSpPr>
            <a:spLocks noGrp="1"/>
          </p:cNvSpPr>
          <p:nvPr>
            <p:ph type="dt" sz="half" idx="10"/>
          </p:nvPr>
        </p:nvSpPr>
        <p:spPr/>
        <p:txBody>
          <a:bodyPr/>
          <a:lstStyle>
            <a:lvl1pPr>
              <a:defRPr>
                <a:solidFill>
                  <a:schemeClr val="bg1"/>
                </a:solidFill>
              </a:defRPr>
            </a:lvl1pPr>
          </a:lstStyle>
          <a:p>
            <a:fld id="{7C5F1525-D19C-421C-A7D7-D76F3A4AF57C}" type="datetimeFigureOut">
              <a:rPr lang="en-US" smtClean="0"/>
              <a:pPr/>
              <a:t>9/29/2026</a:t>
            </a:fld>
            <a:endParaRPr lang="en-US" dirty="0"/>
          </a:p>
        </p:txBody>
      </p:sp>
      <p:sp>
        <p:nvSpPr>
          <p:cNvPr id="8" name="Footer Placeholder 7">
            <a:extLst>
              <a:ext uri="{FF2B5EF4-FFF2-40B4-BE49-F238E27FC236}">
                <a16:creationId xmlns:a16="http://schemas.microsoft.com/office/drawing/2014/main" id="{A2B0E783-9B7B-038D-7D7F-3E3C07BA18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C9F101-E704-4E02-4E45-BA9C403D713B}"/>
              </a:ext>
            </a:extLst>
          </p:cNvPr>
          <p:cNvSpPr>
            <a:spLocks noGrp="1"/>
          </p:cNvSpPr>
          <p:nvPr>
            <p:ph type="sldNum" sz="quarter" idx="12"/>
          </p:nvPr>
        </p:nvSpPr>
        <p:spPr>
          <a:xfrm>
            <a:off x="8610600" y="6356350"/>
            <a:ext cx="2743200" cy="365125"/>
          </a:xfrm>
          <a:prstGeom prst="rect">
            <a:avLst/>
          </a:prstGeom>
        </p:spPr>
        <p:txBody>
          <a:bodyPr/>
          <a:lstStyle/>
          <a:p>
            <a:fld id="{8D4BBED6-8425-4EE8-9B37-D6680C1616FE}" type="slidenum">
              <a:rPr lang="en-US" smtClean="0"/>
              <a:t>‹#›</a:t>
            </a:fld>
            <a:endParaRPr lang="en-US"/>
          </a:p>
        </p:txBody>
      </p:sp>
      <p:sp>
        <p:nvSpPr>
          <p:cNvPr id="2" name="Title 1">
            <a:extLst>
              <a:ext uri="{FF2B5EF4-FFF2-40B4-BE49-F238E27FC236}">
                <a16:creationId xmlns:a16="http://schemas.microsoft.com/office/drawing/2014/main" id="{F35AF87E-3380-B67A-21ED-90D91677B30A}"/>
              </a:ext>
            </a:extLst>
          </p:cNvPr>
          <p:cNvSpPr>
            <a:spLocks noGrp="1"/>
          </p:cNvSpPr>
          <p:nvPr>
            <p:ph type="title"/>
          </p:nvPr>
        </p:nvSpPr>
        <p:spPr>
          <a:xfrm>
            <a:off x="2346036" y="819509"/>
            <a:ext cx="7749309" cy="871179"/>
          </a:xfrm>
          <a:prstGeom prst="rect">
            <a:avLst/>
          </a:prstGeo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a:t>
            </a:r>
          </a:p>
        </p:txBody>
      </p:sp>
    </p:spTree>
    <p:extLst>
      <p:ext uri="{BB962C8B-B14F-4D97-AF65-F5344CB8AC3E}">
        <p14:creationId xmlns:p14="http://schemas.microsoft.com/office/powerpoint/2010/main" val="112824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841A422-4AA8-49E5-567E-9BB57582738A}"/>
              </a:ext>
            </a:extLst>
          </p:cNvPr>
          <p:cNvSpPr>
            <a:spLocks noGrp="1"/>
          </p:cNvSpPr>
          <p:nvPr>
            <p:ph type="dt" sz="half" idx="10"/>
          </p:nvPr>
        </p:nvSpPr>
        <p:spPr/>
        <p:txBody>
          <a:bodyPr/>
          <a:lstStyle>
            <a:lvl1pPr>
              <a:defRPr>
                <a:solidFill>
                  <a:schemeClr val="bg1"/>
                </a:solidFill>
              </a:defRPr>
            </a:lvl1pPr>
          </a:lstStyle>
          <a:p>
            <a:fld id="{7C5F1525-D19C-421C-A7D7-D76F3A4AF57C}" type="datetimeFigureOut">
              <a:rPr lang="en-US" smtClean="0"/>
              <a:pPr/>
              <a:t>9/29/2026</a:t>
            </a:fld>
            <a:endParaRPr lang="en-US" dirty="0"/>
          </a:p>
        </p:txBody>
      </p:sp>
      <p:sp>
        <p:nvSpPr>
          <p:cNvPr id="4" name="Footer Placeholder 3">
            <a:extLst>
              <a:ext uri="{FF2B5EF4-FFF2-40B4-BE49-F238E27FC236}">
                <a16:creationId xmlns:a16="http://schemas.microsoft.com/office/drawing/2014/main" id="{B8443496-AA5C-431D-1339-E8DA3AA25B41}"/>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C7F4D45-E7C7-2CDF-A591-E2C8E2F26081}"/>
              </a:ext>
            </a:extLst>
          </p:cNvPr>
          <p:cNvSpPr>
            <a:spLocks noGrp="1"/>
          </p:cNvSpPr>
          <p:nvPr>
            <p:ph type="title"/>
          </p:nvPr>
        </p:nvSpPr>
        <p:spPr>
          <a:xfrm>
            <a:off x="2346036" y="819509"/>
            <a:ext cx="7749309" cy="871179"/>
          </a:xfrm>
          <a:prstGeom prst="rect">
            <a:avLst/>
          </a:prstGeo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a:t>
            </a:r>
          </a:p>
        </p:txBody>
      </p:sp>
    </p:spTree>
    <p:extLst>
      <p:ext uri="{BB962C8B-B14F-4D97-AF65-F5344CB8AC3E}">
        <p14:creationId xmlns:p14="http://schemas.microsoft.com/office/powerpoint/2010/main" val="1957916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187D0-D439-556D-1949-A0FA6BA2831C}"/>
              </a:ext>
            </a:extLst>
          </p:cNvPr>
          <p:cNvSpPr>
            <a:spLocks noGrp="1"/>
          </p:cNvSpPr>
          <p:nvPr>
            <p:ph type="title"/>
          </p:nvPr>
        </p:nvSpPr>
        <p:spPr>
          <a:xfrm>
            <a:off x="839788" y="1246909"/>
            <a:ext cx="3932237" cy="1002146"/>
          </a:xfrm>
          <a:prstGeom prst="rect">
            <a:avLst/>
          </a:prstGeo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8FE75F8-24FA-49D2-CA5E-8C6401A9E731}"/>
              </a:ext>
            </a:extLst>
          </p:cNvPr>
          <p:cNvSpPr>
            <a:spLocks noGrp="1"/>
          </p:cNvSpPr>
          <p:nvPr>
            <p:ph idx="1"/>
          </p:nvPr>
        </p:nvSpPr>
        <p:spPr>
          <a:xfrm>
            <a:off x="5183188" y="1173018"/>
            <a:ext cx="6172200" cy="4688032"/>
          </a:xfrm>
        </p:spPr>
        <p:txBody>
          <a:bodyPr/>
          <a:lstStyle>
            <a:lvl1pPr>
              <a:defRPr sz="30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p:txBody>
      </p:sp>
      <p:sp>
        <p:nvSpPr>
          <p:cNvPr id="4" name="Text Placeholder 3">
            <a:extLst>
              <a:ext uri="{FF2B5EF4-FFF2-40B4-BE49-F238E27FC236}">
                <a16:creationId xmlns:a16="http://schemas.microsoft.com/office/drawing/2014/main" id="{B8D3725F-90AF-31B8-6130-35D4A5B05A24}"/>
              </a:ext>
            </a:extLst>
          </p:cNvPr>
          <p:cNvSpPr>
            <a:spLocks noGrp="1"/>
          </p:cNvSpPr>
          <p:nvPr>
            <p:ph type="body" sz="half" idx="2"/>
          </p:nvPr>
        </p:nvSpPr>
        <p:spPr>
          <a:xfrm>
            <a:off x="839788" y="2318327"/>
            <a:ext cx="3932237" cy="3550660"/>
          </a:xfrm>
        </p:spPr>
        <p:txBody>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E283A5A-D9A4-46AA-111C-E3EF75973D57}"/>
              </a:ext>
            </a:extLst>
          </p:cNvPr>
          <p:cNvSpPr>
            <a:spLocks noGrp="1"/>
          </p:cNvSpPr>
          <p:nvPr>
            <p:ph type="dt" sz="half" idx="10"/>
          </p:nvPr>
        </p:nvSpPr>
        <p:spPr/>
        <p:txBody>
          <a:bodyPr/>
          <a:lstStyle/>
          <a:p>
            <a:fld id="{7C5F1525-D19C-421C-A7D7-D76F3A4AF57C}" type="datetimeFigureOut">
              <a:rPr lang="en-US" smtClean="0"/>
              <a:t>9/29/2026</a:t>
            </a:fld>
            <a:endParaRPr lang="en-US"/>
          </a:p>
        </p:txBody>
      </p:sp>
      <p:sp>
        <p:nvSpPr>
          <p:cNvPr id="6" name="Footer Placeholder 5">
            <a:extLst>
              <a:ext uri="{FF2B5EF4-FFF2-40B4-BE49-F238E27FC236}">
                <a16:creationId xmlns:a16="http://schemas.microsoft.com/office/drawing/2014/main" id="{8B660739-DC83-A0C4-CF80-A3F720A8BA9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03505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EBCCECD-5EAF-B786-7677-6757D8B92B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Date Placeholder 4">
            <a:extLst>
              <a:ext uri="{FF2B5EF4-FFF2-40B4-BE49-F238E27FC236}">
                <a16:creationId xmlns:a16="http://schemas.microsoft.com/office/drawing/2014/main" id="{AB3F489E-2CC7-94F1-7C6A-9E0DE9F52F23}"/>
              </a:ext>
            </a:extLst>
          </p:cNvPr>
          <p:cNvSpPr>
            <a:spLocks noGrp="1"/>
          </p:cNvSpPr>
          <p:nvPr>
            <p:ph type="dt" sz="half" idx="10"/>
          </p:nvPr>
        </p:nvSpPr>
        <p:spPr/>
        <p:txBody>
          <a:bodyPr/>
          <a:lstStyle>
            <a:lvl1pPr>
              <a:defRPr>
                <a:solidFill>
                  <a:schemeClr val="bg1"/>
                </a:solidFill>
              </a:defRPr>
            </a:lvl1pPr>
          </a:lstStyle>
          <a:p>
            <a:fld id="{7C5F1525-D19C-421C-A7D7-D76F3A4AF57C}" type="datetimeFigureOut">
              <a:rPr lang="en-US" smtClean="0"/>
              <a:pPr/>
              <a:t>9/29/2026</a:t>
            </a:fld>
            <a:endParaRPr lang="en-US" dirty="0"/>
          </a:p>
        </p:txBody>
      </p:sp>
      <p:sp>
        <p:nvSpPr>
          <p:cNvPr id="6" name="Footer Placeholder 5">
            <a:extLst>
              <a:ext uri="{FF2B5EF4-FFF2-40B4-BE49-F238E27FC236}">
                <a16:creationId xmlns:a16="http://schemas.microsoft.com/office/drawing/2014/main" id="{7FCD8BBD-8332-2933-A2FA-D65AD41E3940}"/>
              </a:ext>
            </a:extLst>
          </p:cNvPr>
          <p:cNvSpPr>
            <a:spLocks noGrp="1"/>
          </p:cNvSpPr>
          <p:nvPr>
            <p:ph type="ftr" sz="quarter" idx="11"/>
          </p:nvPr>
        </p:nvSpPr>
        <p:spPr/>
        <p:txBody>
          <a:bodyPr/>
          <a:lstStyle/>
          <a:p>
            <a:endParaRPr lang="en-US"/>
          </a:p>
        </p:txBody>
      </p:sp>
      <p:sp>
        <p:nvSpPr>
          <p:cNvPr id="9" name="Title 1">
            <a:extLst>
              <a:ext uri="{FF2B5EF4-FFF2-40B4-BE49-F238E27FC236}">
                <a16:creationId xmlns:a16="http://schemas.microsoft.com/office/drawing/2014/main" id="{BA16743A-D747-E3FD-6886-C8B6C1DBB50C}"/>
              </a:ext>
            </a:extLst>
          </p:cNvPr>
          <p:cNvSpPr>
            <a:spLocks noGrp="1"/>
          </p:cNvSpPr>
          <p:nvPr>
            <p:ph type="title"/>
          </p:nvPr>
        </p:nvSpPr>
        <p:spPr>
          <a:xfrm>
            <a:off x="839788" y="1246909"/>
            <a:ext cx="3932237" cy="1002146"/>
          </a:xfrm>
          <a:prstGeom prst="rect">
            <a:avLst/>
          </a:prstGeom>
        </p:spPr>
        <p:txBody>
          <a:bodyPr anchor="b"/>
          <a:lstStyle>
            <a:lvl1pPr>
              <a:defRPr sz="3200"/>
            </a:lvl1pPr>
          </a:lstStyle>
          <a:p>
            <a:r>
              <a:rPr lang="en-US" dirty="0"/>
              <a:t>Click to edit Master title style</a:t>
            </a:r>
          </a:p>
        </p:txBody>
      </p:sp>
      <p:sp>
        <p:nvSpPr>
          <p:cNvPr id="10" name="Text Placeholder 3">
            <a:extLst>
              <a:ext uri="{FF2B5EF4-FFF2-40B4-BE49-F238E27FC236}">
                <a16:creationId xmlns:a16="http://schemas.microsoft.com/office/drawing/2014/main" id="{6FC6BBC0-4164-2625-198C-9A6AE5362A59}"/>
              </a:ext>
            </a:extLst>
          </p:cNvPr>
          <p:cNvSpPr>
            <a:spLocks noGrp="1"/>
          </p:cNvSpPr>
          <p:nvPr>
            <p:ph type="body" sz="half" idx="2"/>
          </p:nvPr>
        </p:nvSpPr>
        <p:spPr>
          <a:xfrm>
            <a:off x="839788" y="2318327"/>
            <a:ext cx="3932237" cy="3550660"/>
          </a:xfrm>
        </p:spPr>
        <p:txBody>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575006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0436671-55AD-FD1E-9F22-A46EFA4B0FB7}"/>
              </a:ext>
            </a:extLst>
          </p:cNvPr>
          <p:cNvSpPr>
            <a:spLocks noGrp="1"/>
          </p:cNvSpPr>
          <p:nvPr>
            <p:ph type="dt" sz="half" idx="10"/>
          </p:nvPr>
        </p:nvSpPr>
        <p:spPr/>
        <p:txBody>
          <a:bodyPr/>
          <a:lstStyle>
            <a:lvl1pPr>
              <a:defRPr>
                <a:solidFill>
                  <a:schemeClr val="bg1"/>
                </a:solidFill>
              </a:defRPr>
            </a:lvl1pPr>
          </a:lstStyle>
          <a:p>
            <a:fld id="{7C5F1525-D19C-421C-A7D7-D76F3A4AF57C}" type="datetimeFigureOut">
              <a:rPr lang="en-US" smtClean="0"/>
              <a:pPr/>
              <a:t>9/29/2026</a:t>
            </a:fld>
            <a:endParaRPr lang="en-US" dirty="0"/>
          </a:p>
        </p:txBody>
      </p:sp>
      <p:sp>
        <p:nvSpPr>
          <p:cNvPr id="4" name="Footer Placeholder 3">
            <a:extLst>
              <a:ext uri="{FF2B5EF4-FFF2-40B4-BE49-F238E27FC236}">
                <a16:creationId xmlns:a16="http://schemas.microsoft.com/office/drawing/2014/main" id="{41A49DA0-CFDA-D897-F720-A0CE4083D605}"/>
              </a:ext>
            </a:extLst>
          </p:cNvPr>
          <p:cNvSpPr>
            <a:spLocks noGrp="1"/>
          </p:cNvSpPr>
          <p:nvPr>
            <p:ph type="ftr" sz="quarter" idx="11"/>
          </p:nvPr>
        </p:nvSpPr>
        <p:spPr/>
        <p:txBody>
          <a:bodyPr/>
          <a:lstStyle/>
          <a:p>
            <a:endParaRPr lang="en-US"/>
          </a:p>
        </p:txBody>
      </p:sp>
      <p:sp>
        <p:nvSpPr>
          <p:cNvPr id="5" name="Title 1">
            <a:extLst>
              <a:ext uri="{FF2B5EF4-FFF2-40B4-BE49-F238E27FC236}">
                <a16:creationId xmlns:a16="http://schemas.microsoft.com/office/drawing/2014/main" id="{44B65682-B565-6D53-A106-409BEF79B29A}"/>
              </a:ext>
            </a:extLst>
          </p:cNvPr>
          <p:cNvSpPr>
            <a:spLocks noGrp="1"/>
          </p:cNvSpPr>
          <p:nvPr>
            <p:ph type="title"/>
          </p:nvPr>
        </p:nvSpPr>
        <p:spPr>
          <a:xfrm>
            <a:off x="2346036" y="819509"/>
            <a:ext cx="7749309" cy="871179"/>
          </a:xfrm>
          <a:prstGeom prst="rect">
            <a:avLst/>
          </a:prstGeo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a:t>
            </a:r>
          </a:p>
        </p:txBody>
      </p:sp>
    </p:spTree>
    <p:extLst>
      <p:ext uri="{BB962C8B-B14F-4D97-AF65-F5344CB8AC3E}">
        <p14:creationId xmlns:p14="http://schemas.microsoft.com/office/powerpoint/2010/main" val="4078343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archment Full Gold">
    <p:bg>
      <p:bgPr>
        <a:blipFill dpi="0" rotWithShape="1">
          <a:blip r:embed="rId2">
            <a:alphaModFix amt="90000"/>
            <a:lum/>
          </a:blip>
          <a:srcRect/>
          <a:stretch>
            <a:fillRect l="-17000" r="-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91240" y="1563624"/>
            <a:ext cx="6086360" cy="2907792"/>
          </a:xfrm>
        </p:spPr>
        <p:txBody>
          <a:bodyPr anchor="b">
            <a:noAutofit/>
          </a:bodyPr>
          <a:lstStyle>
            <a:lvl1pPr algn="l">
              <a:defRPr sz="6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91241" y="5102440"/>
            <a:ext cx="6086359" cy="744854"/>
          </a:xfrm>
        </p:spPr>
        <p:txBody>
          <a:bodyPr anchor="b">
            <a:noAutofit/>
          </a:bodyPr>
          <a:lstStyle>
            <a:lvl1pPr marL="0" indent="0" algn="l">
              <a:buNone/>
              <a:defRPr sz="28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Graphic 8">
            <a:extLst>
              <a:ext uri="{FF2B5EF4-FFF2-40B4-BE49-F238E27FC236}">
                <a16:creationId xmlns:a16="http://schemas.microsoft.com/office/drawing/2014/main" id="{71C7DD57-C2A4-A814-936E-EFCE47F5DCC6}"/>
              </a:ext>
            </a:extLst>
          </p:cNvPr>
          <p:cNvPicPr>
            <a:picLocks noChangeAspect="1"/>
          </p:cNvPicPr>
          <p:nvPr userDrawn="1"/>
        </p:nvPicPr>
        <p:blipFill>
          <a:blip>
            <a:extLst>
              <a:ext uri="{96DAC541-7B7A-43D3-8B79-37D633B846F1}">
                <asvg:svgBlip xmlns:asvg="http://schemas.microsoft.com/office/drawing/2016/SVG/main" r:embed="rId3"/>
              </a:ext>
            </a:extLst>
          </a:blip>
          <a:srcRect l="50326"/>
          <a:stretch/>
        </p:blipFill>
        <p:spPr>
          <a:xfrm rot="16200000" flipH="1">
            <a:off x="-666940" y="666941"/>
            <a:ext cx="5442582" cy="4108702"/>
          </a:xfrm>
          <a:prstGeom prst="rect">
            <a:avLst/>
          </a:prstGeom>
        </p:spPr>
      </p:pic>
      <p:pic>
        <p:nvPicPr>
          <p:cNvPr id="4" name="Graphic 3">
            <a:extLst>
              <a:ext uri="{FF2B5EF4-FFF2-40B4-BE49-F238E27FC236}">
                <a16:creationId xmlns:a16="http://schemas.microsoft.com/office/drawing/2014/main" id="{3689D2D4-384F-A12B-DF18-2B0C92EAFA0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97937" y="4825453"/>
            <a:ext cx="3616168" cy="1234261"/>
          </a:xfrm>
          <a:prstGeom prst="rect">
            <a:avLst/>
          </a:prstGeom>
        </p:spPr>
      </p:pic>
      <p:sp>
        <p:nvSpPr>
          <p:cNvPr id="14" name="Freeform 13">
            <a:extLst>
              <a:ext uri="{FF2B5EF4-FFF2-40B4-BE49-F238E27FC236}">
                <a16:creationId xmlns:a16="http://schemas.microsoft.com/office/drawing/2014/main" id="{DBF4F6FD-39AE-CC33-E057-7883116C4CA1}"/>
              </a:ext>
            </a:extLst>
          </p:cNvPr>
          <p:cNvSpPr/>
          <p:nvPr userDrawn="1"/>
        </p:nvSpPr>
        <p:spPr>
          <a:xfrm>
            <a:off x="0" y="800099"/>
            <a:ext cx="1020726" cy="2041452"/>
          </a:xfrm>
          <a:custGeom>
            <a:avLst/>
            <a:gdLst>
              <a:gd name="connsiteX0" fmla="*/ 0 w 1020726"/>
              <a:gd name="connsiteY0" fmla="*/ 0 h 2041452"/>
              <a:gd name="connsiteX1" fmla="*/ 1020726 w 1020726"/>
              <a:gd name="connsiteY1" fmla="*/ 1020726 h 2041452"/>
              <a:gd name="connsiteX2" fmla="*/ 0 w 1020726"/>
              <a:gd name="connsiteY2" fmla="*/ 2041452 h 2041452"/>
            </a:gdLst>
            <a:ahLst/>
            <a:cxnLst>
              <a:cxn ang="0">
                <a:pos x="connsiteX0" y="connsiteY0"/>
              </a:cxn>
              <a:cxn ang="0">
                <a:pos x="connsiteX1" y="connsiteY1"/>
              </a:cxn>
              <a:cxn ang="0">
                <a:pos x="connsiteX2" y="connsiteY2"/>
              </a:cxn>
            </a:cxnLst>
            <a:rect l="l" t="t" r="r" b="b"/>
            <a:pathLst>
              <a:path w="1020726" h="2041452">
                <a:moveTo>
                  <a:pt x="0" y="0"/>
                </a:moveTo>
                <a:cubicBezTo>
                  <a:pt x="563731" y="0"/>
                  <a:pt x="1020726" y="456995"/>
                  <a:pt x="1020726" y="1020726"/>
                </a:cubicBezTo>
                <a:cubicBezTo>
                  <a:pt x="1020726" y="1584457"/>
                  <a:pt x="563731" y="2041452"/>
                  <a:pt x="0" y="2041452"/>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255216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archment Initials Gold">
    <p:bg>
      <p:bgPr>
        <a:blipFill dpi="0" rotWithShape="1">
          <a:blip r:embed="rId2">
            <a:alphaModFix amt="90000"/>
            <a:lum/>
          </a:blip>
          <a:srcRect/>
          <a:stretch>
            <a:fillRect l="-17000" r="-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91240" y="1563624"/>
            <a:ext cx="6086360" cy="2907792"/>
          </a:xfrm>
        </p:spPr>
        <p:txBody>
          <a:bodyPr anchor="b">
            <a:noAutofit/>
          </a:bodyPr>
          <a:lstStyle>
            <a:lvl1pPr algn="l">
              <a:defRPr sz="6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91241" y="5102440"/>
            <a:ext cx="6086359" cy="744854"/>
          </a:xfrm>
        </p:spPr>
        <p:txBody>
          <a:bodyPr anchor="b">
            <a:noAutofit/>
          </a:bodyPr>
          <a:lstStyle>
            <a:lvl1pPr marL="0" indent="0" algn="l">
              <a:buNone/>
              <a:defRPr sz="28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Graphic 8">
            <a:extLst>
              <a:ext uri="{FF2B5EF4-FFF2-40B4-BE49-F238E27FC236}">
                <a16:creationId xmlns:a16="http://schemas.microsoft.com/office/drawing/2014/main" id="{71C7DD57-C2A4-A814-936E-EFCE47F5DCC6}"/>
              </a:ext>
            </a:extLst>
          </p:cNvPr>
          <p:cNvPicPr>
            <a:picLocks noChangeAspect="1"/>
          </p:cNvPicPr>
          <p:nvPr userDrawn="1"/>
        </p:nvPicPr>
        <p:blipFill>
          <a:blip>
            <a:extLst>
              <a:ext uri="{96DAC541-7B7A-43D3-8B79-37D633B846F1}">
                <asvg:svgBlip xmlns:asvg="http://schemas.microsoft.com/office/drawing/2016/SVG/main" r:embed="rId3"/>
              </a:ext>
            </a:extLst>
          </a:blip>
          <a:srcRect l="50326"/>
          <a:stretch/>
        </p:blipFill>
        <p:spPr>
          <a:xfrm rot="16200000" flipH="1">
            <a:off x="-666940" y="666941"/>
            <a:ext cx="5442582" cy="4108702"/>
          </a:xfrm>
          <a:prstGeom prst="rect">
            <a:avLst/>
          </a:prstGeom>
        </p:spPr>
      </p:pic>
      <p:pic>
        <p:nvPicPr>
          <p:cNvPr id="4" name="Graphic 3">
            <a:extLst>
              <a:ext uri="{FF2B5EF4-FFF2-40B4-BE49-F238E27FC236}">
                <a16:creationId xmlns:a16="http://schemas.microsoft.com/office/drawing/2014/main" id="{3689D2D4-384F-A12B-DF18-2B0C92EAFA0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74243" y="4421857"/>
            <a:ext cx="4556520" cy="2041452"/>
          </a:xfrm>
          <a:prstGeom prst="rect">
            <a:avLst/>
          </a:prstGeom>
        </p:spPr>
      </p:pic>
      <p:sp>
        <p:nvSpPr>
          <p:cNvPr id="14" name="Freeform 13">
            <a:extLst>
              <a:ext uri="{FF2B5EF4-FFF2-40B4-BE49-F238E27FC236}">
                <a16:creationId xmlns:a16="http://schemas.microsoft.com/office/drawing/2014/main" id="{DBF4F6FD-39AE-CC33-E057-7883116C4CA1}"/>
              </a:ext>
            </a:extLst>
          </p:cNvPr>
          <p:cNvSpPr/>
          <p:nvPr userDrawn="1"/>
        </p:nvSpPr>
        <p:spPr>
          <a:xfrm>
            <a:off x="0" y="800099"/>
            <a:ext cx="1020726" cy="2041452"/>
          </a:xfrm>
          <a:custGeom>
            <a:avLst/>
            <a:gdLst>
              <a:gd name="connsiteX0" fmla="*/ 0 w 1020726"/>
              <a:gd name="connsiteY0" fmla="*/ 0 h 2041452"/>
              <a:gd name="connsiteX1" fmla="*/ 1020726 w 1020726"/>
              <a:gd name="connsiteY1" fmla="*/ 1020726 h 2041452"/>
              <a:gd name="connsiteX2" fmla="*/ 0 w 1020726"/>
              <a:gd name="connsiteY2" fmla="*/ 2041452 h 2041452"/>
            </a:gdLst>
            <a:ahLst/>
            <a:cxnLst>
              <a:cxn ang="0">
                <a:pos x="connsiteX0" y="connsiteY0"/>
              </a:cxn>
              <a:cxn ang="0">
                <a:pos x="connsiteX1" y="connsiteY1"/>
              </a:cxn>
              <a:cxn ang="0">
                <a:pos x="connsiteX2" y="connsiteY2"/>
              </a:cxn>
            </a:cxnLst>
            <a:rect l="l" t="t" r="r" b="b"/>
            <a:pathLst>
              <a:path w="1020726" h="2041452">
                <a:moveTo>
                  <a:pt x="0" y="0"/>
                </a:moveTo>
                <a:cubicBezTo>
                  <a:pt x="563731" y="0"/>
                  <a:pt x="1020726" y="456995"/>
                  <a:pt x="1020726" y="1020726"/>
                </a:cubicBezTo>
                <a:cubicBezTo>
                  <a:pt x="1020726" y="1584457"/>
                  <a:pt x="563731" y="2041452"/>
                  <a:pt x="0" y="2041452"/>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288844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arch Full Name Pic">
    <p:bg>
      <p:bgPr>
        <a:blipFill dpi="0" rotWithShape="1">
          <a:blip r:embed="rId2">
            <a:alphaModFix amt="90000"/>
            <a:lum/>
          </a:blip>
          <a:srcRect/>
          <a:stretch>
            <a:fillRect l="-17000" r="-17000"/>
          </a:stretch>
        </a:blip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EC74807-6FEA-616C-606C-E9A2D46A4A31}"/>
              </a:ext>
            </a:extLst>
          </p:cNvPr>
          <p:cNvPicPr>
            <a:picLocks noChangeAspect="1"/>
          </p:cNvPicPr>
          <p:nvPr userDrawn="1"/>
        </p:nvPicPr>
        <p:blipFill>
          <a:blip>
            <a:extLst>
              <a:ext uri="{96DAC541-7B7A-43D3-8B79-37D633B846F1}">
                <asvg:svgBlip xmlns:asvg="http://schemas.microsoft.com/office/drawing/2016/SVG/main" r:embed="rId3"/>
              </a:ext>
            </a:extLst>
          </a:blip>
          <a:srcRect l="50326"/>
          <a:stretch/>
        </p:blipFill>
        <p:spPr>
          <a:xfrm rot="16200000" flipH="1">
            <a:off x="-666941" y="666941"/>
            <a:ext cx="5442583" cy="4108702"/>
          </a:xfrm>
          <a:prstGeom prst="rect">
            <a:avLst/>
          </a:prstGeom>
        </p:spPr>
      </p:pic>
      <p:sp>
        <p:nvSpPr>
          <p:cNvPr id="6" name="Picture Placeholder 10">
            <a:extLst>
              <a:ext uri="{FF2B5EF4-FFF2-40B4-BE49-F238E27FC236}">
                <a16:creationId xmlns:a16="http://schemas.microsoft.com/office/drawing/2014/main" id="{ECB22985-E694-FA0C-7AB8-298B4D1FB064}"/>
              </a:ext>
            </a:extLst>
          </p:cNvPr>
          <p:cNvSpPr>
            <a:spLocks noGrp="1"/>
          </p:cNvSpPr>
          <p:nvPr>
            <p:ph type="pic" sz="quarter" idx="13" hasCustomPrompt="1"/>
          </p:nvPr>
        </p:nvSpPr>
        <p:spPr>
          <a:xfrm>
            <a:off x="11755" y="0"/>
            <a:ext cx="4206240" cy="6858000"/>
          </a:xfrm>
          <a:blipFill dpi="0" rotWithShape="1">
            <a:blip r:embed="rId4">
              <a:alphaModFix/>
            </a:blip>
            <a:srcRect/>
            <a:stretch>
              <a:fillRect l="-56812"/>
            </a:stretch>
          </a:blipFill>
        </p:spPr>
        <p:txBody>
          <a:bodyPr/>
          <a:lstStyle/>
          <a:p>
            <a:r>
              <a:rPr lang="en-US" dirty="0"/>
              <a:t>Click ion to add picture</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08041" y="2261938"/>
            <a:ext cx="6169560" cy="2435792"/>
          </a:xfrm>
        </p:spPr>
        <p:txBody>
          <a:bodyPr anchor="b" anchorCtr="0">
            <a:noAutofit/>
          </a:bodyPr>
          <a:lstStyle>
            <a:lvl1pPr algn="l">
              <a:defRPr sz="5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08042" y="5564221"/>
            <a:ext cx="6169560" cy="298124"/>
          </a:xfrm>
        </p:spPr>
        <p:txBody>
          <a:bodyPr anchor="b" anchorCtr="0">
            <a:noAutofit/>
          </a:bodyPr>
          <a:lstStyle>
            <a:lvl1pPr marL="0" indent="0" algn="l">
              <a:buNone/>
              <a:defRPr sz="28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4" name="Graphic 3">
            <a:extLst>
              <a:ext uri="{FF2B5EF4-FFF2-40B4-BE49-F238E27FC236}">
                <a16:creationId xmlns:a16="http://schemas.microsoft.com/office/drawing/2014/main" id="{27429AC3-FD20-1350-6E04-FE3FF453725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344247" y="633705"/>
            <a:ext cx="2976775" cy="1016025"/>
          </a:xfrm>
          <a:prstGeom prst="rect">
            <a:avLst/>
          </a:prstGeom>
        </p:spPr>
      </p:pic>
    </p:spTree>
    <p:extLst>
      <p:ext uri="{BB962C8B-B14F-4D97-AF65-F5344CB8AC3E}">
        <p14:creationId xmlns:p14="http://schemas.microsoft.com/office/powerpoint/2010/main" val="42122282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arch Initials Pic">
    <p:bg>
      <p:bgPr>
        <a:blipFill dpi="0" rotWithShape="1">
          <a:blip r:embed="rId2">
            <a:alphaModFix amt="90000"/>
            <a:lum/>
          </a:blip>
          <a:srcRect/>
          <a:stretch>
            <a:fillRect l="-17000" r="-17000"/>
          </a:stretch>
        </a:blip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EC74807-6FEA-616C-606C-E9A2D46A4A31}"/>
              </a:ext>
            </a:extLst>
          </p:cNvPr>
          <p:cNvPicPr>
            <a:picLocks noChangeAspect="1"/>
          </p:cNvPicPr>
          <p:nvPr userDrawn="1"/>
        </p:nvPicPr>
        <p:blipFill>
          <a:blip>
            <a:extLst>
              <a:ext uri="{96DAC541-7B7A-43D3-8B79-37D633B846F1}">
                <asvg:svgBlip xmlns:asvg="http://schemas.microsoft.com/office/drawing/2016/SVG/main" r:embed="rId3"/>
              </a:ext>
            </a:extLst>
          </a:blip>
          <a:srcRect l="50326"/>
          <a:stretch/>
        </p:blipFill>
        <p:spPr>
          <a:xfrm rot="16200000" flipH="1">
            <a:off x="-666941" y="666941"/>
            <a:ext cx="5442583" cy="4108702"/>
          </a:xfrm>
          <a:prstGeom prst="rect">
            <a:avLst/>
          </a:prstGeom>
        </p:spPr>
      </p:pic>
      <p:sp>
        <p:nvSpPr>
          <p:cNvPr id="6" name="Picture Placeholder 10">
            <a:extLst>
              <a:ext uri="{FF2B5EF4-FFF2-40B4-BE49-F238E27FC236}">
                <a16:creationId xmlns:a16="http://schemas.microsoft.com/office/drawing/2014/main" id="{ECB22985-E694-FA0C-7AB8-298B4D1FB064}"/>
              </a:ext>
            </a:extLst>
          </p:cNvPr>
          <p:cNvSpPr>
            <a:spLocks noGrp="1"/>
          </p:cNvSpPr>
          <p:nvPr>
            <p:ph type="pic" sz="quarter" idx="13" hasCustomPrompt="1"/>
          </p:nvPr>
        </p:nvSpPr>
        <p:spPr>
          <a:xfrm>
            <a:off x="11755" y="0"/>
            <a:ext cx="4206240" cy="6858000"/>
          </a:xfrm>
          <a:blipFill dpi="0" rotWithShape="1">
            <a:blip r:embed="rId4">
              <a:alphaModFix/>
            </a:blip>
            <a:srcRect/>
            <a:stretch>
              <a:fillRect l="-56812"/>
            </a:stretch>
          </a:blipFill>
        </p:spPr>
        <p:txBody>
          <a:bodyPr/>
          <a:lstStyle/>
          <a:p>
            <a:r>
              <a:rPr lang="en-US" dirty="0"/>
              <a:t>Click ion to add picture</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08041" y="2261938"/>
            <a:ext cx="6169560" cy="2435792"/>
          </a:xfrm>
        </p:spPr>
        <p:txBody>
          <a:bodyPr anchor="b" anchorCtr="0">
            <a:noAutofit/>
          </a:bodyPr>
          <a:lstStyle>
            <a:lvl1pPr algn="l">
              <a:defRPr sz="5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08042" y="5564221"/>
            <a:ext cx="6169560" cy="298124"/>
          </a:xfrm>
        </p:spPr>
        <p:txBody>
          <a:bodyPr anchor="b" anchorCtr="0">
            <a:noAutofit/>
          </a:bodyPr>
          <a:lstStyle>
            <a:lvl1pPr marL="0" indent="0" algn="l">
              <a:buNone/>
              <a:defRPr sz="28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5" name="Graphic 4">
            <a:extLst>
              <a:ext uri="{FF2B5EF4-FFF2-40B4-BE49-F238E27FC236}">
                <a16:creationId xmlns:a16="http://schemas.microsoft.com/office/drawing/2014/main" id="{589B43CD-8EA0-87D2-BE48-FF9D4DE5E41E}"/>
              </a:ext>
            </a:extLst>
          </p:cNvPr>
          <p:cNvPicPr>
            <a:picLocks noChangeAspect="1"/>
          </p:cNvPicPr>
          <p:nvPr userDrawn="1"/>
        </p:nvPicPr>
        <p:blipFill>
          <a:blip>
            <a:extLst>
              <a:ext uri="{96DAC541-7B7A-43D3-8B79-37D633B846F1}">
                <asvg:svgBlip xmlns:asvg="http://schemas.microsoft.com/office/drawing/2016/SVG/main" r:embed="rId5"/>
              </a:ext>
            </a:extLst>
          </a:blip>
          <a:srcRect l="13006" t="28170" r="12632" b="21860"/>
          <a:stretch/>
        </p:blipFill>
        <p:spPr>
          <a:xfrm>
            <a:off x="5108041" y="736600"/>
            <a:ext cx="2984501" cy="898525"/>
          </a:xfrm>
          <a:prstGeom prst="rect">
            <a:avLst/>
          </a:prstGeom>
        </p:spPr>
      </p:pic>
    </p:spTree>
    <p:extLst>
      <p:ext uri="{BB962C8B-B14F-4D97-AF65-F5344CB8AC3E}">
        <p14:creationId xmlns:p14="http://schemas.microsoft.com/office/powerpoint/2010/main" val="9659841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archment Initials">
    <p:bg>
      <p:bgPr>
        <a:blipFill dpi="0" rotWithShape="1">
          <a:blip r:embed="rId2">
            <a:alphaModFix amt="90000"/>
            <a:lum/>
          </a:blip>
          <a:srcRect/>
          <a:stretch>
            <a:fillRect l="-17000" r="-17000"/>
          </a:stretch>
        </a:blip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9EF82F6A-C9FF-2604-A84C-F1E21A1961D6}"/>
              </a:ext>
            </a:extLst>
          </p:cNvPr>
          <p:cNvPicPr>
            <a:picLocks noChangeAspect="1"/>
          </p:cNvPicPr>
          <p:nvPr userDrawn="1"/>
        </p:nvPicPr>
        <p:blipFill>
          <a:blip>
            <a:extLst>
              <a:ext uri="{96DAC541-7B7A-43D3-8B79-37D633B846F1}">
                <asvg:svgBlip xmlns:asvg="http://schemas.microsoft.com/office/drawing/2016/SVG/main" r:embed="rId3"/>
              </a:ext>
            </a:extLst>
          </a:blip>
          <a:srcRect l="50326"/>
          <a:stretch/>
        </p:blipFill>
        <p:spPr>
          <a:xfrm rot="16200000" flipH="1">
            <a:off x="-666940" y="666941"/>
            <a:ext cx="5442582" cy="4108702"/>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7073" y="2261937"/>
            <a:ext cx="5278927" cy="2435793"/>
          </a:xfrm>
        </p:spPr>
        <p:txBody>
          <a:bodyPr anchor="b" anchorCtr="0">
            <a:no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7073" y="5017770"/>
            <a:ext cx="5278927" cy="849630"/>
          </a:xfrm>
        </p:spPr>
        <p:txBody>
          <a:bodyPr anchor="b" anchorCtr="0">
            <a:noAutofit/>
          </a:bodyPr>
          <a:lstStyle>
            <a:lvl1pPr marL="0" indent="0" algn="l">
              <a:buNone/>
              <a:defRPr sz="2800" b="0" i="0">
                <a:solidFill>
                  <a:schemeClr val="tx2"/>
                </a:solidFill>
                <a:latin typeface="Montserrat Medium"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4" name="Graphic 3">
            <a:extLst>
              <a:ext uri="{FF2B5EF4-FFF2-40B4-BE49-F238E27FC236}">
                <a16:creationId xmlns:a16="http://schemas.microsoft.com/office/drawing/2014/main" id="{7C361D76-CF52-AE84-AA74-1E34EC32FE42}"/>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340535" y="143759"/>
            <a:ext cx="4013444" cy="1798138"/>
          </a:xfrm>
          <a:prstGeom prst="rect">
            <a:avLst/>
          </a:prstGeom>
        </p:spPr>
      </p:pic>
    </p:spTree>
    <p:extLst>
      <p:ext uri="{BB962C8B-B14F-4D97-AF65-F5344CB8AC3E}">
        <p14:creationId xmlns:p14="http://schemas.microsoft.com/office/powerpoint/2010/main" val="10149167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Parchment Content">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45E82C7-CAAD-2725-DF18-CE15CBDA88A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70417" y="6040798"/>
            <a:ext cx="803084" cy="514335"/>
          </a:xfrm>
          <a:prstGeom prst="rect">
            <a:avLst/>
          </a:prstGeom>
        </p:spPr>
      </p:pic>
      <p:pic>
        <p:nvPicPr>
          <p:cNvPr id="7" name="Graphic 6">
            <a:extLst>
              <a:ext uri="{FF2B5EF4-FFF2-40B4-BE49-F238E27FC236}">
                <a16:creationId xmlns:a16="http://schemas.microsoft.com/office/drawing/2014/main" id="{3824A1CC-82A6-97C3-D95C-12D83D9FCE7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725170" y="5701308"/>
            <a:ext cx="1490553" cy="119793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24975" y="831439"/>
            <a:ext cx="10440990" cy="987633"/>
          </a:xfrm>
        </p:spPr>
        <p:txBody>
          <a:bodyPr>
            <a:noAutofit/>
          </a:bodyPr>
          <a:lstStyle>
            <a:lvl1pPr>
              <a:defRPr sz="3200">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00101" y="2023353"/>
            <a:ext cx="10465864" cy="3844047"/>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933179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Parch No Logo">
    <p:bg>
      <p:bgPr>
        <a:blipFill dpi="0" rotWithShape="1">
          <a:blip r:embed="rId2">
            <a:alphaModFix amt="90208"/>
            <a:lum/>
          </a:blip>
          <a:srcRect/>
          <a:stretch>
            <a:fillRect l="-17000" r="-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7" y="800100"/>
            <a:ext cx="7375466" cy="3897630"/>
          </a:xfrm>
        </p:spPr>
        <p:txBody>
          <a:bodyPr anchor="b">
            <a:noAutofit/>
          </a:bodyPr>
          <a:lstStyle>
            <a:lvl1pPr algn="l">
              <a:defRPr sz="6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3816" y="5017770"/>
            <a:ext cx="7375466" cy="849630"/>
          </a:xfrm>
        </p:spPr>
        <p:txBody>
          <a:bodyPr anchor="t" anchorCtr="0">
            <a:noAutofit/>
          </a:bodyPr>
          <a:lstStyle>
            <a:lvl1pPr marL="0" indent="0" algn="l">
              <a:buNone/>
              <a:defRPr sz="28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Graphic 6">
            <a:extLst>
              <a:ext uri="{FF2B5EF4-FFF2-40B4-BE49-F238E27FC236}">
                <a16:creationId xmlns:a16="http://schemas.microsoft.com/office/drawing/2014/main" id="{A6262098-FC2C-3660-B3C1-CF5178608DB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
        <p:nvSpPr>
          <p:cNvPr id="14" name="Freeform 13">
            <a:extLst>
              <a:ext uri="{FF2B5EF4-FFF2-40B4-BE49-F238E27FC236}">
                <a16:creationId xmlns:a16="http://schemas.microsoft.com/office/drawing/2014/main" id="{3451CBE7-72C8-6734-BD42-CD36DABA5FEF}"/>
              </a:ext>
            </a:extLst>
          </p:cNvPr>
          <p:cNvSpPr/>
          <p:nvPr userDrawn="1"/>
        </p:nvSpPr>
        <p:spPr>
          <a:xfrm>
            <a:off x="11171274" y="2408273"/>
            <a:ext cx="1020726" cy="2041452"/>
          </a:xfrm>
          <a:custGeom>
            <a:avLst/>
            <a:gdLst>
              <a:gd name="connsiteX0" fmla="*/ 1020726 w 1020726"/>
              <a:gd name="connsiteY0" fmla="*/ 0 h 2041452"/>
              <a:gd name="connsiteX1" fmla="*/ 1020726 w 1020726"/>
              <a:gd name="connsiteY1" fmla="*/ 2041452 h 2041452"/>
              <a:gd name="connsiteX2" fmla="*/ 0 w 1020726"/>
              <a:gd name="connsiteY2" fmla="*/ 1020726 h 2041452"/>
              <a:gd name="connsiteX3" fmla="*/ 1020726 w 1020726"/>
              <a:gd name="connsiteY3" fmla="*/ 0 h 2041452"/>
            </a:gdLst>
            <a:ahLst/>
            <a:cxnLst>
              <a:cxn ang="0">
                <a:pos x="connsiteX0" y="connsiteY0"/>
              </a:cxn>
              <a:cxn ang="0">
                <a:pos x="connsiteX1" y="connsiteY1"/>
              </a:cxn>
              <a:cxn ang="0">
                <a:pos x="connsiteX2" y="connsiteY2"/>
              </a:cxn>
              <a:cxn ang="0">
                <a:pos x="connsiteX3" y="connsiteY3"/>
              </a:cxn>
            </a:cxnLst>
            <a:rect l="l" t="t" r="r" b="b"/>
            <a:pathLst>
              <a:path w="1020726" h="2041452">
                <a:moveTo>
                  <a:pt x="1020726" y="0"/>
                </a:moveTo>
                <a:lnTo>
                  <a:pt x="1020726" y="2041452"/>
                </a:lnTo>
                <a:cubicBezTo>
                  <a:pt x="456995" y="2041452"/>
                  <a:pt x="0" y="1584457"/>
                  <a:pt x="0" y="1020726"/>
                </a:cubicBezTo>
                <a:cubicBezTo>
                  <a:pt x="0" y="456995"/>
                  <a:pt x="456995" y="0"/>
                  <a:pt x="1020726"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886124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Parch/Whit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A22378D-E6A0-C5DB-6E6C-700EB7965DA5}"/>
              </a:ext>
            </a:extLst>
          </p:cNvPr>
          <p:cNvPicPr>
            <a:picLocks noChangeAspect="1"/>
          </p:cNvPicPr>
          <p:nvPr userDrawn="1"/>
        </p:nvPicPr>
        <p:blipFill>
          <a:blip>
            <a:extLst>
              <a:ext uri="{96DAC541-7B7A-43D3-8B79-37D633B846F1}">
                <asvg:svgBlip xmlns:asvg="http://schemas.microsoft.com/office/drawing/2016/SVG/main" r:embed="rId2"/>
              </a:ext>
            </a:extLst>
          </a:blip>
          <a:srcRect l="47356"/>
          <a:stretch/>
        </p:blipFill>
        <p:spPr>
          <a:xfrm>
            <a:off x="0" y="0"/>
            <a:ext cx="9627605"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731964"/>
            <a:ext cx="8229600" cy="2621154"/>
          </a:xfrm>
        </p:spPr>
        <p:txBody>
          <a:bodyPr anchor="b">
            <a:noAutofit/>
          </a:bodyPr>
          <a:lstStyle>
            <a:lvl1pPr algn="ctr">
              <a:defRPr sz="6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59760" y="4777115"/>
            <a:ext cx="8072481" cy="1090285"/>
          </a:xfrm>
        </p:spPr>
        <p:txBody>
          <a:bodyPr>
            <a:noAutofit/>
          </a:bodyPr>
          <a:lstStyle>
            <a:lvl1pPr marL="0" indent="0" algn="ctr">
              <a:buNone/>
              <a:defRPr sz="36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Graphic 6">
            <a:extLst>
              <a:ext uri="{FF2B5EF4-FFF2-40B4-BE49-F238E27FC236}">
                <a16:creationId xmlns:a16="http://schemas.microsoft.com/office/drawing/2014/main" id="{2331F28B-066A-5A8B-BB48-F9C542EEC14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25421345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 w/ Pic Par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8461" y="1561943"/>
            <a:ext cx="4599139" cy="4305457"/>
          </a:xfrm>
        </p:spPr>
        <p:txBody>
          <a:bodyPr anchor="b">
            <a:noAutofit/>
          </a:bodyPr>
          <a:lstStyle>
            <a:lvl1pPr algn="l">
              <a:defRPr sz="6000">
                <a:latin typeface="+mj-lt"/>
              </a:defRPr>
            </a:lvl1pPr>
          </a:lstStyle>
          <a:p>
            <a:r>
              <a:rPr lang="en-US" dirty="0"/>
              <a:t>Click to edit Master title style</a:t>
            </a:r>
          </a:p>
        </p:txBody>
      </p:sp>
      <p:sp>
        <p:nvSpPr>
          <p:cNvPr id="13" name="Picture Placeholder 10">
            <a:extLst>
              <a:ext uri="{FF2B5EF4-FFF2-40B4-BE49-F238E27FC236}">
                <a16:creationId xmlns:a16="http://schemas.microsoft.com/office/drawing/2014/main" id="{8DA51E07-C561-85B3-141B-4157C0521FB7}"/>
              </a:ext>
            </a:extLst>
          </p:cNvPr>
          <p:cNvSpPr>
            <a:spLocks noGrp="1"/>
          </p:cNvSpPr>
          <p:nvPr>
            <p:ph type="pic" sz="quarter" idx="13"/>
          </p:nvPr>
        </p:nvSpPr>
        <p:spPr>
          <a:xfrm>
            <a:off x="0" y="0"/>
            <a:ext cx="6095994" cy="6858000"/>
          </a:xfrm>
          <a:blipFill dpi="0" rotWithShape="1">
            <a:blip r:embed="rId2">
              <a:alphaModFix/>
            </a:blip>
            <a:srcRect/>
            <a:stretch>
              <a:fillRect/>
            </a:stretch>
          </a:blipFill>
        </p:spPr>
        <p:txBody>
          <a:bodyPr/>
          <a:lstStyle/>
          <a:p>
            <a:r>
              <a:rPr lang="en-US"/>
              <a:t>Click icon to add picture</a:t>
            </a:r>
            <a:endParaRPr lang="en-US" dirty="0"/>
          </a:p>
        </p:txBody>
      </p:sp>
      <p:pic>
        <p:nvPicPr>
          <p:cNvPr id="4" name="Graphic 6">
            <a:extLst>
              <a:ext uri="{FF2B5EF4-FFF2-40B4-BE49-F238E27FC236}">
                <a16:creationId xmlns:a16="http://schemas.microsoft.com/office/drawing/2014/main" id="{D9F91DDE-66D8-8279-C51C-FFEC818B9A4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4220558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1246078-FF2F-20C7-072D-649155FB9EF6}"/>
              </a:ext>
            </a:extLst>
          </p:cNvPr>
          <p:cNvPicPr>
            <a:picLocks noChangeAspect="1"/>
          </p:cNvPicPr>
          <p:nvPr userDrawn="1"/>
        </p:nvPicPr>
        <p:blipFill>
          <a:blip>
            <a:extLst>
              <a:ext uri="{96DAC541-7B7A-43D3-8B79-37D633B846F1}">
                <asvg:svgBlip xmlns:asvg="http://schemas.microsoft.com/office/drawing/2016/SVG/main" r:embed="rId2"/>
              </a:ext>
            </a:extLst>
          </a:blip>
          <a:srcRect l="47356"/>
          <a:stretch/>
        </p:blipFill>
        <p:spPr>
          <a:xfrm>
            <a:off x="0" y="0"/>
            <a:ext cx="9627605"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5" y="1196492"/>
            <a:ext cx="10107029" cy="4670908"/>
          </a:xfrm>
        </p:spPr>
        <p:txBody>
          <a:bodyPr anchor="b">
            <a:noAutofit/>
          </a:bodyPr>
          <a:lstStyle>
            <a:lvl1pPr algn="l">
              <a:defRPr sz="5000">
                <a:latin typeface="+mj-lt"/>
              </a:defRPr>
            </a:lvl1pPr>
          </a:lstStyle>
          <a:p>
            <a:r>
              <a:rPr lang="en-US"/>
              <a:t>Click to edit Master title style</a:t>
            </a:r>
            <a:endParaRPr lang="en-US" dirty="0"/>
          </a:p>
        </p:txBody>
      </p:sp>
      <p:pic>
        <p:nvPicPr>
          <p:cNvPr id="4" name="Graphic 6">
            <a:extLst>
              <a:ext uri="{FF2B5EF4-FFF2-40B4-BE49-F238E27FC236}">
                <a16:creationId xmlns:a16="http://schemas.microsoft.com/office/drawing/2014/main" id="{7B031CE0-C923-FED8-E557-F8F55CEBE87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13580529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5" y="1196492"/>
            <a:ext cx="4800600" cy="4670908"/>
          </a:xfrm>
        </p:spPr>
        <p:txBody>
          <a:bodyPr anchor="b">
            <a:noAutofit/>
          </a:bodyPr>
          <a:lstStyle>
            <a:lvl1pPr algn="l">
              <a:defRPr sz="6000"/>
            </a:lvl1pPr>
          </a:lstStyle>
          <a:p>
            <a:r>
              <a:rPr lang="en-US" dirty="0"/>
              <a:t>Click to edit Master title style</a:t>
            </a:r>
          </a:p>
        </p:txBody>
      </p:sp>
      <p:pic>
        <p:nvPicPr>
          <p:cNvPr id="4" name="Graphic 6">
            <a:extLst>
              <a:ext uri="{FF2B5EF4-FFF2-40B4-BE49-F238E27FC236}">
                <a16:creationId xmlns:a16="http://schemas.microsoft.com/office/drawing/2014/main" id="{E193B235-4DBF-6361-0DD3-C9EB1BD0D01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10672046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09404" y="1616382"/>
            <a:ext cx="4325112" cy="4243418"/>
          </a:xfrm>
        </p:spPr>
        <p:txBody>
          <a:bodyPr>
            <a:noAutofit/>
          </a:bodyPr>
          <a:lstStyle>
            <a:lvl1pPr>
              <a:defRPr sz="360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096000" y="1615442"/>
            <a:ext cx="5181600" cy="4251958"/>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200"/>
            </a:lvl4pPr>
            <a:lvl5pPr marL="914400" indent="0">
              <a:buNone/>
              <a:defRPr sz="1100"/>
            </a:lvl5pPr>
          </a:lstStyle>
          <a:p>
            <a:pPr lvl="0"/>
            <a:r>
              <a:rPr lang="en-US" dirty="0"/>
              <a:t>Click to edit Master text styles</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06B6C060-A047-3E7B-A5EF-C2385E8D9D03}"/>
              </a:ext>
            </a:extLst>
          </p:cNvPr>
          <p:cNvSpPr>
            <a:spLocks noGrp="1"/>
          </p:cNvSpPr>
          <p:nvPr>
            <p:ph type="sldNum" sz="quarter" idx="15"/>
          </p:nvPr>
        </p:nvSpPr>
        <p:spPr/>
        <p:txBody>
          <a:bodyPr/>
          <a:lstStyle/>
          <a:p>
            <a:fld id="{CC057153-B650-4DEB-B370-79DDCFDCE934}" type="slidenum">
              <a:rPr lang="en-US" smtClean="0"/>
              <a:pPr/>
              <a:t>‹#›</a:t>
            </a:fld>
            <a:endParaRPr lang="en-US" dirty="0"/>
          </a:p>
        </p:txBody>
      </p:sp>
      <p:pic>
        <p:nvPicPr>
          <p:cNvPr id="3" name="Graphic 6">
            <a:extLst>
              <a:ext uri="{FF2B5EF4-FFF2-40B4-BE49-F238E27FC236}">
                <a16:creationId xmlns:a16="http://schemas.microsoft.com/office/drawing/2014/main" id="{3690C02E-0E1B-0235-D21D-5D3B547107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26801260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5" y="2819320"/>
            <a:ext cx="4372547" cy="3052398"/>
          </a:xfrm>
        </p:spPr>
        <p:txBody>
          <a:bodyPr>
            <a:noAutofit/>
          </a:bodyPr>
          <a:lstStyle>
            <a:lvl1pPr>
              <a:defRPr sz="3600">
                <a:latin typeface="+mj-lt"/>
              </a:defRPr>
            </a:lvl1pPr>
          </a:lstStyle>
          <a:p>
            <a:r>
              <a:rPr lang="en-US" dirty="0"/>
              <a:t>Click to edit Master title style</a:t>
            </a:r>
          </a:p>
        </p:txBody>
      </p:sp>
      <p:sp>
        <p:nvSpPr>
          <p:cNvPr id="3" name="Picture Placeholder 10">
            <a:extLst>
              <a:ext uri="{FF2B5EF4-FFF2-40B4-BE49-F238E27FC236}">
                <a16:creationId xmlns:a16="http://schemas.microsoft.com/office/drawing/2014/main" id="{8B0E68BA-9AEE-909E-56B9-A14C4D9AD352}"/>
              </a:ext>
            </a:extLst>
          </p:cNvPr>
          <p:cNvSpPr>
            <a:spLocks noGrp="1"/>
          </p:cNvSpPr>
          <p:nvPr>
            <p:ph type="pic" sz="quarter" idx="14"/>
          </p:nvPr>
        </p:nvSpPr>
        <p:spPr>
          <a:xfrm>
            <a:off x="1" y="0"/>
            <a:ext cx="12191999" cy="2171156"/>
          </a:xfrm>
          <a:blipFill dpi="0" rotWithShape="1">
            <a:blip r:embed="rId2">
              <a:alphaModFix/>
            </a:blip>
            <a:srcRect/>
            <a:stretch>
              <a:fillRect l="1" t="1" r="-5" b="-376"/>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118293" y="2815002"/>
            <a:ext cx="5159307" cy="3052398"/>
          </a:xfrm>
        </p:spPr>
        <p:txBody>
          <a:bodyPr>
            <a:noAutofit/>
          </a:bodyPr>
          <a:lstStyle>
            <a:lvl1pPr marL="0" indent="0">
              <a:buNone/>
              <a:defRPr sz="2400">
                <a:latin typeface="+mn-lt"/>
              </a:defRPr>
            </a:lvl1pPr>
            <a:lvl2pPr marL="228600" indent="0">
              <a:buNone/>
              <a:defRPr sz="2000">
                <a:latin typeface="+mn-lt"/>
              </a:defRPr>
            </a:lvl2pPr>
            <a:lvl3pPr marL="457200" indent="0">
              <a:buNone/>
              <a:defRPr sz="1800">
                <a:latin typeface="+mn-lt"/>
              </a:defRPr>
            </a:lvl3pPr>
            <a:lvl4pPr marL="685800" indent="0">
              <a:buNone/>
              <a:defRPr sz="1200"/>
            </a:lvl4pPr>
            <a:lvl5pPr marL="914400" indent="0">
              <a:buNone/>
              <a:defRPr sz="1100"/>
            </a:lvl5pPr>
          </a:lstStyle>
          <a:p>
            <a:pPr lvl="0"/>
            <a:r>
              <a:rPr lang="en-US" dirty="0"/>
              <a:t>Click to edit Master text styles</a:t>
            </a:r>
          </a:p>
          <a:p>
            <a:pPr lvl="1"/>
            <a:r>
              <a:rPr lang="en-US" dirty="0"/>
              <a:t>Second level</a:t>
            </a:r>
          </a:p>
          <a:p>
            <a:pPr lvl="2"/>
            <a:r>
              <a:rPr lang="en-US" dirty="0"/>
              <a:t>Third level</a:t>
            </a:r>
          </a:p>
        </p:txBody>
      </p:sp>
      <p:sp>
        <p:nvSpPr>
          <p:cNvPr id="11" name="Slide Number Placeholder 10">
            <a:extLst>
              <a:ext uri="{FF2B5EF4-FFF2-40B4-BE49-F238E27FC236}">
                <a16:creationId xmlns:a16="http://schemas.microsoft.com/office/drawing/2014/main" id="{745B9391-0D75-0822-632C-BC13EA3D5781}"/>
              </a:ext>
            </a:extLst>
          </p:cNvPr>
          <p:cNvSpPr>
            <a:spLocks noGrp="1"/>
          </p:cNvSpPr>
          <p:nvPr>
            <p:ph type="sldNum" sz="quarter" idx="16"/>
          </p:nvPr>
        </p:nvSpPr>
        <p:spPr/>
        <p:txBody>
          <a:bodyPr/>
          <a:lstStyle/>
          <a:p>
            <a:fld id="{CC057153-B650-4DEB-B370-79DDCFDCE934}" type="slidenum">
              <a:rPr lang="en-US" smtClean="0"/>
              <a:pPr/>
              <a:t>‹#›</a:t>
            </a:fld>
            <a:endParaRPr lang="en-US" dirty="0"/>
          </a:p>
        </p:txBody>
      </p:sp>
      <p:pic>
        <p:nvPicPr>
          <p:cNvPr id="4" name="Graphic 6">
            <a:extLst>
              <a:ext uri="{FF2B5EF4-FFF2-40B4-BE49-F238E27FC236}">
                <a16:creationId xmlns:a16="http://schemas.microsoft.com/office/drawing/2014/main" id="{7AE65C4C-3432-D315-2828-B304E48B621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34815087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7901" y="800100"/>
            <a:ext cx="3308329" cy="5067300"/>
          </a:xfrm>
        </p:spPr>
        <p:txBody>
          <a:bodyPr>
            <a:noAutofit/>
          </a:bodyPr>
          <a:lstStyle>
            <a:lvl1pPr>
              <a:defRPr sz="360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00100"/>
            <a:ext cx="6766560" cy="5067300"/>
          </a:xfrm>
        </p:spPr>
        <p:txBody>
          <a:bodyPr>
            <a:noAutofit/>
          </a:bodyPr>
          <a:lstStyle>
            <a:lvl1pPr>
              <a:lnSpc>
                <a:spcPct val="120000"/>
              </a:lnSpc>
              <a:defRPr sz="2800">
                <a:latin typeface="+mn-lt"/>
              </a:defRPr>
            </a:lvl1pPr>
            <a:lvl2pPr>
              <a:lnSpc>
                <a:spcPct val="120000"/>
              </a:lnSpc>
              <a:defRPr sz="2400"/>
            </a:lvl2pPr>
            <a:lvl3pPr>
              <a:lnSpc>
                <a:spcPct val="120000"/>
              </a:lnSpc>
              <a:defRPr sz="2000"/>
            </a:lvl3pPr>
            <a:lvl4pPr>
              <a:lnSpc>
                <a:spcPct val="90000"/>
              </a:lnSpc>
              <a:defRPr sz="1200"/>
            </a:lvl4pPr>
            <a:lvl5pPr>
              <a:lnSpc>
                <a:spcPct val="90000"/>
              </a:lnSpc>
              <a:defRPr sz="1100"/>
            </a:lvl5pPr>
          </a:lstStyle>
          <a:p>
            <a:pPr lvl="0"/>
            <a:r>
              <a:rPr lang="en-US" dirty="0"/>
              <a:t>Click to edit Master text styles</a:t>
            </a:r>
          </a:p>
          <a:p>
            <a:pPr lvl="1"/>
            <a:r>
              <a:rPr lang="en-US" dirty="0"/>
              <a:t>Second level</a:t>
            </a:r>
          </a:p>
          <a:p>
            <a:pPr lvl="2"/>
            <a:r>
              <a:rPr lang="en-US" dirty="0"/>
              <a:t>Third level</a:t>
            </a:r>
          </a:p>
        </p:txBody>
      </p:sp>
      <p:sp>
        <p:nvSpPr>
          <p:cNvPr id="10" name="Slide Number Placeholder 9">
            <a:extLst>
              <a:ext uri="{FF2B5EF4-FFF2-40B4-BE49-F238E27FC236}">
                <a16:creationId xmlns:a16="http://schemas.microsoft.com/office/drawing/2014/main" id="{66A4F595-4135-2136-41AB-0821878F0765}"/>
              </a:ext>
            </a:extLst>
          </p:cNvPr>
          <p:cNvSpPr>
            <a:spLocks noGrp="1"/>
          </p:cNvSpPr>
          <p:nvPr>
            <p:ph type="sldNum" sz="quarter" idx="15"/>
          </p:nvPr>
        </p:nvSpPr>
        <p:spPr/>
        <p:txBody>
          <a:bodyPr/>
          <a:lstStyle/>
          <a:p>
            <a:fld id="{CC057153-B650-4DEB-B370-79DDCFDCE934}" type="slidenum">
              <a:rPr lang="en-US" smtClean="0"/>
              <a:pPr/>
              <a:t>‹#›</a:t>
            </a:fld>
            <a:endParaRPr lang="en-US" dirty="0"/>
          </a:p>
        </p:txBody>
      </p:sp>
      <p:pic>
        <p:nvPicPr>
          <p:cNvPr id="3" name="Graphic 6">
            <a:extLst>
              <a:ext uri="{FF2B5EF4-FFF2-40B4-BE49-F238E27FC236}">
                <a16:creationId xmlns:a16="http://schemas.microsoft.com/office/drawing/2014/main" id="{774B1A1D-6A9E-C79A-C627-64067A88AD1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41861301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6210" y="804754"/>
            <a:ext cx="6071616" cy="1143000"/>
          </a:xfrm>
        </p:spPr>
        <p:txBody>
          <a:bodyPr anchor="t" anchorCtr="0">
            <a:noAutofit/>
          </a:bodyPr>
          <a:lstStyle>
            <a:lvl1pPr>
              <a:defRPr sz="3200">
                <a:latin typeface="+mj-lt"/>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437529" cy="6858000"/>
          </a:xfrm>
          <a:blipFill dpi="0" rotWithShape="1">
            <a:blip r:embed="rId2">
              <a:alphaModFix/>
            </a:blip>
            <a:srcRect/>
            <a:stretch>
              <a:fillRect r="-8031"/>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6209" y="2310062"/>
            <a:ext cx="6071616" cy="3557337"/>
          </a:xfrm>
        </p:spPr>
        <p:txBody>
          <a:bodyPr>
            <a:noAutofit/>
          </a:bodyPr>
          <a:lstStyle>
            <a:lvl1pPr>
              <a:defRPr sz="2400">
                <a:latin typeface="+mn-lt"/>
              </a:defRPr>
            </a:lvl1pPr>
            <a:lvl2pPr>
              <a:defRPr sz="2000">
                <a:latin typeface="+mn-lt"/>
              </a:defRPr>
            </a:lvl2pPr>
            <a:lvl3pPr>
              <a:defRPr sz="1800">
                <a:latin typeface="+mn-lt"/>
              </a:defRPr>
            </a:lvl3pPr>
            <a:lvl4pPr>
              <a:defRPr sz="1200"/>
            </a:lvl4pPr>
            <a:lvl5pPr>
              <a:defRPr sz="1100"/>
            </a:lvl5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DEBC9EAC-D0A0-274F-605F-809D661B14E7}"/>
              </a:ext>
            </a:extLst>
          </p:cNvPr>
          <p:cNvSpPr>
            <a:spLocks noGrp="1"/>
          </p:cNvSpPr>
          <p:nvPr>
            <p:ph type="sldNum" sz="quarter" idx="16"/>
          </p:nvPr>
        </p:nvSpPr>
        <p:spPr>
          <a:xfrm>
            <a:off x="5216209" y="6210756"/>
            <a:ext cx="429207" cy="365125"/>
          </a:xfrm>
        </p:spPr>
        <p:txBody>
          <a:bodyPr/>
          <a:lstStyle/>
          <a:p>
            <a:fld id="{CC057153-B650-4DEB-B370-79DDCFDCE934}" type="slidenum">
              <a:rPr lang="en-US" smtClean="0"/>
              <a:pPr/>
              <a:t>‹#›</a:t>
            </a:fld>
            <a:endParaRPr lang="en-US" dirty="0"/>
          </a:p>
        </p:txBody>
      </p:sp>
      <p:pic>
        <p:nvPicPr>
          <p:cNvPr id="3" name="Graphic 6">
            <a:extLst>
              <a:ext uri="{FF2B5EF4-FFF2-40B4-BE49-F238E27FC236}">
                <a16:creationId xmlns:a16="http://schemas.microsoft.com/office/drawing/2014/main" id="{E8E3E645-419D-5668-61E9-E524B99347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38075512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190" y="822960"/>
            <a:ext cx="6135624" cy="1025295"/>
          </a:xfrm>
        </p:spPr>
        <p:txBody>
          <a:bodyPr anchor="b"/>
          <a:lstStyle>
            <a:lvl1pPr>
              <a:defRPr>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00100" y="2197768"/>
            <a:ext cx="6152840" cy="3669631"/>
          </a:xfrm>
        </p:spPr>
        <p:txBody>
          <a:bodyPr>
            <a:noAutofit/>
          </a:bodyPr>
          <a:lstStyle>
            <a:lvl1pPr marL="0" indent="0">
              <a:buNone/>
              <a:defRPr sz="2400">
                <a:latin typeface="+mn-lt"/>
              </a:defRPr>
            </a:lvl1pPr>
            <a:lvl2pPr marL="228600" indent="0">
              <a:buNone/>
              <a:defRPr sz="2000">
                <a:latin typeface="+mn-lt"/>
              </a:defRPr>
            </a:lvl2pPr>
            <a:lvl3pPr marL="457200" indent="0">
              <a:buNone/>
              <a:defRPr sz="1800">
                <a:latin typeface="+mn-lt"/>
              </a:defRPr>
            </a:lvl3pPr>
            <a:lvl4pPr marL="685800" indent="0">
              <a:buNone/>
              <a:defRPr sz="1200"/>
            </a:lvl4pPr>
            <a:lvl5pPr marL="914400" indent="0">
              <a:buNone/>
              <a:defRPr sz="1100"/>
            </a:lvl5pPr>
          </a:lstStyle>
          <a:p>
            <a:pPr lvl="0"/>
            <a:r>
              <a:rPr lang="en-US" dirty="0"/>
              <a:t>Click to edit Master text styles</a:t>
            </a:r>
          </a:p>
          <a:p>
            <a:pPr lvl="1"/>
            <a:r>
              <a:rPr lang="en-US" dirty="0"/>
              <a:t>Second level</a:t>
            </a:r>
          </a:p>
          <a:p>
            <a:pPr lvl="2"/>
            <a:r>
              <a:rPr lang="en-US" dirty="0"/>
              <a:t>Third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blip>
            <a:srcRect/>
            <a:stretch>
              <a:fillRect/>
            </a:stretch>
          </a:blipFill>
        </p:spPr>
        <p:txBody>
          <a:bodyPr/>
          <a:lstStyle/>
          <a:p>
            <a:r>
              <a:rPr lang="en-US"/>
              <a:t>Click icon to add picture</a:t>
            </a:r>
            <a:endParaRPr lang="en-US" dirty="0"/>
          </a:p>
        </p:txBody>
      </p:sp>
      <p:sp>
        <p:nvSpPr>
          <p:cNvPr id="9" name="Slide Number Placeholder 8">
            <a:extLst>
              <a:ext uri="{FF2B5EF4-FFF2-40B4-BE49-F238E27FC236}">
                <a16:creationId xmlns:a16="http://schemas.microsoft.com/office/drawing/2014/main" id="{91743CBB-7830-737C-08AD-88F0B80A05C3}"/>
              </a:ext>
            </a:extLst>
          </p:cNvPr>
          <p:cNvSpPr>
            <a:spLocks noGrp="1"/>
          </p:cNvSpPr>
          <p:nvPr>
            <p:ph type="sldNum" sz="quarter" idx="16"/>
          </p:nvPr>
        </p:nvSpPr>
        <p:spPr/>
        <p:txBody>
          <a:bodyPr/>
          <a:lstStyle/>
          <a:p>
            <a:fld id="{CC057153-B650-4DEB-B370-79DDCFDCE934}" type="slidenum">
              <a:rPr lang="en-US" smtClean="0"/>
              <a:pPr/>
              <a:t>‹#›</a:t>
            </a:fld>
            <a:endParaRPr lang="en-US" dirty="0"/>
          </a:p>
        </p:txBody>
      </p:sp>
      <p:pic>
        <p:nvPicPr>
          <p:cNvPr id="3" name="Graphic 6">
            <a:extLst>
              <a:ext uri="{FF2B5EF4-FFF2-40B4-BE49-F238E27FC236}">
                <a16:creationId xmlns:a16="http://schemas.microsoft.com/office/drawing/2014/main" id="{B11B7753-8609-B438-1C1D-556F310E924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36631162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B9D6AC7-8572-8409-A88C-43D5E18555CD}"/>
              </a:ext>
            </a:extLst>
          </p:cNvPr>
          <p:cNvPicPr>
            <a:picLocks noChangeAspect="1"/>
          </p:cNvPicPr>
          <p:nvPr userDrawn="1"/>
        </p:nvPicPr>
        <p:blipFill>
          <a:blip>
            <a:extLst>
              <a:ext uri="{96DAC541-7B7A-43D3-8B79-37D633B846F1}">
                <asvg:svgBlip xmlns:asvg="http://schemas.microsoft.com/office/drawing/2016/SVG/main" r:embed="rId2"/>
              </a:ext>
            </a:extLst>
          </a:blip>
          <a:srcRect l="50326"/>
          <a:stretch/>
        </p:blipFill>
        <p:spPr>
          <a:xfrm rot="16200000" flipH="1">
            <a:off x="-666941" y="666941"/>
            <a:ext cx="5442583" cy="410870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1046" y="4015246"/>
            <a:ext cx="4297661" cy="1852154"/>
          </a:xfrm>
        </p:spPr>
        <p:txBody>
          <a:bodyPr anchor="b">
            <a:noAutofit/>
          </a:bodyPr>
          <a:lstStyle>
            <a:lvl1pPr>
              <a:defRPr sz="3600">
                <a:latin typeface="+mj-lt"/>
              </a:defRPr>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A9DF44A2-0708-C962-D4F6-461FBBBE261F}"/>
              </a:ext>
            </a:extLst>
          </p:cNvPr>
          <p:cNvSpPr>
            <a:spLocks noGrp="1"/>
          </p:cNvSpPr>
          <p:nvPr>
            <p:ph type="pic" sz="quarter" idx="13"/>
          </p:nvPr>
        </p:nvSpPr>
        <p:spPr>
          <a:xfrm>
            <a:off x="811046" y="800100"/>
            <a:ext cx="4297661" cy="2963009"/>
          </a:xfrm>
          <a:blipFill dpi="0" rotWithShape="1">
            <a:blip r:embed="rId3">
              <a:alphaModFix/>
            </a:blip>
            <a:srcRect/>
            <a:stretch>
              <a:fillRect b="159"/>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5999" y="800100"/>
            <a:ext cx="5181601" cy="5067300"/>
          </a:xfrm>
        </p:spPr>
        <p:txBody>
          <a:bodyPr>
            <a:noAutofit/>
          </a:bodyPr>
          <a:lstStyle>
            <a:lvl1pPr marL="0" indent="0">
              <a:buNone/>
              <a:defRPr sz="2800">
                <a:latin typeface="+mn-lt"/>
              </a:defRPr>
            </a:lvl1pPr>
            <a:lvl2pPr marL="228600" indent="0">
              <a:buNone/>
              <a:defRPr sz="2400">
                <a:latin typeface="+mn-lt"/>
              </a:defRPr>
            </a:lvl2pPr>
            <a:lvl3pPr marL="457200" indent="0">
              <a:buNone/>
              <a:defRPr sz="2000">
                <a:latin typeface="+mn-lt"/>
              </a:defRPr>
            </a:lvl3pPr>
            <a:lvl4pPr marL="685800" indent="0">
              <a:buNone/>
              <a:defRPr sz="1200"/>
            </a:lvl4pPr>
            <a:lvl5pPr marL="914400" indent="0">
              <a:buNone/>
              <a:defRPr sz="1100"/>
            </a:lvl5pPr>
          </a:lstStyle>
          <a:p>
            <a:pPr lvl="0"/>
            <a:r>
              <a:rPr lang="en-US" dirty="0"/>
              <a:t>Click to edit Master text styles</a:t>
            </a:r>
          </a:p>
          <a:p>
            <a:pPr lvl="1"/>
            <a:r>
              <a:rPr lang="en-US" dirty="0"/>
              <a:t>Second level</a:t>
            </a:r>
          </a:p>
          <a:p>
            <a:pPr lvl="2"/>
            <a:r>
              <a:rPr lang="en-US" dirty="0"/>
              <a:t>Third level</a:t>
            </a:r>
          </a:p>
        </p:txBody>
      </p:sp>
      <p:sp>
        <p:nvSpPr>
          <p:cNvPr id="11" name="Slide Number Placeholder 10">
            <a:extLst>
              <a:ext uri="{FF2B5EF4-FFF2-40B4-BE49-F238E27FC236}">
                <a16:creationId xmlns:a16="http://schemas.microsoft.com/office/drawing/2014/main" id="{E8254811-76C1-1F2D-B22F-EBE9AA97927A}"/>
              </a:ext>
            </a:extLst>
          </p:cNvPr>
          <p:cNvSpPr>
            <a:spLocks noGrp="1"/>
          </p:cNvSpPr>
          <p:nvPr>
            <p:ph type="sldNum" sz="quarter" idx="16"/>
          </p:nvPr>
        </p:nvSpPr>
        <p:spPr/>
        <p:txBody>
          <a:bodyPr/>
          <a:lstStyle/>
          <a:p>
            <a:fld id="{CC057153-B650-4DEB-B370-79DDCFDCE934}" type="slidenum">
              <a:rPr lang="en-US" smtClean="0"/>
              <a:pPr/>
              <a:t>‹#›</a:t>
            </a:fld>
            <a:endParaRPr lang="en-US" dirty="0"/>
          </a:p>
        </p:txBody>
      </p:sp>
      <p:pic>
        <p:nvPicPr>
          <p:cNvPr id="5" name="Graphic 6">
            <a:extLst>
              <a:ext uri="{FF2B5EF4-FFF2-40B4-BE49-F238E27FC236}">
                <a16:creationId xmlns:a16="http://schemas.microsoft.com/office/drawing/2014/main" id="{46A7B24D-68D9-E42D-AB1E-9E8D452990D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5557192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00100" y="4786009"/>
            <a:ext cx="10477502" cy="1081391"/>
          </a:xfrm>
        </p:spPr>
        <p:txBody>
          <a:bodyPr anchor="t" anchorCtr="0">
            <a:noAutofit/>
          </a:bodyPr>
          <a:lstStyle>
            <a:lvl1pPr algn="l">
              <a:lnSpc>
                <a:spcPct val="120000"/>
              </a:lnSpc>
              <a:defRPr sz="3200" b="0" i="0" cap="none" spc="0" baseline="0">
                <a:solidFill>
                  <a:schemeClr val="tx1"/>
                </a:solidFill>
                <a:latin typeface="+mj-lt"/>
                <a:ea typeface="Lato" panose="020F0502020204030203" pitchFamily="34" charset="0"/>
                <a:cs typeface="Lato" panose="020F0502020204030203" pitchFamily="34" charset="0"/>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00101" y="800099"/>
            <a:ext cx="10477500" cy="4170735"/>
          </a:xfrm>
        </p:spPr>
        <p:txBody>
          <a:bodyPr anchor="b">
            <a:normAutofit/>
          </a:bodyPr>
          <a:lstStyle>
            <a:lvl1pPr marL="0" indent="0">
              <a:lnSpc>
                <a:spcPct val="90000"/>
              </a:lnSpc>
              <a:spcBef>
                <a:spcPts val="0"/>
              </a:spcBef>
              <a:buNone/>
              <a:defRPr sz="25200" b="1" i="0">
                <a:solidFill>
                  <a:schemeClr val="tx2"/>
                </a:solidFill>
                <a:latin typeface="Arial Black" panose="020B0A04020102020204" pitchFamily="34" charset="0"/>
                <a:ea typeface="Arial Black" panose="020B0A04020102020204" pitchFamily="34" charset="0"/>
                <a:cs typeface="Lato" panose="020F0502020204030203" pitchFamily="34" charset="0"/>
              </a:defRPr>
            </a:lvl1pPr>
          </a:lstStyle>
          <a:p>
            <a:pPr lvl="0"/>
            <a:r>
              <a:rPr lang="en-US" dirty="0"/>
              <a:t>##%</a:t>
            </a:r>
          </a:p>
        </p:txBody>
      </p:sp>
      <p:sp>
        <p:nvSpPr>
          <p:cNvPr id="8" name="Slide Number Placeholder 7">
            <a:extLst>
              <a:ext uri="{FF2B5EF4-FFF2-40B4-BE49-F238E27FC236}">
                <a16:creationId xmlns:a16="http://schemas.microsoft.com/office/drawing/2014/main" id="{8800EC74-685E-0A7C-AC37-90C00F5FD8C6}"/>
              </a:ext>
            </a:extLst>
          </p:cNvPr>
          <p:cNvSpPr>
            <a:spLocks noGrp="1"/>
          </p:cNvSpPr>
          <p:nvPr>
            <p:ph type="sldNum" sz="quarter" idx="15"/>
          </p:nvPr>
        </p:nvSpPr>
        <p:spPr/>
        <p:txBody>
          <a:bodyPr/>
          <a:lstStyle/>
          <a:p>
            <a:fld id="{CC057153-B650-4DEB-B370-79DDCFDCE934}" type="slidenum">
              <a:rPr lang="en-US" smtClean="0"/>
              <a:pPr/>
              <a:t>‹#›</a:t>
            </a:fld>
            <a:endParaRPr lang="en-US" dirty="0"/>
          </a:p>
        </p:txBody>
      </p:sp>
      <p:pic>
        <p:nvPicPr>
          <p:cNvPr id="3" name="Graphic 6">
            <a:extLst>
              <a:ext uri="{FF2B5EF4-FFF2-40B4-BE49-F238E27FC236}">
                <a16:creationId xmlns:a16="http://schemas.microsoft.com/office/drawing/2014/main" id="{F9985F53-1082-3775-02F8-79826D5A23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
        <p:nvSpPr>
          <p:cNvPr id="9" name="Freeform 8">
            <a:extLst>
              <a:ext uri="{FF2B5EF4-FFF2-40B4-BE49-F238E27FC236}">
                <a16:creationId xmlns:a16="http://schemas.microsoft.com/office/drawing/2014/main" id="{F54FBE04-4D46-45DD-CD8D-E98E722DBB45}"/>
              </a:ext>
            </a:extLst>
          </p:cNvPr>
          <p:cNvSpPr/>
          <p:nvPr userDrawn="1"/>
        </p:nvSpPr>
        <p:spPr>
          <a:xfrm>
            <a:off x="1" y="1"/>
            <a:ext cx="1753627" cy="1753627"/>
          </a:xfrm>
          <a:custGeom>
            <a:avLst/>
            <a:gdLst>
              <a:gd name="connsiteX0" fmla="*/ 0 w 1753627"/>
              <a:gd name="connsiteY0" fmla="*/ 0 h 1753627"/>
              <a:gd name="connsiteX1" fmla="*/ 1753627 w 1753627"/>
              <a:gd name="connsiteY1" fmla="*/ 0 h 1753627"/>
              <a:gd name="connsiteX2" fmla="*/ 0 w 1753627"/>
              <a:gd name="connsiteY2" fmla="*/ 1753627 h 1753627"/>
            </a:gdLst>
            <a:ahLst/>
            <a:cxnLst>
              <a:cxn ang="0">
                <a:pos x="connsiteX0" y="connsiteY0"/>
              </a:cxn>
              <a:cxn ang="0">
                <a:pos x="connsiteX1" y="connsiteY1"/>
              </a:cxn>
              <a:cxn ang="0">
                <a:pos x="connsiteX2" y="connsiteY2"/>
              </a:cxn>
            </a:cxnLst>
            <a:rect l="l" t="t" r="r" b="b"/>
            <a:pathLst>
              <a:path w="1753627" h="1753627">
                <a:moveTo>
                  <a:pt x="0" y="0"/>
                </a:moveTo>
                <a:lnTo>
                  <a:pt x="1753627" y="0"/>
                </a:lnTo>
                <a:cubicBezTo>
                  <a:pt x="1753627" y="968501"/>
                  <a:pt x="968501" y="1753627"/>
                  <a:pt x="0" y="1753627"/>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459193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813816" y="800100"/>
            <a:ext cx="8266176" cy="5067300"/>
          </a:xfrm>
        </p:spPr>
        <p:txBody>
          <a:bodyPr anchor="b">
            <a:noAutofit/>
          </a:bodyPr>
          <a:lstStyle>
            <a:lvl1pPr marL="0" indent="0">
              <a:lnSpc>
                <a:spcPct val="100000"/>
              </a:lnSpc>
              <a:buNone/>
              <a:defRPr sz="4000" b="1" i="0" cap="all" spc="50" baseline="0">
                <a:solidFill>
                  <a:schemeClr val="tx2"/>
                </a:solidFill>
                <a:latin typeface="+mj-lt"/>
                <a:ea typeface="Lato" panose="020F0502020204030203" pitchFamily="34" charset="0"/>
                <a:cs typeface="Lato" panose="020F0502020204030203" pitchFamily="34" charset="0"/>
              </a:defRPr>
            </a:lvl1pPr>
            <a:lvl2pPr marL="228600" indent="0">
              <a:lnSpc>
                <a:spcPct val="100000"/>
              </a:lnSpc>
              <a:buNone/>
              <a:defRPr sz="3200" b="1" i="0" cap="all" spc="50" baseline="0">
                <a:solidFill>
                  <a:schemeClr val="tx2"/>
                </a:solidFill>
                <a:latin typeface="+mn-lt"/>
                <a:ea typeface="Lato" panose="020F0502020204030203" pitchFamily="34" charset="0"/>
                <a:cs typeface="Lato" panose="020F0502020204030203" pitchFamily="34" charset="0"/>
              </a:defRPr>
            </a:lvl2pPr>
            <a:lvl3pPr marL="457200" indent="0">
              <a:lnSpc>
                <a:spcPct val="100000"/>
              </a:lnSpc>
              <a:buNone/>
              <a:defRPr sz="2800" b="0" i="0" cap="all" spc="50" baseline="0">
                <a:solidFill>
                  <a:schemeClr val="tx1"/>
                </a:solidFill>
                <a:latin typeface="+mn-lt"/>
                <a:ea typeface="Lato" panose="020F0502020204030203" pitchFamily="34" charset="0"/>
                <a:cs typeface="Lato" panose="020F0502020204030203" pitchFamily="34" charset="0"/>
              </a:defRPr>
            </a:lvl3pPr>
            <a:lvl4pPr marL="685800" indent="0">
              <a:lnSpc>
                <a:spcPct val="100000"/>
              </a:lnSpc>
              <a:buNone/>
              <a:defRPr sz="2400" b="0" i="0" cap="all" spc="50" baseline="0">
                <a:solidFill>
                  <a:schemeClr val="tx1"/>
                </a:solidFill>
                <a:latin typeface="+mn-lt"/>
                <a:ea typeface="Lato" panose="020F0502020204030203" pitchFamily="34" charset="0"/>
                <a:cs typeface="Lato" panose="020F0502020204030203" pitchFamily="34" charset="0"/>
              </a:defRPr>
            </a:lvl4pPr>
            <a:lvl5pPr marL="914400" indent="0">
              <a:lnSpc>
                <a:spcPct val="100000"/>
              </a:lnSpc>
              <a:buNone/>
              <a:defRPr sz="2000" b="0" i="0" cap="all" spc="50" baseline="0">
                <a:solidFill>
                  <a:schemeClr val="tx1"/>
                </a:solidFill>
                <a:latin typeface="+mn-lt"/>
                <a:ea typeface="Lato" panose="020F0502020204030203" pitchFamily="34" charset="0"/>
                <a:cs typeface="Lato" panose="020F0502020204030203"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D224E89F-2F46-FA50-29E7-196EBB62AB39}"/>
              </a:ext>
            </a:extLst>
          </p:cNvPr>
          <p:cNvSpPr>
            <a:spLocks noGrp="1"/>
          </p:cNvSpPr>
          <p:nvPr>
            <p:ph type="sldNum" sz="quarter" idx="15"/>
          </p:nvPr>
        </p:nvSpPr>
        <p:spPr/>
        <p:txBody>
          <a:bodyPr/>
          <a:lstStyle/>
          <a:p>
            <a:fld id="{CC057153-B650-4DEB-B370-79DDCFDCE934}" type="slidenum">
              <a:rPr lang="en-US" smtClean="0"/>
              <a:pPr/>
              <a:t>‹#›</a:t>
            </a:fld>
            <a:endParaRPr lang="en-US" dirty="0"/>
          </a:p>
        </p:txBody>
      </p:sp>
      <p:pic>
        <p:nvPicPr>
          <p:cNvPr id="2" name="Graphic 6">
            <a:extLst>
              <a:ext uri="{FF2B5EF4-FFF2-40B4-BE49-F238E27FC236}">
                <a16:creationId xmlns:a16="http://schemas.microsoft.com/office/drawing/2014/main" id="{1A82BEE6-24AB-9BF1-9C2E-8635819F6C3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5096531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3BF9D00-D372-5C19-B8A8-10103136FC1A}"/>
              </a:ext>
            </a:extLst>
          </p:cNvPr>
          <p:cNvPicPr>
            <a:picLocks noChangeAspect="1"/>
          </p:cNvPicPr>
          <p:nvPr userDrawn="1"/>
        </p:nvPicPr>
        <p:blipFill>
          <a:blip>
            <a:extLst>
              <a:ext uri="{96DAC541-7B7A-43D3-8B79-37D633B846F1}">
                <asvg:svgBlip xmlns:asvg="http://schemas.microsoft.com/office/drawing/2016/SVG/main" r:embed="rId2"/>
              </a:ext>
            </a:extLst>
          </a:blip>
          <a:srcRect l="47356"/>
          <a:stretch/>
        </p:blipFill>
        <p:spPr>
          <a:xfrm>
            <a:off x="0" y="0"/>
            <a:ext cx="9627605"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12600" y="5398965"/>
            <a:ext cx="8229600" cy="466344"/>
          </a:xfrm>
        </p:spPr>
        <p:txBody>
          <a:bodyPr anchor="ctr">
            <a:noAutofit/>
          </a:bodyPr>
          <a:lstStyle>
            <a:lvl1pPr>
              <a:lnSpc>
                <a:spcPct val="120000"/>
              </a:lnSpc>
              <a:defRPr sz="2200" b="0" i="0" cap="none" spc="20" baseline="0">
                <a:solidFill>
                  <a:schemeClr val="tx1"/>
                </a:solidFill>
                <a:latin typeface="+mj-lt"/>
                <a:ea typeface="Lato" panose="020F0502020204030203" pitchFamily="34" charset="0"/>
                <a:cs typeface="Lato" panose="020F0502020204030203"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12600" y="790614"/>
            <a:ext cx="8209280" cy="4557413"/>
          </a:xfrm>
        </p:spPr>
        <p:txBody>
          <a:bodyPr anchor="t" anchorCtr="0">
            <a:normAutofit/>
          </a:bodyPr>
          <a:lstStyle>
            <a:lvl1pPr marL="0" indent="0">
              <a:lnSpc>
                <a:spcPct val="100000"/>
              </a:lnSpc>
              <a:spcBef>
                <a:spcPts val="0"/>
              </a:spcBef>
              <a:buNone/>
              <a:defRPr sz="6000" b="0" i="0" cap="all" spc="50" baseline="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dirty="0"/>
              <a:t>Click to add Quote</a:t>
            </a:r>
          </a:p>
        </p:txBody>
      </p:sp>
      <p:sp>
        <p:nvSpPr>
          <p:cNvPr id="8" name="Slide Number Placeholder 7">
            <a:extLst>
              <a:ext uri="{FF2B5EF4-FFF2-40B4-BE49-F238E27FC236}">
                <a16:creationId xmlns:a16="http://schemas.microsoft.com/office/drawing/2014/main" id="{9D37E0FB-C1AC-1F2E-600A-C0B15F492804}"/>
              </a:ext>
            </a:extLst>
          </p:cNvPr>
          <p:cNvSpPr>
            <a:spLocks noGrp="1"/>
          </p:cNvSpPr>
          <p:nvPr>
            <p:ph type="sldNum" sz="quarter" idx="15"/>
          </p:nvPr>
        </p:nvSpPr>
        <p:spPr/>
        <p:txBody>
          <a:bodyPr/>
          <a:lstStyle/>
          <a:p>
            <a:fld id="{CC057153-B650-4DEB-B370-79DDCFDCE934}" type="slidenum">
              <a:rPr lang="en-US" smtClean="0"/>
              <a:pPr/>
              <a:t>‹#›</a:t>
            </a:fld>
            <a:endParaRPr lang="en-US" dirty="0"/>
          </a:p>
        </p:txBody>
      </p:sp>
      <p:pic>
        <p:nvPicPr>
          <p:cNvPr id="5" name="Graphic 6">
            <a:extLst>
              <a:ext uri="{FF2B5EF4-FFF2-40B4-BE49-F238E27FC236}">
                <a16:creationId xmlns:a16="http://schemas.microsoft.com/office/drawing/2014/main" id="{CEAD2653-3EDB-B3F7-BC4C-25DAB73BC95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
        <p:nvSpPr>
          <p:cNvPr id="10" name="Freeform 9">
            <a:extLst>
              <a:ext uri="{FF2B5EF4-FFF2-40B4-BE49-F238E27FC236}">
                <a16:creationId xmlns:a16="http://schemas.microsoft.com/office/drawing/2014/main" id="{C357834D-F7FB-ECC3-5876-650758BBF388}"/>
              </a:ext>
            </a:extLst>
          </p:cNvPr>
          <p:cNvSpPr/>
          <p:nvPr userDrawn="1"/>
        </p:nvSpPr>
        <p:spPr>
          <a:xfrm>
            <a:off x="10438374" y="1675373"/>
            <a:ext cx="1753627" cy="3507254"/>
          </a:xfrm>
          <a:custGeom>
            <a:avLst/>
            <a:gdLst>
              <a:gd name="connsiteX0" fmla="*/ 1753627 w 1753627"/>
              <a:gd name="connsiteY0" fmla="*/ 0 h 3507254"/>
              <a:gd name="connsiteX1" fmla="*/ 1753627 w 1753627"/>
              <a:gd name="connsiteY1" fmla="*/ 3507254 h 3507254"/>
              <a:gd name="connsiteX2" fmla="*/ 0 w 1753627"/>
              <a:gd name="connsiteY2" fmla="*/ 1753627 h 3507254"/>
              <a:gd name="connsiteX3" fmla="*/ 1753627 w 1753627"/>
              <a:gd name="connsiteY3" fmla="*/ 0 h 3507254"/>
            </a:gdLst>
            <a:ahLst/>
            <a:cxnLst>
              <a:cxn ang="0">
                <a:pos x="connsiteX0" y="connsiteY0"/>
              </a:cxn>
              <a:cxn ang="0">
                <a:pos x="connsiteX1" y="connsiteY1"/>
              </a:cxn>
              <a:cxn ang="0">
                <a:pos x="connsiteX2" y="connsiteY2"/>
              </a:cxn>
              <a:cxn ang="0">
                <a:pos x="connsiteX3" y="connsiteY3"/>
              </a:cxn>
            </a:cxnLst>
            <a:rect l="l" t="t" r="r" b="b"/>
            <a:pathLst>
              <a:path w="1753627" h="3507254">
                <a:moveTo>
                  <a:pt x="1753627" y="0"/>
                </a:moveTo>
                <a:lnTo>
                  <a:pt x="1753627" y="3507254"/>
                </a:lnTo>
                <a:cubicBezTo>
                  <a:pt x="785126" y="3507254"/>
                  <a:pt x="0" y="2722128"/>
                  <a:pt x="0" y="1753627"/>
                </a:cubicBezTo>
                <a:cubicBezTo>
                  <a:pt x="0" y="785126"/>
                  <a:pt x="785126" y="0"/>
                  <a:pt x="17536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6307617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ntent 2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1615442"/>
            <a:ext cx="3437583" cy="4251957"/>
          </a:xfrm>
        </p:spPr>
        <p:txBody>
          <a:bodyPr>
            <a:noAutofit/>
          </a:bodyPr>
          <a:lstStyle>
            <a:lvl1pPr>
              <a:defRPr sz="3600">
                <a:latin typeface="+mj-lt"/>
              </a:defRPr>
            </a:lvl1pPr>
          </a:lstStyle>
          <a:p>
            <a:r>
              <a:rPr lang="en-US" dirty="0"/>
              <a:t>Click to edit Master title style</a:t>
            </a:r>
          </a:p>
        </p:txBody>
      </p:sp>
      <p:sp>
        <p:nvSpPr>
          <p:cNvPr id="3" name="Picture Placeholder 10">
            <a:extLst>
              <a:ext uri="{FF2B5EF4-FFF2-40B4-BE49-F238E27FC236}">
                <a16:creationId xmlns:a16="http://schemas.microsoft.com/office/drawing/2014/main" id="{77FBFB58-BD7D-0E9B-7D02-1BE0CDCEA434}"/>
              </a:ext>
            </a:extLst>
          </p:cNvPr>
          <p:cNvSpPr>
            <a:spLocks noGrp="1"/>
          </p:cNvSpPr>
          <p:nvPr>
            <p:ph type="pic" sz="quarter" idx="15"/>
          </p:nvPr>
        </p:nvSpPr>
        <p:spPr>
          <a:xfrm>
            <a:off x="0" y="0"/>
            <a:ext cx="12192000" cy="972457"/>
          </a:xfrm>
          <a:blipFill dpi="0" rotWithShape="1">
            <a:blip r:embed="rId2">
              <a:alphaModFix amt="90000"/>
            </a:blip>
            <a:srcRect/>
            <a:stretch>
              <a:fillRect l="1" t="1" r="-5" b="-482"/>
            </a:stretch>
          </a:blipFill>
        </p:spPr>
        <p:txBody>
          <a:bodyPr/>
          <a:lstStyle/>
          <a:p>
            <a:r>
              <a:rPr lang="en-US"/>
              <a:t>Click icon to add picture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151840" y="1615442"/>
            <a:ext cx="6119865" cy="1813558"/>
          </a:xfrm>
        </p:spPr>
        <p:txBody>
          <a:bodyPr>
            <a:noAutofit/>
          </a:bodyPr>
          <a:lstStyle>
            <a:lvl1pPr marL="0" indent="0">
              <a:lnSpc>
                <a:spcPct val="120000"/>
              </a:lnSpc>
              <a:buNone/>
              <a:defRPr sz="2400">
                <a:latin typeface="+mn-lt"/>
              </a:defRPr>
            </a:lvl1pPr>
            <a:lvl2pPr marL="228600" indent="0">
              <a:lnSpc>
                <a:spcPct val="120000"/>
              </a:lnSpc>
              <a:buNone/>
              <a:defRPr sz="2200">
                <a:latin typeface="+mn-lt"/>
              </a:defRPr>
            </a:lvl2pPr>
            <a:lvl3pPr marL="457200" indent="0">
              <a:lnSpc>
                <a:spcPct val="120000"/>
              </a:lnSpc>
              <a:buNone/>
              <a:defRPr sz="1800"/>
            </a:lvl3pPr>
            <a:lvl4pPr marL="685800" indent="0">
              <a:lnSpc>
                <a:spcPct val="90000"/>
              </a:lnSpc>
              <a:buNone/>
              <a:defRPr sz="1200"/>
            </a:lvl4pPr>
            <a:lvl5pPr marL="914400" indent="0">
              <a:lnSpc>
                <a:spcPct val="90000"/>
              </a:lnSpc>
              <a:buNone/>
              <a:defRPr sz="1100"/>
            </a:lvl5pPr>
          </a:lstStyle>
          <a:p>
            <a:pPr lvl="0"/>
            <a:r>
              <a:rPr lang="en-US" dirty="0"/>
              <a:t>Click to edit Master text styles</a:t>
            </a:r>
          </a:p>
          <a:p>
            <a:pPr lvl="1"/>
            <a:r>
              <a:rPr lang="en-US" dirty="0"/>
              <a:t>Second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5148775" y="3855720"/>
            <a:ext cx="6119865" cy="2011680"/>
          </a:xfrm>
        </p:spPr>
        <p:txBody>
          <a:bodyPr>
            <a:noAutofit/>
          </a:bodyPr>
          <a:lstStyle>
            <a:lvl1pPr marL="0" indent="0">
              <a:lnSpc>
                <a:spcPct val="120000"/>
              </a:lnSpc>
              <a:buNone/>
              <a:defRPr sz="2400">
                <a:latin typeface="+mn-lt"/>
              </a:defRPr>
            </a:lvl1pPr>
            <a:lvl2pPr marL="228600" indent="0">
              <a:lnSpc>
                <a:spcPct val="120000"/>
              </a:lnSpc>
              <a:buNone/>
              <a:defRPr sz="2200">
                <a:latin typeface="+mn-lt"/>
              </a:defRPr>
            </a:lvl2pPr>
            <a:lvl3pPr marL="457200" indent="0">
              <a:lnSpc>
                <a:spcPct val="120000"/>
              </a:lnSpc>
              <a:buNone/>
              <a:defRPr sz="1800"/>
            </a:lvl3pPr>
            <a:lvl4pPr marL="685800" indent="0">
              <a:lnSpc>
                <a:spcPct val="120000"/>
              </a:lnSpc>
              <a:buNone/>
              <a:defRPr sz="1600"/>
            </a:lvl4pPr>
            <a:lvl5pPr marL="914400" indent="0">
              <a:lnSpc>
                <a:spcPct val="90000"/>
              </a:lnSpc>
              <a:buNone/>
              <a:defRPr sz="1100"/>
            </a:lvl5pPr>
          </a:lstStyle>
          <a:p>
            <a:pPr lvl="0"/>
            <a:r>
              <a:rPr lang="en-US" dirty="0"/>
              <a:t>Click to edit Master text styles</a:t>
            </a:r>
          </a:p>
          <a:p>
            <a:pPr lvl="1"/>
            <a:r>
              <a:rPr lang="en-US" dirty="0"/>
              <a:t>Second level</a:t>
            </a:r>
          </a:p>
        </p:txBody>
      </p:sp>
      <p:sp>
        <p:nvSpPr>
          <p:cNvPr id="10" name="Slide Number Placeholder 9">
            <a:extLst>
              <a:ext uri="{FF2B5EF4-FFF2-40B4-BE49-F238E27FC236}">
                <a16:creationId xmlns:a16="http://schemas.microsoft.com/office/drawing/2014/main" id="{AC02C88F-9117-C9D4-620D-5032BDFB4862}"/>
              </a:ext>
            </a:extLst>
          </p:cNvPr>
          <p:cNvSpPr>
            <a:spLocks noGrp="1"/>
          </p:cNvSpPr>
          <p:nvPr>
            <p:ph type="sldNum" sz="quarter" idx="17"/>
          </p:nvPr>
        </p:nvSpPr>
        <p:spPr/>
        <p:txBody>
          <a:bodyPr/>
          <a:lstStyle/>
          <a:p>
            <a:fld id="{CC057153-B650-4DEB-B370-79DDCFDCE934}" type="slidenum">
              <a:rPr lang="en-US" smtClean="0"/>
              <a:pPr/>
              <a:t>‹#›</a:t>
            </a:fld>
            <a:endParaRPr lang="en-US" dirty="0"/>
          </a:p>
        </p:txBody>
      </p:sp>
      <p:pic>
        <p:nvPicPr>
          <p:cNvPr id="4" name="Graphic 6">
            <a:extLst>
              <a:ext uri="{FF2B5EF4-FFF2-40B4-BE49-F238E27FC236}">
                <a16:creationId xmlns:a16="http://schemas.microsoft.com/office/drawing/2014/main" id="{ED0E1780-0038-4807-3D99-4DD385601E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4050719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CE08BB0-CF97-5388-C82D-066902B85AF1}"/>
              </a:ext>
            </a:extLst>
          </p:cNvPr>
          <p:cNvSpPr>
            <a:spLocks noGrp="1"/>
          </p:cNvSpPr>
          <p:nvPr>
            <p:ph type="sldNum" sz="quarter" idx="11"/>
          </p:nvPr>
        </p:nvSpPr>
        <p:spPr/>
        <p:txBody>
          <a:bodyPr/>
          <a:lstStyle/>
          <a:p>
            <a:fld id="{CC057153-B650-4DEB-B370-79DDCFDCE934}" type="slidenum">
              <a:rPr lang="en-US" smtClean="0"/>
              <a:pPr/>
              <a:t>‹#›</a:t>
            </a:fld>
            <a:endParaRPr lang="en-US" dirty="0"/>
          </a:p>
        </p:txBody>
      </p:sp>
      <p:pic>
        <p:nvPicPr>
          <p:cNvPr id="3" name="Graphic 6">
            <a:extLst>
              <a:ext uri="{FF2B5EF4-FFF2-40B4-BE49-F238E27FC236}">
                <a16:creationId xmlns:a16="http://schemas.microsoft.com/office/drawing/2014/main" id="{B874165B-F139-F78D-D477-682DBA0354F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35002946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13816" y="800100"/>
            <a:ext cx="3595634" cy="2212313"/>
          </a:xfrm>
        </p:spPr>
        <p:txBody>
          <a:bodyPr anchor="t">
            <a:noAutofit/>
          </a:bodyPr>
          <a:lstStyle>
            <a:lvl1pPr>
              <a:defRPr sz="3600">
                <a:latin typeface="+mj-lt"/>
              </a:defRPr>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3816" y="3429000"/>
            <a:ext cx="3585586" cy="2438400"/>
          </a:xfrm>
        </p:spPr>
        <p:txBody>
          <a:bodyPr anchor="t" anchorCtr="0">
            <a:noAutofit/>
          </a:bodyPr>
          <a:lstStyle>
            <a:lvl1pPr marL="0" indent="0">
              <a:buNone/>
              <a:defRPr sz="24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593404" y="800100"/>
            <a:ext cx="5681149" cy="5067300"/>
          </a:xfrm>
          <a:blipFill dpi="0" rotWithShape="1">
            <a:blip r:embed="rId2">
              <a:alphaModFix/>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D62D32D4-7634-D8FD-24E2-EA03EA9EC86C}"/>
              </a:ext>
            </a:extLst>
          </p:cNvPr>
          <p:cNvSpPr>
            <a:spLocks noGrp="1"/>
          </p:cNvSpPr>
          <p:nvPr>
            <p:ph type="sldNum" sz="quarter" idx="11"/>
          </p:nvPr>
        </p:nvSpPr>
        <p:spPr/>
        <p:txBody>
          <a:bodyPr/>
          <a:lstStyle/>
          <a:p>
            <a:fld id="{CC057153-B650-4DEB-B370-79DDCFDCE934}" type="slidenum">
              <a:rPr lang="en-US" smtClean="0"/>
              <a:pPr/>
              <a:t>‹#›</a:t>
            </a:fld>
            <a:endParaRPr lang="en-US" dirty="0"/>
          </a:p>
        </p:txBody>
      </p:sp>
      <p:pic>
        <p:nvPicPr>
          <p:cNvPr id="5" name="Graphic 6">
            <a:extLst>
              <a:ext uri="{FF2B5EF4-FFF2-40B4-BE49-F238E27FC236}">
                <a16:creationId xmlns:a16="http://schemas.microsoft.com/office/drawing/2014/main" id="{6E5F71FB-D832-FD1F-5421-174FD4901E7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8273790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clusion 3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5390" y="826903"/>
            <a:ext cx="10467653" cy="1133856"/>
          </a:xfrm>
        </p:spPr>
        <p:txBody>
          <a:bodyPr anchor="t" anchorCtr="0">
            <a:noAutofit/>
          </a:bodyPr>
          <a:lstStyle>
            <a:lvl1pPr algn="l">
              <a:defRPr sz="360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15390" y="1993392"/>
            <a:ext cx="10467653" cy="1769533"/>
          </a:xfrm>
        </p:spPr>
        <p:txBody>
          <a:bodyPr>
            <a:noAutofit/>
          </a:bodyPr>
          <a:lstStyle>
            <a:lvl1pPr marL="0" indent="0">
              <a:buNone/>
              <a:defRPr sz="2400">
                <a:latin typeface="+mn-lt"/>
              </a:defRPr>
            </a:lvl1pPr>
            <a:lvl2pPr marL="228600" indent="0">
              <a:buNone/>
              <a:defRPr sz="2200">
                <a:latin typeface="+mn-lt"/>
              </a:defRPr>
            </a:lvl2pPr>
            <a:lvl3pPr marL="457200" indent="0">
              <a:buNone/>
              <a:defRPr sz="1800"/>
            </a:lvl3pPr>
            <a:lvl4pPr marL="685800" indent="0">
              <a:buNone/>
              <a:defRPr sz="1200"/>
            </a:lvl4pPr>
            <a:lvl5pPr marL="914400" indent="0">
              <a:buNone/>
              <a:defRPr sz="1100"/>
            </a:lvl5pPr>
          </a:lstStyle>
          <a:p>
            <a:pPr lvl="0"/>
            <a:r>
              <a:rPr lang="en-US" dirty="0"/>
              <a:t>Click to edit Master text styles</a:t>
            </a:r>
          </a:p>
          <a:p>
            <a:pPr lvl="1"/>
            <a:r>
              <a:rPr lang="en-US" dirty="0"/>
              <a:t>Second level</a:t>
            </a:r>
          </a:p>
        </p:txBody>
      </p:sp>
      <p:sp>
        <p:nvSpPr>
          <p:cNvPr id="9" name="Picture Placeholder 10">
            <a:extLst>
              <a:ext uri="{FF2B5EF4-FFF2-40B4-BE49-F238E27FC236}">
                <a16:creationId xmlns:a16="http://schemas.microsoft.com/office/drawing/2014/main" id="{6274E4BF-A9CB-F772-DFA6-C511FFC5541A}"/>
              </a:ext>
            </a:extLst>
          </p:cNvPr>
          <p:cNvSpPr>
            <a:spLocks noGrp="1"/>
          </p:cNvSpPr>
          <p:nvPr>
            <p:ph type="pic" sz="quarter" idx="14"/>
          </p:nvPr>
        </p:nvSpPr>
        <p:spPr>
          <a:xfrm>
            <a:off x="1" y="4495800"/>
            <a:ext cx="12191999" cy="2362200"/>
          </a:xfrm>
          <a:blipFill dpi="0" rotWithShape="1">
            <a:blip r:embed="rId2">
              <a:alphaModFix/>
            </a:blip>
            <a:srcRect/>
            <a:stretch>
              <a:fillRect l="1" t="-200" r="-5" b="-346"/>
            </a:stretch>
          </a:blipFill>
        </p:spPr>
        <p:txBody>
          <a:bodyPr/>
          <a:lstStyle/>
          <a:p>
            <a:r>
              <a:rPr lang="en-US"/>
              <a:t>Click icon to add picture</a:t>
            </a:r>
            <a:endParaRPr lang="en-US" dirty="0"/>
          </a:p>
        </p:txBody>
      </p:sp>
      <p:pic>
        <p:nvPicPr>
          <p:cNvPr id="3" name="Graphic 6">
            <a:extLst>
              <a:ext uri="{FF2B5EF4-FFF2-40B4-BE49-F238E27FC236}">
                <a16:creationId xmlns:a16="http://schemas.microsoft.com/office/drawing/2014/main" id="{8D240F33-3499-14F8-ED34-190F4494AA1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16858043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E80086-8008-81A6-A561-1DC330662E9F}"/>
              </a:ext>
            </a:extLst>
          </p:cNvPr>
          <p:cNvSpPr>
            <a:spLocks noGrp="1"/>
          </p:cNvSpPr>
          <p:nvPr>
            <p:ph type="sldNum" sz="quarter" idx="10"/>
          </p:nvPr>
        </p:nvSpPr>
        <p:spPr/>
        <p:txBody>
          <a:bodyPr/>
          <a:lstStyle/>
          <a:p>
            <a:fld id="{CC057153-B650-4DEB-B370-79DDCFDCE934}" type="slidenum">
              <a:rPr lang="en-US" smtClean="0"/>
              <a:pPr/>
              <a:t>‹#›</a:t>
            </a:fld>
            <a:endParaRPr lang="en-US" dirty="0"/>
          </a:p>
        </p:txBody>
      </p:sp>
      <p:pic>
        <p:nvPicPr>
          <p:cNvPr id="7" name="Graphic 6">
            <a:extLst>
              <a:ext uri="{FF2B5EF4-FFF2-40B4-BE49-F238E27FC236}">
                <a16:creationId xmlns:a16="http://schemas.microsoft.com/office/drawing/2014/main" id="{1050CEF7-0FE5-F1EC-3424-C6129B9AF16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070417" y="5887975"/>
            <a:ext cx="803084" cy="803084"/>
          </a:xfrm>
          <a:prstGeom prst="rect">
            <a:avLst/>
          </a:prstGeom>
        </p:spPr>
      </p:pic>
    </p:spTree>
    <p:extLst>
      <p:ext uri="{BB962C8B-B14F-4D97-AF65-F5344CB8AC3E}">
        <p14:creationId xmlns:p14="http://schemas.microsoft.com/office/powerpoint/2010/main" val="1887045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theme" Target="../theme/theme2.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F293EA-CAFA-F4D2-F4C8-01E2E0B56F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a:extLst>
              <a:ext uri="{FF2B5EF4-FFF2-40B4-BE49-F238E27FC236}">
                <a16:creationId xmlns:a16="http://schemas.microsoft.com/office/drawing/2014/main" id="{FF18ED55-4486-3009-FE35-7B8436FF832D}"/>
              </a:ext>
            </a:extLst>
          </p:cNvPr>
          <p:cNvSpPr>
            <a:spLocks noGrp="1"/>
          </p:cNvSpPr>
          <p:nvPr>
            <p:ph type="dt" sz="half" idx="2"/>
          </p:nvPr>
        </p:nvSpPr>
        <p:spPr>
          <a:xfrm>
            <a:off x="303362" y="6356349"/>
            <a:ext cx="2743200" cy="365125"/>
          </a:xfrm>
          <a:prstGeom prst="rect">
            <a:avLst/>
          </a:prstGeom>
        </p:spPr>
        <p:txBody>
          <a:bodyPr vert="horz" lIns="91440" tIns="45720" rIns="91440" bIns="45720" rtlCol="0" anchor="ctr"/>
          <a:lstStyle>
            <a:lvl1pPr algn="l">
              <a:defRPr sz="1200">
                <a:solidFill>
                  <a:schemeClr val="bg1"/>
                </a:solidFill>
              </a:defRPr>
            </a:lvl1pPr>
          </a:lstStyle>
          <a:p>
            <a:fld id="{7C5F1525-D19C-421C-A7D7-D76F3A4AF57C}" type="datetimeFigureOut">
              <a:rPr lang="en-US" smtClean="0"/>
              <a:pPr/>
              <a:t>9/29/2026</a:t>
            </a:fld>
            <a:endParaRPr lang="en-US" dirty="0"/>
          </a:p>
        </p:txBody>
      </p:sp>
      <p:sp>
        <p:nvSpPr>
          <p:cNvPr id="5" name="Footer Placeholder 4">
            <a:extLst>
              <a:ext uri="{FF2B5EF4-FFF2-40B4-BE49-F238E27FC236}">
                <a16:creationId xmlns:a16="http://schemas.microsoft.com/office/drawing/2014/main" id="{2174DCDA-0D0F-C388-06E6-20EABDEAF8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251370"/>
      </p:ext>
    </p:extLst>
  </p:cSld>
  <p:clrMap bg1="lt1" tx1="dk1" bg2="lt2" tx2="dk2" accent1="accent1" accent2="accent2" accent3="accent3" accent4="accent4" accent5="accent5" accent6="accent6" hlink="hlink" folHlink="folHlink"/>
  <p:sldLayoutIdLst>
    <p:sldLayoutId id="2147483655"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7">
            <a:alphaModFix amt="90000"/>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816609" y="826658"/>
            <a:ext cx="10447125" cy="758951"/>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816609" y="1715532"/>
            <a:ext cx="10447125" cy="412519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30476" y="6210756"/>
            <a:ext cx="429207" cy="365125"/>
          </a:xfrm>
          <a:prstGeom prst="rect">
            <a:avLst/>
          </a:prstGeom>
        </p:spPr>
        <p:txBody>
          <a:bodyPr vert="horz" lIns="0" tIns="0" rIns="0" bIns="0" rtlCol="0" anchor="ctr"/>
          <a:lstStyle>
            <a:lvl1pPr algn="l">
              <a:defRPr sz="1200" b="0" i="0">
                <a:solidFill>
                  <a:schemeClr val="tx1"/>
                </a:solidFill>
                <a:latin typeface="Source Sans 3" panose="020B0503030403020204" pitchFamily="34" charset="0"/>
                <a:ea typeface="Source Sans 3" panose="020B0503030403020204" pitchFamily="34" charset="0"/>
                <a:cs typeface="Lato" panose="020F0502020204030203" pitchFamily="34" charset="0"/>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4273555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Lst>
  <p:hf sldNum="0" hdr="0" dt="0"/>
  <p:txStyles>
    <p:titleStyle>
      <a:lvl1pPr algn="l" defTabSz="914400" rtl="0" eaLnBrk="1" latinLnBrk="0" hangingPunct="1">
        <a:lnSpc>
          <a:spcPct val="100000"/>
        </a:lnSpc>
        <a:spcBef>
          <a:spcPct val="0"/>
        </a:spcBef>
        <a:buNone/>
        <a:defRPr sz="3600" b="1" i="0" kern="1200" cap="none" spc="20" baseline="0">
          <a:solidFill>
            <a:schemeClr val="tx2"/>
          </a:solidFill>
          <a:latin typeface="Montserrat" pitchFamily="2" charset="77"/>
          <a:ea typeface="Lato" panose="020F0502020204030203" pitchFamily="34" charset="0"/>
          <a:cs typeface="Lato" panose="020F0502020204030203"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800" b="0" i="0" kern="1200">
          <a:solidFill>
            <a:schemeClr val="tx1"/>
          </a:solidFill>
          <a:latin typeface="Source Sans 3" panose="020B0503030403020204" pitchFamily="34" charset="0"/>
          <a:ea typeface="Lato" panose="020F0502020204030203" pitchFamily="34" charset="0"/>
          <a:cs typeface="Lato" panose="020F050202020403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2400" b="0" i="0" kern="1200">
          <a:solidFill>
            <a:schemeClr val="tx1"/>
          </a:solidFill>
          <a:latin typeface="Source Sans 3" panose="020B0503030403020204" pitchFamily="34" charset="0"/>
          <a:ea typeface="Lato" panose="020F0502020204030203" pitchFamily="34" charset="0"/>
          <a:cs typeface="Lato" panose="020F050202020403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2200" b="0" i="0" kern="1200">
          <a:solidFill>
            <a:schemeClr val="tx1"/>
          </a:solidFill>
          <a:latin typeface="Source Sans 3" panose="020B0503030403020204" pitchFamily="34" charset="0"/>
          <a:ea typeface="Lato" panose="020F0502020204030203" pitchFamily="34" charset="0"/>
          <a:cs typeface="Lato" panose="020F0502020204030203" pitchFamily="34" charset="0"/>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guide id="7" pos="504">
          <p15:clr>
            <a:srgbClr val="F26B43"/>
          </p15:clr>
        </p15:guide>
        <p15:guide id="8" pos="7104">
          <p15:clr>
            <a:srgbClr val="F26B43"/>
          </p15:clr>
        </p15:guide>
        <p15:guide id="9" orient="horz" pos="504">
          <p15:clr>
            <a:srgbClr val="F26B43"/>
          </p15:clr>
        </p15:guide>
        <p15:guide id="10" orient="horz"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hyperlink" Target="https://webaim.org/resources/contrastchecker/?fcolor=0000FF&amp;bcolor=FFFFFF" TargetMode="Externa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3" Type="http://schemas.openxmlformats.org/officeDocument/2006/relationships/hyperlink" Target="https://vimeo.com/blog/post/how-to-add-captions-to-video" TargetMode="External"/><Relationship Id="rId2" Type="http://schemas.openxmlformats.org/officeDocument/2006/relationships/hyperlink" Target="https://support.google.com/youtube/answer/2734796?hl=en" TargetMode="Externa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261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5101-9D59-D513-F965-9CA72E30176C}"/>
              </a:ext>
            </a:extLst>
          </p:cNvPr>
          <p:cNvSpPr>
            <a:spLocks noGrp="1"/>
          </p:cNvSpPr>
          <p:nvPr>
            <p:ph type="title"/>
          </p:nvPr>
        </p:nvSpPr>
        <p:spPr>
          <a:xfrm>
            <a:off x="2475344" y="798332"/>
            <a:ext cx="7564583" cy="892356"/>
          </a:xfrm>
          <a:prstGeom prst="rect">
            <a:avLst/>
          </a:prstGeom>
        </p:spPr>
        <p:txBody>
          <a:bodyPr/>
          <a:lstStyle/>
          <a:p>
            <a:pPr algn="ctr"/>
            <a:r>
              <a:rPr lang="en-US" b="1" dirty="0"/>
              <a:t>Antitrust Notice</a:t>
            </a:r>
            <a:br>
              <a:rPr lang="en-US" b="1" dirty="0"/>
            </a:br>
            <a:endParaRPr lang="en-US" b="1" dirty="0"/>
          </a:p>
        </p:txBody>
      </p:sp>
      <p:sp>
        <p:nvSpPr>
          <p:cNvPr id="4" name="TextBox 3">
            <a:extLst>
              <a:ext uri="{FF2B5EF4-FFF2-40B4-BE49-F238E27FC236}">
                <a16:creationId xmlns:a16="http://schemas.microsoft.com/office/drawing/2014/main" id="{7AFC4E26-4574-ED9D-1EA2-E6B417A64082}"/>
              </a:ext>
            </a:extLst>
          </p:cNvPr>
          <p:cNvSpPr txBox="1"/>
          <p:nvPr/>
        </p:nvSpPr>
        <p:spPr>
          <a:xfrm>
            <a:off x="696468" y="1850803"/>
            <a:ext cx="10799064" cy="4053417"/>
          </a:xfrm>
          <a:prstGeom prst="rect">
            <a:avLst/>
          </a:prstGeom>
          <a:noFill/>
        </p:spPr>
        <p:txBody>
          <a:bodyPr wrap="square">
            <a:spAutoFit/>
          </a:bodyPr>
          <a:lstStyle/>
          <a:p>
            <a:pPr>
              <a:lnSpc>
                <a:spcPct val="90000"/>
              </a:lnSpc>
            </a:pPr>
            <a:r>
              <a:rPr lang="en-US" altLang="en-US" sz="2200" dirty="0">
                <a:latin typeface="+mj-lt"/>
                <a:cs typeface="Arial" panose="020B0604020202020204" pitchFamily="34" charset="0"/>
              </a:rPr>
              <a:t>The Casualty Actuarial Society is committed to adhering strictly to the letter and spirit of the antitrust laws.  Seminars conducted under the auspices of the CAS are designed solely to provide a forum for the expression of various points of view on topics described in the programs or agendas for such meetings. </a:t>
            </a:r>
          </a:p>
          <a:p>
            <a:pPr>
              <a:lnSpc>
                <a:spcPct val="90000"/>
              </a:lnSpc>
            </a:pPr>
            <a:endParaRPr lang="en-US" altLang="en-US" sz="2200" dirty="0">
              <a:latin typeface="+mj-lt"/>
              <a:cs typeface="Arial" panose="020B0604020202020204" pitchFamily="34" charset="0"/>
            </a:endParaRPr>
          </a:p>
          <a:p>
            <a:pPr>
              <a:lnSpc>
                <a:spcPct val="90000"/>
              </a:lnSpc>
            </a:pPr>
            <a:r>
              <a:rPr lang="en-US" altLang="en-US" sz="2200" dirty="0">
                <a:latin typeface="+mj-lt"/>
                <a:cs typeface="Arial" panose="020B0604020202020204" pitchFamily="34" charset="0"/>
              </a:rPr>
              <a:t>Under no circumstances shall CAS seminars be used as a means for competing companies or firms to reach any understanding – expressed or implied – that restricts competition or in any way impairs the ability of members to exercise independent business judgment regarding matters affecting competition. </a:t>
            </a:r>
          </a:p>
          <a:p>
            <a:pPr>
              <a:lnSpc>
                <a:spcPct val="90000"/>
              </a:lnSpc>
            </a:pPr>
            <a:endParaRPr lang="en-US" altLang="en-US" sz="2200" dirty="0">
              <a:latin typeface="+mj-lt"/>
              <a:cs typeface="Arial" panose="020B0604020202020204" pitchFamily="34" charset="0"/>
            </a:endParaRPr>
          </a:p>
          <a:p>
            <a:pPr>
              <a:lnSpc>
                <a:spcPct val="90000"/>
              </a:lnSpc>
            </a:pPr>
            <a:r>
              <a:rPr lang="en-US" altLang="en-US" sz="2200" dirty="0">
                <a:latin typeface="+mj-lt"/>
                <a:cs typeface="Arial" panose="020B0604020202020204" pitchFamily="34" charset="0"/>
              </a:rPr>
              <a:t>It is the responsibility of all seminar participants to be aware of antitrust regulations, to prevent any written or verbal discussions that appear to violate these laws, and to adhere in every respect to the CAS antitrust compliance policy.</a:t>
            </a:r>
            <a:endParaRPr lang="en-US" sz="2200" dirty="0">
              <a:solidFill>
                <a:srgbClr val="F5F7FA"/>
              </a:solidFill>
              <a:latin typeface="+mj-lt"/>
              <a:cs typeface="Arial" panose="020B0604020202020204" pitchFamily="34" charset="0"/>
            </a:endParaRPr>
          </a:p>
        </p:txBody>
      </p:sp>
    </p:spTree>
    <p:extLst>
      <p:ext uri="{BB962C8B-B14F-4D97-AF65-F5344CB8AC3E}">
        <p14:creationId xmlns:p14="http://schemas.microsoft.com/office/powerpoint/2010/main" val="1940397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D17C4-A0CD-4F79-89E8-08804F1FAE21}"/>
              </a:ext>
            </a:extLst>
          </p:cNvPr>
          <p:cNvSpPr>
            <a:spLocks noGrp="1"/>
          </p:cNvSpPr>
          <p:nvPr>
            <p:ph type="ctrTitle"/>
          </p:nvPr>
        </p:nvSpPr>
        <p:spPr>
          <a:xfrm>
            <a:off x="6650000" y="1900000"/>
            <a:ext cx="4900000" cy="1500000"/>
          </a:xfrm>
        </p:spPr>
        <p:txBody>
          <a:bodyPr anchor="b"/>
          <a:lstStyle/>
          <a:p>
            <a:pPr algn="l"/>
            <a:r>
              <a:rPr lang="en-US" sz="3600" b="1" dirty="0">
                <a:solidFill>
                  <a:srgbClr val="002C71"/>
                </a:solidFill>
                <a:latin typeface="Montserrat"/>
                <a:cs typeface="Montserrat"/>
              </a:rPr>
              <a:t>Pet Insurance</a:t>
            </a:r>
            <a:endParaRPr lang="en-US" sz="3600" b="1">
              <a:solidFill>
                <a:srgbClr val="002C71"/>
              </a:solidFill>
              <a:latin typeface="Montserrat"/>
              <a:cs typeface="Montserrat"/>
            </a:endParaRPr>
          </a:p>
        </p:txBody>
      </p:sp>
      <p:sp>
        <p:nvSpPr>
          <p:cNvPr id="3" name="Subtitle 2">
            <a:extLst>
              <a:ext uri="{FF2B5EF4-FFF2-40B4-BE49-F238E27FC236}">
                <a16:creationId xmlns:a16="http://schemas.microsoft.com/office/drawing/2014/main" id="{E84A771B-AEF5-4E79-F101-530EC13391BB}"/>
              </a:ext>
            </a:extLst>
          </p:cNvPr>
          <p:cNvSpPr>
            <a:spLocks noGrp="1"/>
          </p:cNvSpPr>
          <p:nvPr>
            <p:ph type="subTitle" idx="1"/>
          </p:nvPr>
        </p:nvSpPr>
        <p:spPr>
          <a:xfrm>
            <a:off x="6650000" y="3450000"/>
            <a:ext cx="4900000" cy="900000"/>
          </a:xfrm>
        </p:spPr>
        <p:txBody>
          <a:bodyPr anchor="t"/>
          <a:lstStyle/>
          <a:p>
            <a:pPr algn="l"/>
            <a:r>
              <a:rPr lang="en-US" sz="2400" dirty="0">
                <a:latin typeface="Source Sans 3"/>
                <a:cs typeface="Source Sans 3"/>
              </a:rPr>
              <a:t>Cute Risks, Complex Considerations</a:t>
            </a:r>
            <a:endParaRPr lang="en-US" sz="2400">
              <a:latin typeface="Source Sans 3"/>
              <a:cs typeface="Source Sans 3"/>
            </a:endParaRPr>
          </a:p>
        </p:txBody>
      </p:sp>
      <p:sp>
        <p:nvSpPr>
          <p:cNvPr id="900" name="Image Placeholder" descr="Image placeholder: Cartoon dog and cat with actuarial line art"/>
          <p:cNvSpPr/>
          <p:nvPr/>
        </p:nvSpPr>
        <p:spPr>
          <a:xfrm>
            <a:off x="838200" y="1400000"/>
            <a:ext cx="5500000" cy="3900000"/>
          </a:xfrm>
          <a:prstGeom prst="roundRect">
            <a:avLst>
              <a:gd name="adj" fmla="val 6000"/>
            </a:avLst>
          </a:prstGeom>
          <a:solidFill>
            <a:srgbClr val="F2F2F2"/>
          </a:solidFill>
          <a:ln w="19050">
            <a:solidFill>
              <a:srgbClr val="002C71"/>
            </a:solidFill>
            <a:prstDash val="dash"/>
          </a:ln>
        </p:spPr>
        <p:txBody>
          <a:bodyPr lIns="182880" rIns="182880" anchor="ctr">
            <a:normAutofit/>
          </a:bodyPr>
          <a:lstStyle/>
          <a:p>
            <a:pPr algn="ctr"/>
            <a:r>
              <a:rPr lang="en-US" sz="1400" b="1" dirty="0">
                <a:solidFill>
                  <a:srgbClr val="595959"/>
                </a:solidFill>
                <a:latin typeface="Source Sans 3"/>
                <a:cs typeface="Source Sans 3"/>
              </a:rPr>
              <a:t>Image placeholder</a:t>
            </a:r>
          </a:p>
        </p:txBody>
      </p:sp>
    </p:spTree>
    <p:extLst>
      <p:ext uri="{BB962C8B-B14F-4D97-AF65-F5344CB8AC3E}">
        <p14:creationId xmlns:p14="http://schemas.microsoft.com/office/powerpoint/2010/main" val="2434760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325563"/>
          </a:xfrm>
          <a:prstGeom prst="rect">
            <a:avLst/>
          </a:prstGeom>
        </p:spPr>
        <p:txBody>
          <a:bodyPr/>
          <a:lstStyle/>
          <a:p>
            <a:r>
              <a:rPr lang="en-US" sz="3600" b="1">
                <a:solidFill>
                  <a:srgbClr val="002C71"/>
                </a:solidFill>
                <a:latin typeface="Montserrat"/>
                <a:cs typeface="Montserrat"/>
              </a:rPr>
              <a:t>Meet Your Presenters</a:t>
            </a:r>
          </a:p>
        </p:txBody>
      </p:sp>
      <p:sp>
        <p:nvSpPr>
          <p:cNvPr id="10" name="Presenter Accent 1"/>
          <p:cNvSpPr/>
          <p:nvPr/>
        </p:nvSpPr>
        <p:spPr>
          <a:xfrm>
            <a:off x="838200" y="1825625"/>
            <a:ext cx="5105400" cy="91440"/>
          </a:xfrm>
          <a:prstGeom prst="rect">
            <a:avLst/>
          </a:prstGeom>
          <a:solidFill>
            <a:srgbClr val="FFB81C"/>
          </a:solidFill>
          <a:ln>
            <a:noFill/>
          </a:ln>
        </p:spPr>
        <p:txBody>
          <a:bodyPr/>
          <a:lstStyle/>
          <a:p>
            <a:endParaRPr lang="en-US"/>
          </a:p>
        </p:txBody>
      </p:sp>
      <p:sp>
        <p:nvSpPr>
          <p:cNvPr id="11" name="Presenter Card 1"/>
          <p:cNvSpPr/>
          <p:nvPr/>
        </p:nvSpPr>
        <p:spPr>
          <a:xfrm>
            <a:off x="838200" y="1917065"/>
            <a:ext cx="5105400" cy="4100000"/>
          </a:xfrm>
          <a:prstGeom prst="rect">
            <a:avLst/>
          </a:prstGeom>
          <a:solidFill>
            <a:srgbClr val="FFFFFF"/>
          </a:solidFill>
          <a:ln>
            <a:noFill/>
          </a:ln>
        </p:spPr>
        <p:txBody>
          <a:bodyPr/>
          <a:lstStyle/>
          <a:p>
            <a:endParaRPr lang="en-US"/>
          </a:p>
        </p:txBody>
      </p:sp>
      <p:sp>
        <p:nvSpPr>
          <p:cNvPr id="12" name="Photo Daniel Tevin" descr="Photo placeholder for Daniel Tevin"/>
          <p:cNvSpPr/>
          <p:nvPr/>
        </p:nvSpPr>
        <p:spPr>
          <a:xfrm>
            <a:off x="1143000" y="2221865"/>
            <a:ext cx="1828800" cy="1828800"/>
          </a:xfrm>
          <a:prstGeom prst="ellipse">
            <a:avLst/>
          </a:prstGeom>
          <a:solidFill>
            <a:srgbClr val="F2F2F2"/>
          </a:solidFill>
          <a:ln w="19050">
            <a:solidFill>
              <a:srgbClr val="002C71"/>
            </a:solidFill>
            <a:prstDash val="dash"/>
          </a:ln>
        </p:spPr>
        <p:txBody>
          <a:bodyPr anchor="ctr"/>
          <a:lstStyle/>
          <a:p>
            <a:pPr algn="ctr"/>
            <a:endParaRPr lang="en-US"/>
          </a:p>
        </p:txBody>
      </p:sp>
      <p:sp>
        <p:nvSpPr>
          <p:cNvPr id="13" name="Bio Daniel Tevin"/>
          <p:cNvSpPr txBox="1"/>
          <p:nvPr/>
        </p:nvSpPr>
        <p:spPr>
          <a:xfrm>
            <a:off x="3048000" y="2221865"/>
            <a:ext cx="2819400" cy="1828800"/>
          </a:xfrm>
          <a:prstGeom prst="rect">
            <a:avLst/>
          </a:prstGeom>
          <a:noFill/>
        </p:spPr>
        <p:txBody>
          <a:bodyPr wrap="square" lIns="91440" rIns="91440" anchor="ctr">
            <a:normAutofit/>
          </a:bodyPr>
          <a:lstStyle/>
          <a:p>
            <a:r>
              <a:rPr lang="en-US" sz="2400" b="1" dirty="0">
                <a:solidFill>
                  <a:srgbClr val="002C71"/>
                </a:solidFill>
                <a:latin typeface="Montserrat"/>
                <a:cs typeface="Montserrat"/>
              </a:rPr>
              <a:t>Daniel Tevin</a:t>
            </a:r>
          </a:p>
          <a:p>
            <a:pPr>
              <a:spcAft>
                <a:spcPts val="600"/>
              </a:spcAft>
            </a:pPr>
            <a:r>
              <a:rPr lang="en-US" sz="1600" b="1" dirty="0">
                <a:solidFill>
                  <a:srgbClr val="FFB81C"/>
                </a:solidFill>
                <a:latin typeface="Source Sans 3"/>
                <a:cs typeface="Source Sans 3"/>
              </a:rPr>
              <a:t>FCAS</a:t>
            </a:r>
          </a:p>
          <a:p>
            <a:r>
              <a:rPr lang="en-US" sz="1400" dirty="0">
                <a:solidFill>
                  <a:srgbClr val="002C71"/>
                </a:solidFill>
                <a:latin typeface="Source Sans 3"/>
                <a:cs typeface="Source Sans 3"/>
              </a:rPr>
              <a:t>Senior Actuarial Manager, Verisk</a:t>
            </a:r>
          </a:p>
        </p:txBody>
      </p:sp>
      <p:sp>
        <p:nvSpPr>
          <p:cNvPr id="14" name="Favorite Pet Daniel Tevin"/>
          <p:cNvSpPr/>
          <p:nvPr/>
        </p:nvSpPr>
        <p:spPr>
          <a:xfrm>
            <a:off x="1143000" y="4355465"/>
            <a:ext cx="4495800" cy="1356000"/>
          </a:xfrm>
          <a:prstGeom prst="rect">
            <a:avLst/>
          </a:prstGeom>
          <a:solidFill>
            <a:srgbClr val="F4EFE6"/>
          </a:solidFill>
          <a:ln>
            <a:noFill/>
          </a:ln>
        </p:spPr>
        <p:txBody>
          <a:bodyPr lIns="182880" tIns="137160" rIns="182880" bIns="137160" anchor="t">
            <a:normAutofit/>
          </a:bodyPr>
          <a:lstStyle/>
          <a:p>
            <a:pPr>
              <a:spcAft>
                <a:spcPts val="600"/>
              </a:spcAft>
            </a:pPr>
            <a:r>
              <a:rPr lang="en-US" sz="1400" b="1" dirty="0">
                <a:solidFill>
                  <a:srgbClr val="002C71"/>
                </a:solidFill>
                <a:latin typeface="Source Sans 3"/>
                <a:cs typeface="Source Sans 3"/>
              </a:rPr>
              <a:t>Favorite Fictional Pet:</a:t>
            </a:r>
          </a:p>
          <a:p>
            <a:endParaRPr lang="en-US" sz="1800" dirty="0">
              <a:solidFill>
                <a:srgbClr val="002C71"/>
              </a:solidFill>
              <a:latin typeface="Source Sans 3"/>
              <a:cs typeface="Source Sans 3"/>
            </a:endParaRPr>
          </a:p>
        </p:txBody>
      </p:sp>
      <p:sp>
        <p:nvSpPr>
          <p:cNvPr id="20" name="Presenter Accent 2"/>
          <p:cNvSpPr/>
          <p:nvPr/>
        </p:nvSpPr>
        <p:spPr>
          <a:xfrm>
            <a:off x="6248400" y="1825625"/>
            <a:ext cx="5105400" cy="91440"/>
          </a:xfrm>
          <a:prstGeom prst="rect">
            <a:avLst/>
          </a:prstGeom>
          <a:solidFill>
            <a:srgbClr val="FFB81C"/>
          </a:solidFill>
          <a:ln>
            <a:noFill/>
          </a:ln>
        </p:spPr>
        <p:txBody>
          <a:bodyPr/>
          <a:lstStyle/>
          <a:p>
            <a:endParaRPr lang="en-US"/>
          </a:p>
        </p:txBody>
      </p:sp>
      <p:sp>
        <p:nvSpPr>
          <p:cNvPr id="21" name="Presenter Card 2"/>
          <p:cNvSpPr/>
          <p:nvPr/>
        </p:nvSpPr>
        <p:spPr>
          <a:xfrm>
            <a:off x="6248400" y="1917065"/>
            <a:ext cx="5105400" cy="4100000"/>
          </a:xfrm>
          <a:prstGeom prst="rect">
            <a:avLst/>
          </a:prstGeom>
          <a:solidFill>
            <a:srgbClr val="FFFFFF"/>
          </a:solidFill>
          <a:ln>
            <a:noFill/>
          </a:ln>
        </p:spPr>
        <p:txBody>
          <a:bodyPr/>
          <a:lstStyle/>
          <a:p>
            <a:endParaRPr lang="en-US"/>
          </a:p>
        </p:txBody>
      </p:sp>
      <p:sp>
        <p:nvSpPr>
          <p:cNvPr id="22" name="Photo Sean Malloy" descr="Photo placeholder for Sean Malloy"/>
          <p:cNvSpPr/>
          <p:nvPr/>
        </p:nvSpPr>
        <p:spPr>
          <a:xfrm>
            <a:off x="6553200" y="2221865"/>
            <a:ext cx="1828800" cy="1828800"/>
          </a:xfrm>
          <a:prstGeom prst="ellipse">
            <a:avLst/>
          </a:prstGeom>
          <a:solidFill>
            <a:srgbClr val="F2F2F2"/>
          </a:solidFill>
          <a:ln w="19050">
            <a:solidFill>
              <a:srgbClr val="002C71"/>
            </a:solidFill>
            <a:prstDash val="dash"/>
          </a:ln>
        </p:spPr>
        <p:txBody>
          <a:bodyPr anchor="ctr"/>
          <a:lstStyle/>
          <a:p>
            <a:pPr algn="ctr"/>
            <a:endParaRPr lang="en-US"/>
          </a:p>
        </p:txBody>
      </p:sp>
      <p:sp>
        <p:nvSpPr>
          <p:cNvPr id="23" name="Bio Sean Malloy"/>
          <p:cNvSpPr txBox="1"/>
          <p:nvPr/>
        </p:nvSpPr>
        <p:spPr>
          <a:xfrm>
            <a:off x="8458200" y="2221865"/>
            <a:ext cx="2819400" cy="1828800"/>
          </a:xfrm>
          <a:prstGeom prst="rect">
            <a:avLst/>
          </a:prstGeom>
          <a:noFill/>
        </p:spPr>
        <p:txBody>
          <a:bodyPr wrap="square" lIns="91440" rIns="91440" anchor="ctr">
            <a:normAutofit/>
          </a:bodyPr>
          <a:lstStyle/>
          <a:p>
            <a:r>
              <a:rPr lang="en-US" sz="2400" b="1">
                <a:solidFill>
                  <a:srgbClr val="002C71"/>
                </a:solidFill>
                <a:latin typeface="Montserrat"/>
                <a:cs typeface="Montserrat"/>
              </a:rPr>
              <a:t>Sean Malloy</a:t>
            </a:r>
          </a:p>
          <a:p>
            <a:pPr>
              <a:spcAft>
                <a:spcPts val="600"/>
              </a:spcAft>
            </a:pPr>
            <a:r>
              <a:rPr lang="en-US" sz="1600" b="1">
                <a:solidFill>
                  <a:srgbClr val="FFB81C"/>
                </a:solidFill>
                <a:latin typeface="Source Sans 3"/>
                <a:cs typeface="Source Sans 3"/>
              </a:rPr>
              <a:t>FCAS</a:t>
            </a:r>
          </a:p>
          <a:p>
            <a:r>
              <a:rPr lang="en-US" sz="1400">
                <a:solidFill>
                  <a:srgbClr val="002C71"/>
                </a:solidFill>
                <a:latin typeface="Source Sans 3"/>
                <a:cs typeface="Source Sans 3"/>
              </a:rPr>
              <a:t>Educator, Owner at FIR</a:t>
            </a:r>
          </a:p>
          <a:p>
            <a:r>
              <a:rPr lang="en-US" sz="1400">
                <a:solidFill>
                  <a:srgbClr val="002C71"/>
                </a:solidFill>
                <a:latin typeface="Source Sans 3"/>
                <a:cs typeface="Source Sans 3"/>
              </a:rPr>
              <a:t>Pricing Actuary at Nationwide Pet</a:t>
            </a:r>
          </a:p>
        </p:txBody>
      </p:sp>
      <p:sp>
        <p:nvSpPr>
          <p:cNvPr id="24" name="Favorite Pet Sean Malloy"/>
          <p:cNvSpPr/>
          <p:nvPr/>
        </p:nvSpPr>
        <p:spPr>
          <a:xfrm>
            <a:off x="6553200" y="4355465"/>
            <a:ext cx="4495800" cy="1356000"/>
          </a:xfrm>
          <a:prstGeom prst="rect">
            <a:avLst/>
          </a:prstGeom>
          <a:solidFill>
            <a:srgbClr val="F4EFE6"/>
          </a:solidFill>
          <a:ln>
            <a:noFill/>
          </a:ln>
        </p:spPr>
        <p:txBody>
          <a:bodyPr lIns="182880" tIns="137160" rIns="182880" bIns="137160" anchor="t">
            <a:normAutofit/>
          </a:bodyPr>
          <a:lstStyle/>
          <a:p>
            <a:pPr>
              <a:spcAft>
                <a:spcPts val="600"/>
              </a:spcAft>
            </a:pPr>
            <a:r>
              <a:rPr lang="en-US" sz="1400" b="1">
                <a:solidFill>
                  <a:srgbClr val="002C71"/>
                </a:solidFill>
                <a:latin typeface="Source Sans 3"/>
                <a:cs typeface="Source Sans 3"/>
              </a:rPr>
              <a:t>Favorite Fictional Pet:</a:t>
            </a:r>
          </a:p>
          <a:p>
            <a:endParaRPr lang="en-US" sz="1800">
              <a:solidFill>
                <a:srgbClr val="002C71"/>
              </a:solidFill>
              <a:latin typeface="Source Sans 3"/>
              <a:cs typeface="Source Sans 3"/>
            </a:endParaRPr>
          </a:p>
        </p:txBody>
      </p:sp>
      <p:pic>
        <p:nvPicPr>
          <p:cNvPr id="8" name="Picture 7" descr="Headshot of Daniel Tevin">
            <a:extLst>
              <a:ext uri="{FF2B5EF4-FFF2-40B4-BE49-F238E27FC236}">
                <a16:creationId xmlns:a16="http://schemas.microsoft.com/office/drawing/2014/main" id="{4FECC3F7-DE24-0B77-5D7F-99AACED5E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2221865"/>
            <a:ext cx="1828800" cy="1828800"/>
          </a:xfrm>
          <a:prstGeom prst="ellipse">
            <a:avLst/>
          </a:prstGeom>
          <a:ln w="19050">
            <a:solidFill>
              <a:srgbClr val="002C71"/>
            </a:solidFill>
          </a:ln>
        </p:spPr>
      </p:pic>
      <p:pic>
        <p:nvPicPr>
          <p:cNvPr id="15" name="Picture 14" descr="Headshot of Sean Malloy">
            <a:extLst>
              <a:ext uri="{FF2B5EF4-FFF2-40B4-BE49-F238E27FC236}">
                <a16:creationId xmlns:a16="http://schemas.microsoft.com/office/drawing/2014/main" id="{44F2F6EE-E7E1-1829-CAAF-C0AF8FEE65D1}"/>
              </a:ext>
            </a:extLst>
          </p:cNvPr>
          <p:cNvPicPr>
            <a:picLocks noChangeAspect="1"/>
          </p:cNvPicPr>
          <p:nvPr/>
        </p:nvPicPr>
        <p:blipFill>
          <a:blip r:embed="rId4"/>
          <a:srcRect l="8496" t="5000" r="8496" b="5000"/>
          <a:stretch>
            <a:fillRect/>
          </a:stretch>
        </p:blipFill>
        <p:spPr>
          <a:xfrm>
            <a:off x="6553200" y="2221865"/>
            <a:ext cx="1828800" cy="1828800"/>
          </a:xfrm>
          <a:prstGeom prst="ellipse">
            <a:avLst/>
          </a:prstGeom>
          <a:ln w="19050">
            <a:solidFill>
              <a:srgbClr val="002C7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48150C-19DB-32F0-EFE2-FA24591BC933}"/>
              </a:ext>
            </a:extLst>
          </p:cNvPr>
          <p:cNvSpPr>
            <a:spLocks noGrp="1"/>
          </p:cNvSpPr>
          <p:nvPr>
            <p:ph sz="half" idx="1"/>
          </p:nvPr>
        </p:nvSpPr>
        <p:spPr/>
        <p:txBody>
          <a:bodyPr/>
          <a:lstStyle/>
          <a:p>
            <a:endParaRPr lang="en-US"/>
          </a:p>
        </p:txBody>
      </p:sp>
      <p:sp>
        <p:nvSpPr>
          <p:cNvPr id="3" name="Content Placeholder 2">
            <a:extLst>
              <a:ext uri="{FF2B5EF4-FFF2-40B4-BE49-F238E27FC236}">
                <a16:creationId xmlns:a16="http://schemas.microsoft.com/office/drawing/2014/main" id="{FB18C590-4D45-7F81-AD61-535E677A3362}"/>
              </a:ext>
            </a:extLst>
          </p:cNvPr>
          <p:cNvSpPr>
            <a:spLocks noGrp="1"/>
          </p:cNvSpPr>
          <p:nvPr>
            <p:ph sz="half" idx="2"/>
          </p:nvPr>
        </p:nvSpPr>
        <p:spPr/>
        <p:txBody>
          <a:bodyPr/>
          <a:lstStyle/>
          <a:p>
            <a:endParaRPr lang="en-US" dirty="0"/>
          </a:p>
        </p:txBody>
      </p:sp>
      <p:sp>
        <p:nvSpPr>
          <p:cNvPr id="4" name="Title 3">
            <a:extLst>
              <a:ext uri="{FF2B5EF4-FFF2-40B4-BE49-F238E27FC236}">
                <a16:creationId xmlns:a16="http://schemas.microsoft.com/office/drawing/2014/main" id="{2CBC0E5C-80B7-3328-CEAE-CC8617E15D2F}"/>
              </a:ext>
            </a:extLst>
          </p:cNvPr>
          <p:cNvSpPr>
            <a:spLocks noGrp="1"/>
          </p:cNvSpPr>
          <p:nvPr>
            <p:ph type="title"/>
          </p:nvPr>
        </p:nvSpPr>
        <p:spPr/>
        <p:txBody>
          <a:bodyPr/>
          <a:lstStyle/>
          <a:p>
            <a:r>
              <a:rPr lang="en-US" dirty="0"/>
              <a:t>Poll EV’s</a:t>
            </a:r>
          </a:p>
        </p:txBody>
      </p:sp>
    </p:spTree>
    <p:extLst>
      <p:ext uri="{BB962C8B-B14F-4D97-AF65-F5344CB8AC3E}">
        <p14:creationId xmlns:p14="http://schemas.microsoft.com/office/powerpoint/2010/main" val="1357226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CDDE9-46EF-7EAB-FF70-E671F791433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34D734B-59F0-EA87-5509-FCD433721653}"/>
              </a:ext>
            </a:extLst>
          </p:cNvPr>
          <p:cNvSpPr txBox="1">
            <a:spLocks/>
          </p:cNvSpPr>
          <p:nvPr/>
        </p:nvSpPr>
        <p:spPr>
          <a:xfrm>
            <a:off x="809404" y="1616382"/>
            <a:ext cx="3900000" cy="1000000"/>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l"/>
            <a:r>
              <a:rPr lang="en-US" sz="3600" b="1">
                <a:solidFill>
                  <a:srgbClr val="002C71"/>
                </a:solidFill>
                <a:latin typeface="Montserrat" panose="00000500000000000000" pitchFamily="2" charset="0"/>
              </a:rPr>
              <a:t>Overview</a:t>
            </a:r>
          </a:p>
        </p:txBody>
      </p:sp>
      <p:sp>
        <p:nvSpPr>
          <p:cNvPr id="4" name="Rounded Rectangle 3">
            <a:extLst>
              <a:ext uri="{FF2B5EF4-FFF2-40B4-BE49-F238E27FC236}">
                <a16:creationId xmlns:a16="http://schemas.microsoft.com/office/drawing/2014/main" id="{68EAF185-2059-8648-7EBC-0F9D541F8E45}"/>
              </a:ext>
            </a:extLst>
          </p:cNvPr>
          <p:cNvSpPr/>
          <p:nvPr/>
        </p:nvSpPr>
        <p:spPr>
          <a:xfrm>
            <a:off x="4824916" y="1615442"/>
            <a:ext cx="6536987" cy="3997418"/>
          </a:xfrm>
          <a:prstGeom prst="roundRect">
            <a:avLst>
              <a:gd name="adj" fmla="val 3411"/>
            </a:avLst>
          </a:prstGeom>
          <a:solidFill>
            <a:srgbClr val="E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CE8"/>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C254B30B-0682-BF23-1F09-F5B2E1EE6F34}"/>
              </a:ext>
            </a:extLst>
          </p:cNvPr>
          <p:cNvSpPr txBox="1">
            <a:spLocks/>
          </p:cNvSpPr>
          <p:nvPr/>
        </p:nvSpPr>
        <p:spPr>
          <a:xfrm>
            <a:off x="4824917" y="1615442"/>
            <a:ext cx="6536987" cy="39974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b="1" dirty="0">
                <a:solidFill>
                  <a:srgbClr val="002C71"/>
                </a:solidFill>
                <a:latin typeface="Source Sans 3"/>
                <a:cs typeface="Source Sans 3"/>
              </a:rPr>
              <a:t>Introduction</a:t>
            </a:r>
          </a:p>
          <a:p>
            <a:pPr marL="342900" indent="-342900"/>
            <a:r>
              <a:rPr lang="en-US" b="1" dirty="0">
                <a:solidFill>
                  <a:srgbClr val="002C71"/>
                </a:solidFill>
                <a:latin typeface="Source Sans 3"/>
                <a:cs typeface="Source Sans 3"/>
              </a:rPr>
              <a:t>Your Property Is Sneezing: </a:t>
            </a:r>
          </a:p>
          <a:p>
            <a:pPr marL="0" indent="0">
              <a:buNone/>
            </a:pPr>
            <a:r>
              <a:rPr lang="en-US" b="1" dirty="0">
                <a:solidFill>
                  <a:srgbClr val="002C71"/>
                </a:solidFill>
                <a:latin typeface="Source Sans 3"/>
                <a:cs typeface="Source Sans 3"/>
              </a:rPr>
              <a:t>	</a:t>
            </a:r>
            <a:r>
              <a:rPr lang="en-US" dirty="0">
                <a:solidFill>
                  <a:srgbClr val="002C71"/>
                </a:solidFill>
                <a:latin typeface="Source Sans 3"/>
                <a:cs typeface="Source Sans 3"/>
              </a:rPr>
              <a:t>Medical claims in a P&amp;C line</a:t>
            </a:r>
          </a:p>
          <a:p>
            <a:pPr marL="342900" indent="-342900"/>
            <a:r>
              <a:rPr lang="en-US" b="1" dirty="0">
                <a:solidFill>
                  <a:srgbClr val="002C71"/>
                </a:solidFill>
                <a:latin typeface="Source Sans 3"/>
                <a:cs typeface="Source Sans 3"/>
              </a:rPr>
              <a:t>Millennials Are Saving The Industry: </a:t>
            </a:r>
          </a:p>
          <a:p>
            <a:pPr marL="0" indent="0">
              <a:buNone/>
            </a:pPr>
            <a:r>
              <a:rPr lang="en-US" b="1" dirty="0">
                <a:solidFill>
                  <a:srgbClr val="002C71"/>
                </a:solidFill>
                <a:latin typeface="Source Sans 3"/>
                <a:cs typeface="Source Sans 3"/>
              </a:rPr>
              <a:t>	</a:t>
            </a:r>
            <a:r>
              <a:rPr lang="en-US" dirty="0">
                <a:solidFill>
                  <a:srgbClr val="002C71"/>
                </a:solidFill>
                <a:latin typeface="Source Sans 3"/>
                <a:cs typeface="Source Sans 3"/>
              </a:rPr>
              <a:t>Explosive growth in an old product</a:t>
            </a:r>
          </a:p>
          <a:p>
            <a:pPr marL="342900" indent="-342900"/>
            <a:r>
              <a:rPr lang="en-US" b="1" dirty="0">
                <a:solidFill>
                  <a:srgbClr val="002C71"/>
                </a:solidFill>
                <a:latin typeface="Source Sans 3"/>
                <a:cs typeface="Source Sans 3"/>
              </a:rPr>
              <a:t>Millennials Are Killing The Industry: </a:t>
            </a:r>
          </a:p>
          <a:p>
            <a:pPr marL="0" indent="0">
              <a:buNone/>
            </a:pPr>
            <a:r>
              <a:rPr lang="en-US" b="1" dirty="0">
                <a:solidFill>
                  <a:srgbClr val="002C71"/>
                </a:solidFill>
                <a:latin typeface="Source Sans 3"/>
                <a:cs typeface="Source Sans 3"/>
              </a:rPr>
              <a:t>	</a:t>
            </a:r>
            <a:r>
              <a:rPr lang="en-US" dirty="0">
                <a:solidFill>
                  <a:srgbClr val="002C71"/>
                </a:solidFill>
                <a:latin typeface="Source Sans 3"/>
                <a:cs typeface="Source Sans 3"/>
              </a:rPr>
              <a:t>Changing behavior in pet owners</a:t>
            </a:r>
          </a:p>
        </p:txBody>
      </p:sp>
      <p:sp>
        <p:nvSpPr>
          <p:cNvPr id="900" name="Image Placeholder" descr="Image placeholder: Pet owner and pet at home"/>
          <p:cNvSpPr/>
          <p:nvPr/>
        </p:nvSpPr>
        <p:spPr>
          <a:xfrm>
            <a:off x="809404" y="2800000"/>
            <a:ext cx="3800000" cy="2812860"/>
          </a:xfrm>
          <a:prstGeom prst="roundRect">
            <a:avLst>
              <a:gd name="adj" fmla="val 6000"/>
            </a:avLst>
          </a:prstGeom>
          <a:solidFill>
            <a:srgbClr val="F2F2F2"/>
          </a:solidFill>
          <a:ln w="19050">
            <a:solidFill>
              <a:srgbClr val="002C71"/>
            </a:solidFill>
            <a:prstDash val="dash"/>
          </a:ln>
        </p:spPr>
        <p:txBody>
          <a:bodyPr lIns="182880" rIns="182880" anchor="ctr">
            <a:normAutofit/>
          </a:bodyPr>
          <a:lstStyle/>
          <a:p>
            <a:pPr algn="ctr"/>
            <a:r>
              <a:rPr lang="en-US" sz="1400" b="1" dirty="0">
                <a:solidFill>
                  <a:srgbClr val="595959"/>
                </a:solidFill>
                <a:latin typeface="Source Sans 3"/>
                <a:cs typeface="Source Sans 3"/>
              </a:rPr>
              <a:t>Image placeholder</a:t>
            </a:r>
          </a:p>
        </p:txBody>
      </p:sp>
    </p:spTree>
    <p:extLst>
      <p:ext uri="{BB962C8B-B14F-4D97-AF65-F5344CB8AC3E}">
        <p14:creationId xmlns:p14="http://schemas.microsoft.com/office/powerpoint/2010/main" val="2564120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55B5-3822-01C6-2225-AF579B0FF61C}"/>
              </a:ext>
            </a:extLst>
          </p:cNvPr>
          <p:cNvSpPr>
            <a:spLocks noGrp="1"/>
          </p:cNvSpPr>
          <p:nvPr>
            <p:ph type="title"/>
          </p:nvPr>
        </p:nvSpPr>
        <p:spPr>
          <a:xfrm>
            <a:off x="2475344" y="365125"/>
            <a:ext cx="7564583" cy="1325563"/>
          </a:xfrm>
          <a:prstGeom prst="rect">
            <a:avLst/>
          </a:prstGeom>
        </p:spPr>
        <p:txBody>
          <a:bodyPr/>
          <a:lstStyle/>
          <a:p>
            <a:r>
              <a:rPr lang="en-US" sz="3600" b="1">
                <a:solidFill>
                  <a:srgbClr val="002C71"/>
                </a:solidFill>
                <a:latin typeface="Montserrat"/>
                <a:cs typeface="Montserrat"/>
              </a:rPr>
              <a:t>U.S. Pet Insurance Market</a:t>
            </a:r>
          </a:p>
        </p:txBody>
      </p:sp>
      <p:sp>
        <p:nvSpPr>
          <p:cNvPr id="4" name="Content Placeholder 3">
            <a:extLst>
              <a:ext uri="{FF2B5EF4-FFF2-40B4-BE49-F238E27FC236}">
                <a16:creationId xmlns:a16="http://schemas.microsoft.com/office/drawing/2014/main" id="{DD1F99AD-F5A9-6A82-5942-7663E047FAED}"/>
              </a:ext>
            </a:extLst>
          </p:cNvPr>
          <p:cNvSpPr>
            <a:spLocks noGrp="1"/>
          </p:cNvSpPr>
          <p:nvPr>
            <p:ph sz="half" idx="2"/>
          </p:nvPr>
        </p:nvSpPr>
        <p:spPr>
          <a:xfrm>
            <a:off x="6172200" y="1825625"/>
            <a:ext cx="5181600" cy="560000"/>
          </a:xfrm>
        </p:spPr>
        <p:txBody>
          <a:bodyPr>
            <a:normAutofit/>
          </a:bodyPr>
          <a:lstStyle/>
          <a:p>
            <a:pPr marL="0" indent="0">
              <a:buNone/>
            </a:pPr>
            <a:r>
              <a:rPr lang="en-US" sz="2400" b="1" dirty="0">
                <a:solidFill>
                  <a:srgbClr val="002C71"/>
                </a:solidFill>
                <a:latin typeface="Montserrat"/>
                <a:cs typeface="Montserrat"/>
              </a:rPr>
              <a:t>Market Share</a:t>
            </a:r>
          </a:p>
        </p:txBody>
      </p:sp>
      <p:graphicFrame>
        <p:nvGraphicFramePr>
          <p:cNvPr id="10" name="Market Share Chart" descr="Bar chart of U.S. pet insurance market share: Trupanion 29%, Nationwide 21%, Independence Pet Holdings 13%, Lemonade 8%, all others 29%."/>
          <p:cNvGraphicFramePr>
            <a:graphicFrameLocks noGrp="1"/>
          </p:cNvGraphicFramePr>
          <p:nvPr>
            <p:extLst>
              <p:ext uri="{D42A27DB-BD31-4B8C-83A1-F6EECF244321}">
                <p14:modId xmlns:p14="http://schemas.microsoft.com/office/powerpoint/2010/main" val="738357146"/>
              </p:ext>
            </p:extLst>
          </p:nvPr>
        </p:nvGraphicFramePr>
        <p:xfrm>
          <a:off x="6172200" y="2420000"/>
          <a:ext cx="5181600" cy="3480000"/>
        </p:xfrm>
        <a:graphic>
          <a:graphicData uri="http://schemas.openxmlformats.org/drawingml/2006/chart">
            <c:chart xmlns:c="http://schemas.openxmlformats.org/drawingml/2006/chart" xmlns:r="http://schemas.openxmlformats.org/officeDocument/2006/relationships" r:id="rId3"/>
          </a:graphicData>
        </a:graphic>
      </p:graphicFrame>
      <p:sp>
        <p:nvSpPr>
          <p:cNvPr id="20" name="Key Takeaway"/>
          <p:cNvSpPr/>
          <p:nvPr/>
        </p:nvSpPr>
        <p:spPr>
          <a:xfrm>
            <a:off x="838200" y="1825625"/>
            <a:ext cx="5181600" cy="560000"/>
          </a:xfrm>
          <a:prstGeom prst="rect">
            <a:avLst/>
          </a:prstGeom>
          <a:solidFill>
            <a:srgbClr val="002C71"/>
          </a:solidFill>
          <a:ln>
            <a:noFill/>
          </a:ln>
        </p:spPr>
        <p:txBody>
          <a:bodyPr lIns="182880" rIns="182880" anchor="ctr"/>
          <a:lstStyle/>
          <a:p>
            <a:pPr algn="ctr"/>
            <a:r>
              <a:rPr lang="en-US" sz="1800" b="1" dirty="0">
                <a:solidFill>
                  <a:srgbClr val="FFFFFF"/>
                </a:solidFill>
                <a:latin typeface="Source Sans 3"/>
                <a:cs typeface="Source Sans 3"/>
              </a:rPr>
              <a:t>A small, concentrated market growing fast</a:t>
            </a:r>
          </a:p>
        </p:txBody>
      </p:sp>
      <p:sp>
        <p:nvSpPr>
          <p:cNvPr id="30" name="Stat Accent 1"/>
          <p:cNvSpPr/>
          <p:nvPr/>
        </p:nvSpPr>
        <p:spPr>
          <a:xfrm>
            <a:off x="838200" y="2600000"/>
            <a:ext cx="2490800" cy="91440"/>
          </a:xfrm>
          <a:prstGeom prst="rect">
            <a:avLst/>
          </a:prstGeom>
          <a:solidFill>
            <a:srgbClr val="FFB81C"/>
          </a:solidFill>
          <a:ln>
            <a:noFill/>
          </a:ln>
        </p:spPr>
        <p:txBody>
          <a:bodyPr/>
          <a:lstStyle/>
          <a:p>
            <a:endParaRPr lang="en-US"/>
          </a:p>
        </p:txBody>
      </p:sp>
      <p:sp>
        <p:nvSpPr>
          <p:cNvPr id="40" name="Stat Card 1"/>
          <p:cNvSpPr/>
          <p:nvPr/>
        </p:nvSpPr>
        <p:spPr>
          <a:xfrm>
            <a:off x="838200" y="2691440"/>
            <a:ext cx="2490800" cy="1450000"/>
          </a:xfrm>
          <a:prstGeom prst="rect">
            <a:avLst/>
          </a:prstGeom>
          <a:solidFill>
            <a:srgbClr val="FFFFFF"/>
          </a:solidFill>
          <a:ln>
            <a:noFill/>
          </a:ln>
        </p:spPr>
        <p:txBody>
          <a:bodyPr lIns="137160" tIns="137160" rIns="137160" bIns="137160" anchor="ctr"/>
          <a:lstStyle/>
          <a:p>
            <a:pPr algn="ctr"/>
            <a:r>
              <a:rPr lang="en-US" sz="2800" b="1" dirty="0">
                <a:solidFill>
                  <a:srgbClr val="002C71"/>
                </a:solidFill>
                <a:latin typeface="Source Sans 3"/>
                <a:cs typeface="Source Sans 3"/>
              </a:rPr>
              <a:t>5M</a:t>
            </a:r>
          </a:p>
          <a:p>
            <a:pPr algn="ctr"/>
            <a:r>
              <a:rPr lang="en-US" sz="1200" b="0" dirty="0">
                <a:solidFill>
                  <a:srgbClr val="002C71"/>
                </a:solidFill>
                <a:latin typeface="Source Sans 3"/>
                <a:cs typeface="Source Sans 3"/>
              </a:rPr>
              <a:t>US pets insured</a:t>
            </a:r>
          </a:p>
        </p:txBody>
      </p:sp>
      <p:sp>
        <p:nvSpPr>
          <p:cNvPr id="31" name="Stat Accent 2"/>
          <p:cNvSpPr/>
          <p:nvPr/>
        </p:nvSpPr>
        <p:spPr>
          <a:xfrm>
            <a:off x="3529000" y="2600000"/>
            <a:ext cx="2490800" cy="91440"/>
          </a:xfrm>
          <a:prstGeom prst="rect">
            <a:avLst/>
          </a:prstGeom>
          <a:solidFill>
            <a:srgbClr val="FFB81C"/>
          </a:solidFill>
          <a:ln>
            <a:noFill/>
          </a:ln>
        </p:spPr>
        <p:txBody>
          <a:bodyPr/>
          <a:lstStyle/>
          <a:p>
            <a:endParaRPr lang="en-US"/>
          </a:p>
        </p:txBody>
      </p:sp>
      <p:sp>
        <p:nvSpPr>
          <p:cNvPr id="41" name="Stat Card 2"/>
          <p:cNvSpPr/>
          <p:nvPr/>
        </p:nvSpPr>
        <p:spPr>
          <a:xfrm>
            <a:off x="3529000" y="2691440"/>
            <a:ext cx="2490800" cy="1450000"/>
          </a:xfrm>
          <a:prstGeom prst="rect">
            <a:avLst/>
          </a:prstGeom>
          <a:solidFill>
            <a:srgbClr val="FFFFFF"/>
          </a:solidFill>
          <a:ln>
            <a:noFill/>
          </a:ln>
        </p:spPr>
        <p:txBody>
          <a:bodyPr lIns="137160" tIns="137160" rIns="137160" bIns="137160" anchor="ctr"/>
          <a:lstStyle/>
          <a:p>
            <a:pPr algn="ctr"/>
            <a:r>
              <a:rPr lang="en-US" sz="2800" b="1" dirty="0">
                <a:solidFill>
                  <a:srgbClr val="002C71"/>
                </a:solidFill>
                <a:latin typeface="Source Sans 3"/>
                <a:cs typeface="Source Sans 3"/>
              </a:rPr>
              <a:t>1982</a:t>
            </a:r>
          </a:p>
          <a:p>
            <a:pPr algn="ctr"/>
            <a:r>
              <a:rPr lang="en-US" sz="1200" b="0" dirty="0">
                <a:solidFill>
                  <a:srgbClr val="002C71"/>
                </a:solidFill>
                <a:latin typeface="Source Sans 3"/>
                <a:cs typeface="Source Sans 3"/>
              </a:rPr>
              <a:t>First US policy written</a:t>
            </a:r>
          </a:p>
        </p:txBody>
      </p:sp>
      <p:sp>
        <p:nvSpPr>
          <p:cNvPr id="32" name="Stat Accent 3"/>
          <p:cNvSpPr/>
          <p:nvPr/>
        </p:nvSpPr>
        <p:spPr>
          <a:xfrm>
            <a:off x="838200" y="4300000"/>
            <a:ext cx="2490800" cy="91440"/>
          </a:xfrm>
          <a:prstGeom prst="rect">
            <a:avLst/>
          </a:prstGeom>
          <a:solidFill>
            <a:srgbClr val="FFB81C"/>
          </a:solidFill>
          <a:ln>
            <a:noFill/>
          </a:ln>
        </p:spPr>
        <p:txBody>
          <a:bodyPr/>
          <a:lstStyle/>
          <a:p>
            <a:endParaRPr lang="en-US"/>
          </a:p>
        </p:txBody>
      </p:sp>
      <p:sp>
        <p:nvSpPr>
          <p:cNvPr id="42" name="Stat Card 3"/>
          <p:cNvSpPr/>
          <p:nvPr/>
        </p:nvSpPr>
        <p:spPr>
          <a:xfrm>
            <a:off x="838200" y="4391440"/>
            <a:ext cx="2490800" cy="1450000"/>
          </a:xfrm>
          <a:prstGeom prst="rect">
            <a:avLst/>
          </a:prstGeom>
          <a:solidFill>
            <a:srgbClr val="FFFFFF"/>
          </a:solidFill>
          <a:ln>
            <a:noFill/>
          </a:ln>
        </p:spPr>
        <p:txBody>
          <a:bodyPr lIns="137160" tIns="137160" rIns="137160" bIns="137160" anchor="ctr"/>
          <a:lstStyle/>
          <a:p>
            <a:pPr algn="ctr"/>
            <a:r>
              <a:rPr lang="en-US" sz="2800" b="1" dirty="0">
                <a:solidFill>
                  <a:srgbClr val="002C71"/>
                </a:solidFill>
                <a:latin typeface="Source Sans 3"/>
                <a:cs typeface="Source Sans 3"/>
              </a:rPr>
              <a:t>80%</a:t>
            </a:r>
          </a:p>
          <a:p>
            <a:pPr algn="ctr"/>
            <a:r>
              <a:rPr lang="en-US" sz="1200" b="0" dirty="0">
                <a:solidFill>
                  <a:srgbClr val="002C71"/>
                </a:solidFill>
                <a:latin typeface="Source Sans 3"/>
                <a:cs typeface="Source Sans 3"/>
              </a:rPr>
              <a:t>of insured pets are dogs</a:t>
            </a:r>
          </a:p>
        </p:txBody>
      </p:sp>
      <p:sp>
        <p:nvSpPr>
          <p:cNvPr id="33" name="Stat Accent 4"/>
          <p:cNvSpPr/>
          <p:nvPr/>
        </p:nvSpPr>
        <p:spPr>
          <a:xfrm>
            <a:off x="3529000" y="4300000"/>
            <a:ext cx="2490800" cy="91440"/>
          </a:xfrm>
          <a:prstGeom prst="rect">
            <a:avLst/>
          </a:prstGeom>
          <a:solidFill>
            <a:srgbClr val="FFB81C"/>
          </a:solidFill>
          <a:ln>
            <a:noFill/>
          </a:ln>
        </p:spPr>
        <p:txBody>
          <a:bodyPr/>
          <a:lstStyle/>
          <a:p>
            <a:endParaRPr lang="en-US"/>
          </a:p>
        </p:txBody>
      </p:sp>
      <p:sp>
        <p:nvSpPr>
          <p:cNvPr id="43" name="Stat Card 4"/>
          <p:cNvSpPr/>
          <p:nvPr/>
        </p:nvSpPr>
        <p:spPr>
          <a:xfrm>
            <a:off x="3529000" y="4391440"/>
            <a:ext cx="2490800" cy="1450000"/>
          </a:xfrm>
          <a:prstGeom prst="rect">
            <a:avLst/>
          </a:prstGeom>
          <a:solidFill>
            <a:srgbClr val="FFFFFF"/>
          </a:solidFill>
          <a:ln>
            <a:noFill/>
          </a:ln>
        </p:spPr>
        <p:txBody>
          <a:bodyPr lIns="137160" tIns="137160" rIns="137160" bIns="137160" anchor="ctr"/>
          <a:lstStyle/>
          <a:p>
            <a:pPr algn="ctr"/>
            <a:r>
              <a:rPr lang="en-US" sz="1600" b="1" dirty="0">
                <a:solidFill>
                  <a:srgbClr val="002C71"/>
                </a:solidFill>
                <a:latin typeface="Source Sans 3"/>
                <a:cs typeface="Source Sans 3"/>
              </a:rPr>
              <a:t>Inland Marine</a:t>
            </a:r>
          </a:p>
          <a:p>
            <a:pPr algn="ctr"/>
            <a:r>
              <a:rPr lang="en-US" sz="1200" b="0" dirty="0">
                <a:solidFill>
                  <a:srgbClr val="002C71"/>
                </a:solidFill>
                <a:latin typeface="Source Sans 3"/>
                <a:cs typeface="Source Sans 3"/>
              </a:rPr>
              <a:t>Where the line historically sat</a:t>
            </a:r>
          </a:p>
        </p:txBody>
      </p:sp>
    </p:spTree>
    <p:extLst>
      <p:ext uri="{BB962C8B-B14F-4D97-AF65-F5344CB8AC3E}">
        <p14:creationId xmlns:p14="http://schemas.microsoft.com/office/powerpoint/2010/main" val="2870408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8F936-A26E-2249-CF1B-DC4815041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7229E-B990-77C0-E02D-357C1178C9B4}"/>
              </a:ext>
            </a:extLst>
          </p:cNvPr>
          <p:cNvSpPr>
            <a:spLocks noGrp="1"/>
          </p:cNvSpPr>
          <p:nvPr>
            <p:ph type="title"/>
          </p:nvPr>
        </p:nvSpPr>
        <p:spPr>
          <a:xfrm>
            <a:off x="2475344" y="365125"/>
            <a:ext cx="7564583" cy="1100000"/>
          </a:xfrm>
          <a:prstGeom prst="rect">
            <a:avLst/>
          </a:prstGeom>
        </p:spPr>
        <p:txBody>
          <a:bodyPr/>
          <a:lstStyle/>
          <a:p>
            <a:r>
              <a:rPr lang="en-US" sz="3600" b="1">
                <a:solidFill>
                  <a:srgbClr val="002C71"/>
                </a:solidFill>
                <a:latin typeface="Montserrat"/>
                <a:cs typeface="Montserrat"/>
              </a:rPr>
              <a:t>Coverage &amp; Policy Structure</a:t>
            </a:r>
          </a:p>
        </p:txBody>
      </p:sp>
      <p:sp>
        <p:nvSpPr>
          <p:cNvPr id="4" name="Content Placeholder 3">
            <a:extLst>
              <a:ext uri="{FF2B5EF4-FFF2-40B4-BE49-F238E27FC236}">
                <a16:creationId xmlns:a16="http://schemas.microsoft.com/office/drawing/2014/main" id="{24B98CD2-FDC1-A4B4-033C-9D43EB52D166}"/>
              </a:ext>
            </a:extLst>
          </p:cNvPr>
          <p:cNvSpPr>
            <a:spLocks noGrp="1"/>
          </p:cNvSpPr>
          <p:nvPr>
            <p:ph sz="half" idx="2"/>
          </p:nvPr>
        </p:nvSpPr>
        <p:spPr>
          <a:xfrm>
            <a:off x="6453800" y="2200000"/>
            <a:ext cx="4400000" cy="500000"/>
          </a:xfrm>
        </p:spPr>
        <p:txBody>
          <a:bodyPr>
            <a:normAutofit/>
          </a:bodyPr>
          <a:lstStyle/>
          <a:p>
            <a:pPr marL="0" indent="0">
              <a:buNone/>
            </a:pPr>
            <a:r>
              <a:rPr lang="en-US" sz="2400" b="1" dirty="0">
                <a:solidFill>
                  <a:srgbClr val="002C71"/>
                </a:solidFill>
                <a:latin typeface="Montserrat"/>
                <a:cs typeface="Montserrat"/>
              </a:rPr>
              <a:t>Standard Policy</a:t>
            </a:r>
          </a:p>
        </p:txBody>
      </p:sp>
      <p:sp>
        <p:nvSpPr>
          <p:cNvPr id="5" name="Content Placeholder 3">
            <a:extLst>
              <a:ext uri="{FF2B5EF4-FFF2-40B4-BE49-F238E27FC236}">
                <a16:creationId xmlns:a16="http://schemas.microsoft.com/office/drawing/2014/main" id="{53D33F8D-82DC-464B-AD27-A47E1894C114}"/>
              </a:ext>
            </a:extLst>
          </p:cNvPr>
          <p:cNvSpPr txBox="1">
            <a:spLocks/>
          </p:cNvSpPr>
          <p:nvPr/>
        </p:nvSpPr>
        <p:spPr>
          <a:xfrm>
            <a:off x="838200" y="2200000"/>
            <a:ext cx="4400000" cy="50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rgbClr val="002C71"/>
                </a:solidFill>
                <a:latin typeface="Montserrat"/>
                <a:cs typeface="Montserrat"/>
              </a:rPr>
              <a:t>Coverage</a:t>
            </a:r>
          </a:p>
        </p:txBody>
      </p:sp>
      <p:sp>
        <p:nvSpPr>
          <p:cNvPr id="20" name="Key Takeaway"/>
          <p:cNvSpPr/>
          <p:nvPr/>
        </p:nvSpPr>
        <p:spPr>
          <a:xfrm>
            <a:off x="838200" y="1550000"/>
            <a:ext cx="10515600" cy="560000"/>
          </a:xfrm>
          <a:prstGeom prst="rect">
            <a:avLst/>
          </a:prstGeom>
          <a:solidFill>
            <a:srgbClr val="002C71"/>
          </a:solidFill>
          <a:ln>
            <a:noFill/>
          </a:ln>
        </p:spPr>
        <p:txBody>
          <a:bodyPr lIns="182880" rIns="182880" anchor="ctr">
            <a:normAutofit/>
          </a:bodyPr>
          <a:lstStyle/>
          <a:p>
            <a:pPr algn="ctr"/>
            <a:r>
              <a:rPr lang="en-US" sz="2000" b="1" dirty="0">
                <a:solidFill>
                  <a:srgbClr val="FFFFFF"/>
                </a:solidFill>
                <a:latin typeface="Source Sans 3"/>
                <a:cs typeface="Source Sans 3"/>
              </a:rPr>
              <a:t>Health-style coverage, delivered through a P&amp;C reimbursement policy</a:t>
            </a:r>
          </a:p>
        </p:txBody>
      </p:sp>
      <p:sp>
        <p:nvSpPr>
          <p:cNvPr id="30" name="Coverage Tier 1"/>
          <p:cNvSpPr/>
          <p:nvPr/>
        </p:nvSpPr>
        <p:spPr>
          <a:xfrm>
            <a:off x="838200" y="2800000"/>
            <a:ext cx="3300000" cy="800000"/>
          </a:xfrm>
          <a:prstGeom prst="rect">
            <a:avLst/>
          </a:prstGeom>
          <a:solidFill>
            <a:srgbClr val="002C71"/>
          </a:solidFill>
          <a:ln>
            <a:noFill/>
          </a:ln>
        </p:spPr>
        <p:txBody>
          <a:bodyPr lIns="182880" rIns="182880" anchor="ctr">
            <a:normAutofit/>
          </a:bodyPr>
          <a:lstStyle/>
          <a:p>
            <a:pPr algn="l"/>
            <a:r>
              <a:rPr lang="en-US" sz="1800" b="1" dirty="0">
                <a:solidFill>
                  <a:srgbClr val="FFFFFF"/>
                </a:solidFill>
                <a:latin typeface="Source Sans 3"/>
                <a:cs typeface="Source Sans 3"/>
              </a:rPr>
              <a:t>Accident</a:t>
            </a:r>
          </a:p>
          <a:p>
            <a:pPr algn="l"/>
            <a:r>
              <a:rPr lang="en-US" sz="1300" b="0" dirty="0">
                <a:solidFill>
                  <a:srgbClr val="FFFFFF"/>
                </a:solidFill>
                <a:latin typeface="Source Sans 3"/>
                <a:cs typeface="Source Sans 3"/>
              </a:rPr>
              <a:t>Base tier: lowest cost and utilization</a:t>
            </a:r>
          </a:p>
        </p:txBody>
      </p:sp>
      <p:sp>
        <p:nvSpPr>
          <p:cNvPr id="31" name="Coverage Tier 2"/>
          <p:cNvSpPr/>
          <p:nvPr/>
        </p:nvSpPr>
        <p:spPr>
          <a:xfrm>
            <a:off x="838200" y="3700000"/>
            <a:ext cx="4100000" cy="800000"/>
          </a:xfrm>
          <a:prstGeom prst="rect">
            <a:avLst/>
          </a:prstGeom>
          <a:solidFill>
            <a:srgbClr val="002C71"/>
          </a:solidFill>
          <a:ln>
            <a:noFill/>
          </a:ln>
        </p:spPr>
        <p:txBody>
          <a:bodyPr lIns="182880" rIns="182880" anchor="ctr">
            <a:normAutofit/>
          </a:bodyPr>
          <a:lstStyle/>
          <a:p>
            <a:pPr algn="l"/>
            <a:r>
              <a:rPr lang="en-US" sz="1800" b="1" dirty="0">
                <a:solidFill>
                  <a:srgbClr val="FFFFFF"/>
                </a:solidFill>
                <a:latin typeface="Source Sans 3"/>
                <a:cs typeface="Source Sans 3"/>
              </a:rPr>
              <a:t>Accident + Illness</a:t>
            </a:r>
          </a:p>
          <a:p>
            <a:pPr algn="l"/>
            <a:r>
              <a:rPr lang="en-US" sz="1300" b="0" dirty="0">
                <a:solidFill>
                  <a:srgbClr val="FFFFFF"/>
                </a:solidFill>
                <a:latin typeface="Source Sans 3"/>
                <a:cs typeface="Source Sans 3"/>
              </a:rPr>
              <a:t>Most common policy: chronic and recurring claims</a:t>
            </a:r>
          </a:p>
        </p:txBody>
      </p:sp>
      <p:sp>
        <p:nvSpPr>
          <p:cNvPr id="32" name="Coverage Tier 3"/>
          <p:cNvSpPr/>
          <p:nvPr/>
        </p:nvSpPr>
        <p:spPr>
          <a:xfrm>
            <a:off x="838200" y="4780000"/>
            <a:ext cx="4900000" cy="900000"/>
          </a:xfrm>
          <a:prstGeom prst="rect">
            <a:avLst/>
          </a:prstGeom>
          <a:solidFill>
            <a:srgbClr val="FFFFFF"/>
          </a:solidFill>
          <a:ln w="25400">
            <a:solidFill>
              <a:srgbClr val="FFB81C"/>
            </a:solidFill>
            <a:prstDash val="dash"/>
          </a:ln>
        </p:spPr>
        <p:txBody>
          <a:bodyPr lIns="182880" rIns="182880" anchor="ctr">
            <a:normAutofit/>
          </a:bodyPr>
          <a:lstStyle/>
          <a:p>
            <a:pPr algn="l"/>
            <a:r>
              <a:rPr lang="en-US" sz="1800" b="1" dirty="0">
                <a:solidFill>
                  <a:srgbClr val="002C71"/>
                </a:solidFill>
                <a:latin typeface="Source Sans 3"/>
                <a:cs typeface="Source Sans 3"/>
              </a:rPr>
              <a:t>Wellness / Preventative Care</a:t>
            </a:r>
          </a:p>
          <a:p>
            <a:pPr algn="l"/>
            <a:r>
              <a:rPr lang="en-US" sz="1300" b="0" dirty="0">
                <a:solidFill>
                  <a:srgbClr val="002C71"/>
                </a:solidFill>
                <a:latin typeface="Source Sans 3"/>
                <a:cs typeface="Source Sans 3"/>
              </a:rPr>
              <a:t>Predictable, not fortuitous; often sold separately</a:t>
            </a:r>
          </a:p>
        </p:txBody>
      </p:sp>
      <p:sp>
        <p:nvSpPr>
          <p:cNvPr id="40" name="Policy Term Accent 1"/>
          <p:cNvSpPr/>
          <p:nvPr/>
        </p:nvSpPr>
        <p:spPr>
          <a:xfrm>
            <a:off x="6453800" y="2800000"/>
            <a:ext cx="91440" cy="700000"/>
          </a:xfrm>
          <a:prstGeom prst="rect">
            <a:avLst/>
          </a:prstGeom>
          <a:solidFill>
            <a:srgbClr val="FFB81C"/>
          </a:solidFill>
          <a:ln>
            <a:noFill/>
          </a:ln>
        </p:spPr>
        <p:txBody>
          <a:bodyPr lIns="182880" rIns="182880" anchor="ctr">
            <a:normAutofit/>
          </a:bodyPr>
          <a:lstStyle/>
          <a:p>
            <a:endParaRPr lang="en-US"/>
          </a:p>
        </p:txBody>
      </p:sp>
      <p:sp>
        <p:nvSpPr>
          <p:cNvPr id="50" name="Policy Term 1"/>
          <p:cNvSpPr/>
          <p:nvPr/>
        </p:nvSpPr>
        <p:spPr>
          <a:xfrm>
            <a:off x="6545240" y="2800000"/>
            <a:ext cx="4808560" cy="700000"/>
          </a:xfrm>
          <a:prstGeom prst="rect">
            <a:avLst/>
          </a:prstGeom>
          <a:solidFill>
            <a:srgbClr val="FFFFFF"/>
          </a:solidFill>
          <a:ln>
            <a:noFill/>
          </a:ln>
        </p:spPr>
        <p:txBody>
          <a:bodyPr lIns="182880" rIns="182880" anchor="ctr">
            <a:normAutofit/>
          </a:bodyPr>
          <a:lstStyle/>
          <a:p>
            <a:pPr algn="l"/>
            <a:r>
              <a:rPr lang="en-US" sz="1600" b="1" dirty="0">
                <a:solidFill>
                  <a:srgbClr val="002C71"/>
                </a:solidFill>
                <a:latin typeface="Source Sans 3"/>
                <a:cs typeface="Source Sans 3"/>
              </a:rPr>
              <a:t>Deductible, limit, coinsurance</a:t>
            </a:r>
          </a:p>
          <a:p>
            <a:pPr algn="l"/>
            <a:r>
              <a:rPr lang="en-US" sz="1300" b="0" dirty="0">
                <a:solidFill>
                  <a:srgbClr val="002C71"/>
                </a:solidFill>
                <a:latin typeface="Source Sans 3"/>
                <a:cs typeface="Source Sans 3"/>
              </a:rPr>
              <a:t>Inflation leverages the insurer’s share</a:t>
            </a:r>
          </a:p>
        </p:txBody>
      </p:sp>
      <p:sp>
        <p:nvSpPr>
          <p:cNvPr id="41" name="Policy Term Accent 2"/>
          <p:cNvSpPr/>
          <p:nvPr/>
        </p:nvSpPr>
        <p:spPr>
          <a:xfrm>
            <a:off x="6453800" y="3580000"/>
            <a:ext cx="91440" cy="700000"/>
          </a:xfrm>
          <a:prstGeom prst="rect">
            <a:avLst/>
          </a:prstGeom>
          <a:solidFill>
            <a:srgbClr val="FFB81C"/>
          </a:solidFill>
          <a:ln>
            <a:noFill/>
          </a:ln>
        </p:spPr>
        <p:txBody>
          <a:bodyPr lIns="182880" rIns="182880" anchor="ctr">
            <a:normAutofit/>
          </a:bodyPr>
          <a:lstStyle/>
          <a:p>
            <a:endParaRPr lang="en-US"/>
          </a:p>
        </p:txBody>
      </p:sp>
      <p:sp>
        <p:nvSpPr>
          <p:cNvPr id="51" name="Policy Term 2"/>
          <p:cNvSpPr/>
          <p:nvPr/>
        </p:nvSpPr>
        <p:spPr>
          <a:xfrm>
            <a:off x="6545240" y="3580000"/>
            <a:ext cx="4808560" cy="700000"/>
          </a:xfrm>
          <a:prstGeom prst="rect">
            <a:avLst/>
          </a:prstGeom>
          <a:solidFill>
            <a:srgbClr val="FFFFFF"/>
          </a:solidFill>
          <a:ln>
            <a:noFill/>
          </a:ln>
        </p:spPr>
        <p:txBody>
          <a:bodyPr lIns="182880" rIns="182880" anchor="ctr">
            <a:normAutofit/>
          </a:bodyPr>
          <a:lstStyle/>
          <a:p>
            <a:pPr algn="l"/>
            <a:r>
              <a:rPr lang="en-US" sz="1600" b="1" dirty="0">
                <a:solidFill>
                  <a:srgbClr val="002C71"/>
                </a:solidFill>
                <a:latin typeface="Source Sans 3"/>
                <a:cs typeface="Source Sans 3"/>
              </a:rPr>
              <a:t>Pre-existing exclusions</a:t>
            </a:r>
          </a:p>
          <a:p>
            <a:pPr algn="l"/>
            <a:r>
              <a:rPr lang="en-US" sz="1300" b="0" dirty="0">
                <a:solidFill>
                  <a:srgbClr val="002C71"/>
                </a:solidFill>
                <a:latin typeface="Source Sans 3"/>
                <a:cs typeface="Source Sans 3"/>
              </a:rPr>
              <a:t>The biggest single cost control</a:t>
            </a:r>
          </a:p>
        </p:txBody>
      </p:sp>
      <p:sp>
        <p:nvSpPr>
          <p:cNvPr id="42" name="Policy Term Accent 3"/>
          <p:cNvSpPr/>
          <p:nvPr/>
        </p:nvSpPr>
        <p:spPr>
          <a:xfrm>
            <a:off x="6453800" y="4360000"/>
            <a:ext cx="91440" cy="700000"/>
          </a:xfrm>
          <a:prstGeom prst="rect">
            <a:avLst/>
          </a:prstGeom>
          <a:solidFill>
            <a:srgbClr val="FFB81C"/>
          </a:solidFill>
          <a:ln>
            <a:noFill/>
          </a:ln>
        </p:spPr>
        <p:txBody>
          <a:bodyPr lIns="182880" rIns="182880" anchor="ctr">
            <a:normAutofit/>
          </a:bodyPr>
          <a:lstStyle/>
          <a:p>
            <a:endParaRPr lang="en-US"/>
          </a:p>
        </p:txBody>
      </p:sp>
      <p:sp>
        <p:nvSpPr>
          <p:cNvPr id="52" name="Policy Term 3"/>
          <p:cNvSpPr/>
          <p:nvPr/>
        </p:nvSpPr>
        <p:spPr>
          <a:xfrm>
            <a:off x="6545240" y="4360000"/>
            <a:ext cx="4808560" cy="700000"/>
          </a:xfrm>
          <a:prstGeom prst="rect">
            <a:avLst/>
          </a:prstGeom>
          <a:solidFill>
            <a:srgbClr val="FFFFFF"/>
          </a:solidFill>
          <a:ln>
            <a:noFill/>
          </a:ln>
        </p:spPr>
        <p:txBody>
          <a:bodyPr lIns="182880" rIns="182880" anchor="ctr">
            <a:normAutofit/>
          </a:bodyPr>
          <a:lstStyle/>
          <a:p>
            <a:pPr algn="l"/>
            <a:r>
              <a:rPr lang="en-US" sz="1600" b="1" dirty="0">
                <a:solidFill>
                  <a:srgbClr val="002C71"/>
                </a:solidFill>
                <a:latin typeface="Source Sans 3"/>
                <a:cs typeface="Source Sans 3"/>
              </a:rPr>
              <a:t>Waiting periods</a:t>
            </a:r>
          </a:p>
          <a:p>
            <a:pPr algn="l"/>
            <a:r>
              <a:rPr lang="en-US" sz="1300" b="0" dirty="0">
                <a:solidFill>
                  <a:srgbClr val="002C71"/>
                </a:solidFill>
                <a:latin typeface="Source Sans 3"/>
                <a:cs typeface="Source Sans 3"/>
              </a:rPr>
              <a:t>First defense against anti-selection</a:t>
            </a:r>
          </a:p>
        </p:txBody>
      </p:sp>
      <p:sp>
        <p:nvSpPr>
          <p:cNvPr id="43" name="Policy Term Accent 4"/>
          <p:cNvSpPr/>
          <p:nvPr/>
        </p:nvSpPr>
        <p:spPr>
          <a:xfrm>
            <a:off x="6453800" y="5140000"/>
            <a:ext cx="91440" cy="700000"/>
          </a:xfrm>
          <a:prstGeom prst="rect">
            <a:avLst/>
          </a:prstGeom>
          <a:solidFill>
            <a:srgbClr val="FFB81C"/>
          </a:solidFill>
          <a:ln>
            <a:noFill/>
          </a:ln>
        </p:spPr>
        <p:txBody>
          <a:bodyPr lIns="182880" rIns="182880" anchor="ctr">
            <a:normAutofit/>
          </a:bodyPr>
          <a:lstStyle/>
          <a:p>
            <a:endParaRPr lang="en-US"/>
          </a:p>
        </p:txBody>
      </p:sp>
      <p:sp>
        <p:nvSpPr>
          <p:cNvPr id="53" name="Policy Term 4"/>
          <p:cNvSpPr/>
          <p:nvPr/>
        </p:nvSpPr>
        <p:spPr>
          <a:xfrm>
            <a:off x="6545240" y="5140000"/>
            <a:ext cx="4808560" cy="700000"/>
          </a:xfrm>
          <a:prstGeom prst="rect">
            <a:avLst/>
          </a:prstGeom>
          <a:solidFill>
            <a:srgbClr val="FFFFFF"/>
          </a:solidFill>
          <a:ln>
            <a:noFill/>
          </a:ln>
        </p:spPr>
        <p:txBody>
          <a:bodyPr lIns="182880" rIns="182880" anchor="ctr">
            <a:normAutofit/>
          </a:bodyPr>
          <a:lstStyle/>
          <a:p>
            <a:pPr algn="l"/>
            <a:r>
              <a:rPr lang="en-US" sz="1600" b="1" dirty="0">
                <a:solidFill>
                  <a:srgbClr val="002C71"/>
                </a:solidFill>
                <a:latin typeface="Source Sans 3"/>
                <a:cs typeface="Source Sans 3"/>
              </a:rPr>
              <a:t>Bilateral exclusions</a:t>
            </a:r>
          </a:p>
          <a:p>
            <a:pPr algn="l"/>
            <a:r>
              <a:rPr lang="en-US" sz="1300" b="0" dirty="0">
                <a:solidFill>
                  <a:srgbClr val="002C71"/>
                </a:solidFill>
                <a:latin typeface="Source Sans 3"/>
                <a:cs typeface="Source Sans 3"/>
              </a:rPr>
              <a:t>A frequent source of complaints</a:t>
            </a:r>
          </a:p>
        </p:txBody>
      </p:sp>
      <p:pic>
        <p:nvPicPr>
          <p:cNvPr id="60" name="Coverage Icon" descr="Icon: stepped tiers with a paw print"/>
          <p:cNvPicPr>
            <a:picLocks noChangeAspect="1"/>
          </p:cNvPicPr>
          <p:nvPr/>
        </p:nvPicPr>
        <p:blipFill>
          <a:blip r:embed="rId3"/>
          <a:stretch>
            <a:fillRect/>
          </a:stretch>
        </p:blipFill>
        <p:spPr>
          <a:xfrm>
            <a:off x="5278200" y="2220000"/>
            <a:ext cx="460000" cy="460000"/>
          </a:xfrm>
          <a:prstGeom prst="rect">
            <a:avLst/>
          </a:prstGeom>
        </p:spPr>
      </p:pic>
      <p:pic>
        <p:nvPicPr>
          <p:cNvPr id="61" name="Policy Icon" descr="Icon: policy document with percent sign and lock"/>
          <p:cNvPicPr>
            <a:picLocks noChangeAspect="1"/>
          </p:cNvPicPr>
          <p:nvPr/>
        </p:nvPicPr>
        <p:blipFill>
          <a:blip r:embed="rId4"/>
          <a:stretch>
            <a:fillRect/>
          </a:stretch>
        </p:blipFill>
        <p:spPr>
          <a:xfrm>
            <a:off x="10893800" y="2220000"/>
            <a:ext cx="460000" cy="460000"/>
          </a:xfrm>
          <a:prstGeom prst="rect">
            <a:avLst/>
          </a:prstGeom>
        </p:spPr>
      </p:pic>
    </p:spTree>
    <p:extLst>
      <p:ext uri="{BB962C8B-B14F-4D97-AF65-F5344CB8AC3E}">
        <p14:creationId xmlns:p14="http://schemas.microsoft.com/office/powerpoint/2010/main" val="644498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B74011-DBDC-4540-553E-43E8A1FF64A5}"/>
              </a:ext>
            </a:extLst>
          </p:cNvPr>
          <p:cNvSpPr txBox="1">
            <a:spLocks/>
          </p:cNvSpPr>
          <p:nvPr/>
        </p:nvSpPr>
        <p:spPr>
          <a:xfrm>
            <a:off x="809404" y="1616382"/>
            <a:ext cx="3900000" cy="1400000"/>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l"/>
            <a:r>
              <a:rPr lang="en-US" sz="3600" b="1" dirty="0">
                <a:solidFill>
                  <a:srgbClr val="002C71"/>
                </a:solidFill>
                <a:latin typeface="Montserrat" panose="00000500000000000000" pitchFamily="2" charset="0"/>
              </a:rPr>
              <a:t>Your Property is Sneezing</a:t>
            </a:r>
          </a:p>
        </p:txBody>
      </p:sp>
      <p:sp>
        <p:nvSpPr>
          <p:cNvPr id="4" name="Rounded Rectangle 3">
            <a:extLst>
              <a:ext uri="{FF2B5EF4-FFF2-40B4-BE49-F238E27FC236}">
                <a16:creationId xmlns:a16="http://schemas.microsoft.com/office/drawing/2014/main" id="{2FE75961-113B-D7F3-2255-CBD425CEEEED}"/>
              </a:ext>
            </a:extLst>
          </p:cNvPr>
          <p:cNvSpPr/>
          <p:nvPr/>
        </p:nvSpPr>
        <p:spPr>
          <a:xfrm>
            <a:off x="4824916" y="1615442"/>
            <a:ext cx="6536987" cy="3997418"/>
          </a:xfrm>
          <a:prstGeom prst="roundRect">
            <a:avLst>
              <a:gd name="adj" fmla="val 3411"/>
            </a:avLst>
          </a:prstGeom>
          <a:solidFill>
            <a:srgbClr val="E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CE8"/>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7AC69193-0334-BC78-8ABC-E157DBCDD0BF}"/>
              </a:ext>
            </a:extLst>
          </p:cNvPr>
          <p:cNvSpPr txBox="1">
            <a:spLocks/>
          </p:cNvSpPr>
          <p:nvPr/>
        </p:nvSpPr>
        <p:spPr>
          <a:xfrm>
            <a:off x="4824917" y="1615442"/>
            <a:ext cx="6536987" cy="39974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002C71"/>
                </a:solidFill>
                <a:latin typeface="Source Sans 3"/>
                <a:cs typeface="Source Sans 3"/>
              </a:rPr>
              <a:t>Medical claims in a P&amp;C line</a:t>
            </a:r>
          </a:p>
          <a:p>
            <a:pPr marL="0" indent="0">
              <a:buNone/>
            </a:pPr>
            <a:r>
              <a:rPr lang="en-US" dirty="0">
                <a:solidFill>
                  <a:srgbClr val="002C71"/>
                </a:solidFill>
                <a:latin typeface="Source Sans 3"/>
                <a:cs typeface="Source Sans 3"/>
              </a:rPr>
              <a:t>Pet insurance operates within a traditional P&amp;C framework while managing risks that closely resemble human health insurance.</a:t>
            </a:r>
          </a:p>
          <a:p>
            <a:pPr marL="0" indent="0">
              <a:buNone/>
            </a:pPr>
            <a:endParaRPr lang="en-US" i="1" dirty="0">
              <a:solidFill>
                <a:srgbClr val="002C71"/>
              </a:solidFill>
              <a:latin typeface="Source Sans 3"/>
              <a:cs typeface="Source Sans 3"/>
            </a:endParaRPr>
          </a:p>
          <a:p>
            <a:pPr marL="0" indent="0">
              <a:buNone/>
            </a:pPr>
            <a:r>
              <a:rPr lang="en-US" i="1" dirty="0">
                <a:solidFill>
                  <a:srgbClr val="002C71"/>
                </a:solidFill>
                <a:latin typeface="Source Sans 3"/>
                <a:cs typeface="Source Sans 3"/>
              </a:rPr>
              <a:t>What happens when the thing you insure can get sick, and the bill is written by a doctor?</a:t>
            </a:r>
          </a:p>
          <a:p>
            <a:pPr marL="0" indent="0">
              <a:buNone/>
            </a:pPr>
            <a:endParaRPr lang="en-US" i="1" dirty="0">
              <a:solidFill>
                <a:srgbClr val="002C71"/>
              </a:solidFill>
              <a:latin typeface="Source Sans 3"/>
              <a:cs typeface="Source Sans 3"/>
            </a:endParaRPr>
          </a:p>
          <a:p>
            <a:pPr marL="0" indent="0">
              <a:buNone/>
            </a:pPr>
            <a:endParaRPr lang="en-US" dirty="0">
              <a:solidFill>
                <a:srgbClr val="002C71"/>
              </a:solidFill>
              <a:latin typeface="Source Sans 3"/>
              <a:cs typeface="Source Sans 3"/>
            </a:endParaRPr>
          </a:p>
          <a:p>
            <a:pPr marL="0" indent="0">
              <a:buNone/>
            </a:pPr>
            <a:endParaRPr lang="en-US" dirty="0">
              <a:solidFill>
                <a:srgbClr val="002C71"/>
              </a:solidFill>
              <a:latin typeface="Source Sans 3"/>
              <a:cs typeface="Source Sans 3"/>
            </a:endParaRPr>
          </a:p>
          <a:p>
            <a:pPr marL="0" indent="0">
              <a:buNone/>
            </a:pPr>
            <a:endParaRPr lang="en-US" dirty="0">
              <a:solidFill>
                <a:srgbClr val="002C71"/>
              </a:solidFill>
              <a:latin typeface="Source Sans 3"/>
              <a:cs typeface="Source Sans 3"/>
            </a:endParaRPr>
          </a:p>
        </p:txBody>
      </p:sp>
      <p:sp>
        <p:nvSpPr>
          <p:cNvPr id="900" name="Image Placeholder" descr="Image placeholder: Sneezing dog at the vet"/>
          <p:cNvSpPr/>
          <p:nvPr/>
        </p:nvSpPr>
        <p:spPr>
          <a:xfrm>
            <a:off x="809404" y="3700000"/>
            <a:ext cx="3800000" cy="1912860"/>
          </a:xfrm>
          <a:prstGeom prst="roundRect">
            <a:avLst>
              <a:gd name="adj" fmla="val 6000"/>
            </a:avLst>
          </a:prstGeom>
          <a:solidFill>
            <a:srgbClr val="F2F2F2"/>
          </a:solidFill>
          <a:ln w="19050">
            <a:solidFill>
              <a:srgbClr val="002C71"/>
            </a:solidFill>
            <a:prstDash val="dash"/>
          </a:ln>
        </p:spPr>
        <p:txBody>
          <a:bodyPr lIns="182880" rIns="182880" anchor="ctr">
            <a:normAutofit/>
          </a:bodyPr>
          <a:lstStyle/>
          <a:p>
            <a:pPr algn="ctr"/>
            <a:r>
              <a:rPr lang="en-US" sz="1400" b="1" dirty="0">
                <a:solidFill>
                  <a:srgbClr val="595959"/>
                </a:solidFill>
                <a:latin typeface="Source Sans 3"/>
                <a:cs typeface="Source Sans 3"/>
              </a:rPr>
              <a:t>Image placeholder</a:t>
            </a:r>
          </a:p>
        </p:txBody>
      </p:sp>
    </p:spTree>
    <p:extLst>
      <p:ext uri="{BB962C8B-B14F-4D97-AF65-F5344CB8AC3E}">
        <p14:creationId xmlns:p14="http://schemas.microsoft.com/office/powerpoint/2010/main" val="1490031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dirty="0">
                <a:solidFill>
                  <a:srgbClr val="002C71"/>
                </a:solidFill>
                <a:latin typeface="Montserrat"/>
                <a:cs typeface="Montserrat"/>
              </a:rPr>
              <a:t>Health Risk, P&amp;C Rules</a:t>
            </a:r>
          </a:p>
        </p:txBody>
      </p:sp>
      <p:sp>
        <p:nvSpPr>
          <p:cNvPr id="4" name="Health Header"/>
          <p:cNvSpPr/>
          <p:nvPr/>
        </p:nvSpPr>
        <p:spPr>
          <a:xfrm>
            <a:off x="838200" y="2350000"/>
            <a:ext cx="4900000" cy="600000"/>
          </a:xfrm>
          <a:prstGeom prst="rect">
            <a:avLst/>
          </a:prstGeom>
          <a:solidFill>
            <a:srgbClr val="002C71"/>
          </a:solidFill>
          <a:ln>
            <a:noFill/>
          </a:ln>
        </p:spPr>
        <p:txBody>
          <a:bodyPr wrap="square" lIns="137160" tIns="137160" rIns="137160" bIns="137160" rtlCol="0" anchor="ctr">
            <a:normAutofit fontScale="92500" lnSpcReduction="10000"/>
          </a:bodyPr>
          <a:lstStyle/>
          <a:p>
            <a:pPr algn="l"/>
            <a:r>
              <a:rPr lang="en-US" sz="2400" b="1" dirty="0">
                <a:solidFill>
                  <a:srgbClr val="FFFFFF"/>
                </a:solidFill>
                <a:latin typeface="Montserrat"/>
                <a:cs typeface="Montserrat"/>
              </a:rPr>
              <a:t>Health: The Risk</a:t>
            </a:r>
          </a:p>
        </p:txBody>
      </p:sp>
      <p:sp>
        <p:nvSpPr>
          <p:cNvPr id="5" name="Health Body"/>
          <p:cNvSpPr/>
          <p:nvPr/>
        </p:nvSpPr>
        <p:spPr>
          <a:xfrm>
            <a:off x="838200" y="2950000"/>
            <a:ext cx="4900000" cy="2950000"/>
          </a:xfrm>
          <a:prstGeom prst="rect">
            <a:avLst/>
          </a:prstGeom>
          <a:solidFill>
            <a:srgbClr val="FFFFFF"/>
          </a:solidFill>
          <a:ln>
            <a:noFill/>
          </a:ln>
        </p:spPr>
        <p:txBody>
          <a:bodyPr wrap="square" lIns="137160" tIns="137160" rIns="137160" bIns="137160" rtlCol="0" anchor="t">
            <a:normAutofit/>
          </a:bodyPr>
          <a:lstStyle/>
          <a:p>
            <a:pPr marL="285750" indent="-285750">
              <a:spcBef>
                <a:spcPts val="600"/>
              </a:spcBef>
              <a:buClr>
                <a:srgbClr val="002C71"/>
              </a:buClr>
              <a:buFont typeface="Arial"/>
              <a:buChar char="•"/>
            </a:pPr>
            <a:r>
              <a:rPr lang="en-US" sz="2200" dirty="0">
                <a:solidFill>
                  <a:srgbClr val="002C71"/>
                </a:solidFill>
                <a:latin typeface="Source Sans 3"/>
                <a:cs typeface="Source Sans 3"/>
              </a:rPr>
              <a:t>Medical cost inflation</a:t>
            </a:r>
          </a:p>
          <a:p>
            <a:pPr marL="285750" indent="-285750">
              <a:spcBef>
                <a:spcPts val="600"/>
              </a:spcBef>
              <a:buClr>
                <a:srgbClr val="002C71"/>
              </a:buClr>
              <a:buFont typeface="Arial"/>
              <a:buChar char="•"/>
            </a:pPr>
            <a:r>
              <a:rPr lang="en-US" sz="2200" dirty="0">
                <a:solidFill>
                  <a:srgbClr val="002C71"/>
                </a:solidFill>
                <a:latin typeface="Source Sans 3"/>
                <a:cs typeface="Source Sans 3"/>
              </a:rPr>
              <a:t>Age-driven risk progression</a:t>
            </a:r>
          </a:p>
          <a:p>
            <a:pPr marL="285750" indent="-285750">
              <a:spcBef>
                <a:spcPts val="600"/>
              </a:spcBef>
              <a:buClr>
                <a:srgbClr val="002C71"/>
              </a:buClr>
              <a:buFont typeface="Arial"/>
              <a:buChar char="•"/>
            </a:pPr>
            <a:r>
              <a:rPr lang="en-US" sz="2200">
                <a:solidFill>
                  <a:srgbClr val="002C71"/>
                </a:solidFill>
                <a:latin typeface="Source Sans 3"/>
                <a:cs typeface="Source Sans 3"/>
              </a:rPr>
              <a:t>Chronic condition management</a:t>
            </a:r>
          </a:p>
          <a:p>
            <a:pPr marL="285750" indent="-285750">
              <a:spcBef>
                <a:spcPts val="600"/>
              </a:spcBef>
              <a:buClr>
                <a:srgbClr val="002C71"/>
              </a:buClr>
              <a:buFont typeface="Arial"/>
              <a:buChar char="•"/>
            </a:pPr>
            <a:r>
              <a:rPr lang="en-US" sz="2200">
                <a:solidFill>
                  <a:srgbClr val="002C71"/>
                </a:solidFill>
                <a:latin typeface="Source Sans 3"/>
                <a:cs typeface="Source Sans 3"/>
              </a:rPr>
              <a:t>Provider utilization considerations</a:t>
            </a:r>
            <a:endParaRPr lang="en-US" sz="2200" dirty="0">
              <a:solidFill>
                <a:srgbClr val="002C71"/>
              </a:solidFill>
              <a:latin typeface="Source Sans 3"/>
              <a:cs typeface="Source Sans 3"/>
            </a:endParaRPr>
          </a:p>
          <a:p>
            <a:pPr marL="285750" indent="-285750">
              <a:spcBef>
                <a:spcPts val="600"/>
              </a:spcBef>
              <a:buClr>
                <a:srgbClr val="002C71"/>
              </a:buClr>
              <a:buFont typeface="Arial"/>
              <a:buChar char="•"/>
            </a:pPr>
            <a:r>
              <a:rPr lang="en-US" sz="2200">
                <a:solidFill>
                  <a:srgbClr val="002C71"/>
                </a:solidFill>
                <a:latin typeface="Source Sans 3"/>
                <a:cs typeface="Source Sans 3"/>
              </a:rPr>
              <a:t>Behavioral and anti-selection dynamics</a:t>
            </a:r>
            <a:endParaRPr lang="en-US" sz="2200" dirty="0">
              <a:solidFill>
                <a:srgbClr val="002C71"/>
              </a:solidFill>
              <a:latin typeface="Source Sans 3"/>
              <a:cs typeface="Source Sans 3"/>
            </a:endParaRPr>
          </a:p>
        </p:txBody>
      </p:sp>
      <p:sp>
        <p:nvSpPr>
          <p:cNvPr id="6" name="P&amp;C Header"/>
          <p:cNvSpPr/>
          <p:nvPr/>
        </p:nvSpPr>
        <p:spPr>
          <a:xfrm>
            <a:off x="6453800" y="2350000"/>
            <a:ext cx="4900000" cy="600000"/>
          </a:xfrm>
          <a:prstGeom prst="rect">
            <a:avLst/>
          </a:prstGeom>
          <a:solidFill>
            <a:srgbClr val="002C71"/>
          </a:solidFill>
          <a:ln>
            <a:noFill/>
          </a:ln>
        </p:spPr>
        <p:txBody>
          <a:bodyPr wrap="square" lIns="137160" tIns="137160" rIns="137160" bIns="137160" rtlCol="0" anchor="ctr">
            <a:normAutofit fontScale="92500" lnSpcReduction="10000"/>
          </a:bodyPr>
          <a:lstStyle/>
          <a:p>
            <a:pPr algn="l"/>
            <a:r>
              <a:rPr lang="en-US" sz="2400" b="1" dirty="0">
                <a:solidFill>
                  <a:srgbClr val="FFFFFF"/>
                </a:solidFill>
                <a:latin typeface="Montserrat"/>
                <a:cs typeface="Montserrat"/>
              </a:rPr>
              <a:t>P&amp;C: The Rules</a:t>
            </a:r>
          </a:p>
        </p:txBody>
      </p:sp>
      <p:sp>
        <p:nvSpPr>
          <p:cNvPr id="7" name="P&amp;C Body"/>
          <p:cNvSpPr/>
          <p:nvPr/>
        </p:nvSpPr>
        <p:spPr>
          <a:xfrm>
            <a:off x="6453800" y="2950000"/>
            <a:ext cx="4900000" cy="2950000"/>
          </a:xfrm>
          <a:prstGeom prst="rect">
            <a:avLst/>
          </a:prstGeom>
          <a:solidFill>
            <a:srgbClr val="FFFFFF"/>
          </a:solidFill>
          <a:ln>
            <a:noFill/>
          </a:ln>
        </p:spPr>
        <p:txBody>
          <a:bodyPr wrap="square" lIns="137160" tIns="137160" rIns="137160" bIns="137160" rtlCol="0" anchor="t">
            <a:normAutofit/>
          </a:bodyPr>
          <a:lstStyle/>
          <a:p>
            <a:pPr marL="285750" indent="-285750">
              <a:spcBef>
                <a:spcPts val="600"/>
              </a:spcBef>
              <a:buClr>
                <a:srgbClr val="002C71"/>
              </a:buClr>
              <a:buFont typeface="Arial"/>
              <a:buChar char="•"/>
            </a:pPr>
            <a:r>
              <a:rPr lang="en-US" sz="2200">
                <a:solidFill>
                  <a:srgbClr val="002C71"/>
                </a:solidFill>
                <a:latin typeface="Source Sans 3"/>
                <a:cs typeface="Source Sans 3"/>
              </a:rPr>
              <a:t>State-specific filing requirements</a:t>
            </a:r>
            <a:endParaRPr lang="en-US" sz="2200" dirty="0">
              <a:solidFill>
                <a:srgbClr val="002C71"/>
              </a:solidFill>
              <a:latin typeface="Source Sans 3"/>
              <a:cs typeface="Source Sans 3"/>
            </a:endParaRPr>
          </a:p>
          <a:p>
            <a:pPr marL="285750" indent="-285750">
              <a:spcBef>
                <a:spcPts val="600"/>
              </a:spcBef>
              <a:buClr>
                <a:srgbClr val="002C71"/>
              </a:buClr>
              <a:buFont typeface="Arial"/>
              <a:buChar char="•"/>
            </a:pPr>
            <a:r>
              <a:rPr lang="en-US" sz="2200" dirty="0">
                <a:solidFill>
                  <a:srgbClr val="002C71"/>
                </a:solidFill>
                <a:latin typeface="Source Sans 3"/>
                <a:cs typeface="Source Sans 3"/>
              </a:rPr>
              <a:t>Traditional ratemaking</a:t>
            </a:r>
          </a:p>
          <a:p>
            <a:pPr marL="285750" indent="-285750">
              <a:spcBef>
                <a:spcPts val="600"/>
              </a:spcBef>
              <a:buClr>
                <a:srgbClr val="002C71"/>
              </a:buClr>
              <a:buFont typeface="Arial"/>
              <a:buChar char="•"/>
            </a:pPr>
            <a:r>
              <a:rPr lang="en-US" sz="2200" dirty="0">
                <a:solidFill>
                  <a:srgbClr val="002C71"/>
                </a:solidFill>
                <a:latin typeface="Source Sans 3"/>
                <a:cs typeface="Source Sans 3"/>
              </a:rPr>
              <a:t>Loss ratio and reserving discipline</a:t>
            </a:r>
          </a:p>
          <a:p>
            <a:pPr marL="285750" indent="-285750">
              <a:spcBef>
                <a:spcPts val="600"/>
              </a:spcBef>
              <a:buClr>
                <a:srgbClr val="002C71"/>
              </a:buClr>
              <a:buFont typeface="Arial"/>
              <a:buChar char="•"/>
            </a:pPr>
            <a:r>
              <a:rPr lang="en-US" sz="2200">
                <a:solidFill>
                  <a:srgbClr val="002C71"/>
                </a:solidFill>
                <a:latin typeface="Source Sans 3"/>
                <a:cs typeface="Source Sans 3"/>
              </a:rPr>
              <a:t>Indemnity reimbursement structure</a:t>
            </a:r>
            <a:endParaRPr lang="en-US" sz="2200" dirty="0">
              <a:solidFill>
                <a:srgbClr val="002C71"/>
              </a:solidFill>
              <a:latin typeface="Source Sans 3"/>
              <a:cs typeface="Source Sans 3"/>
            </a:endParaRPr>
          </a:p>
          <a:p>
            <a:pPr marL="285750" indent="-285750">
              <a:spcBef>
                <a:spcPts val="600"/>
              </a:spcBef>
              <a:buClr>
                <a:srgbClr val="002C71"/>
              </a:buClr>
              <a:buFont typeface="Arial"/>
              <a:buChar char="•"/>
            </a:pPr>
            <a:r>
              <a:rPr lang="en-US" sz="2200" dirty="0">
                <a:solidFill>
                  <a:srgbClr val="002C71"/>
                </a:solidFill>
                <a:latin typeface="Source Sans 3"/>
                <a:cs typeface="Source Sans 3"/>
              </a:rPr>
              <a:t>Underwriting-driven pricing</a:t>
            </a:r>
          </a:p>
        </p:txBody>
      </p:sp>
      <p:pic>
        <p:nvPicPr>
          <p:cNvPr id="50" name="Header Icon 1" descr="Heart with medical cross and paw print"/>
          <p:cNvPicPr>
            <a:picLocks noChangeAspect="1"/>
          </p:cNvPicPr>
          <p:nvPr/>
        </p:nvPicPr>
        <p:blipFill>
          <a:blip r:embed="rId3"/>
          <a:stretch>
            <a:fillRect/>
          </a:stretch>
        </p:blipFill>
        <p:spPr>
          <a:xfrm>
            <a:off x="5118200" y="2440426"/>
            <a:ext cx="460000" cy="419148"/>
          </a:xfrm>
          <a:prstGeom prst="rect">
            <a:avLst/>
          </a:prstGeom>
        </p:spPr>
      </p:pic>
      <p:pic>
        <p:nvPicPr>
          <p:cNvPr id="51" name="Header Icon 2" descr="Shield with document and gavel"/>
          <p:cNvPicPr>
            <a:picLocks noChangeAspect="1"/>
          </p:cNvPicPr>
          <p:nvPr/>
        </p:nvPicPr>
        <p:blipFill>
          <a:blip r:embed="rId4"/>
          <a:stretch>
            <a:fillRect/>
          </a:stretch>
        </p:blipFill>
        <p:spPr>
          <a:xfrm>
            <a:off x="10812485" y="2420000"/>
            <a:ext cx="381315" cy="460000"/>
          </a:xfrm>
          <a:prstGeom prst="rect">
            <a:avLst/>
          </a:prstGeom>
        </p:spPr>
      </p:pic>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Pet insurance prices health-like risk under P&amp;C rules</a:t>
            </a:r>
            <a:endParaRPr lang="en-US" sz="2400"/>
          </a:p>
        </p:txBody>
      </p:sp>
      <p:sp>
        <p:nvSpPr>
          <p:cNvPr id="60" name="Pair Arrow 1" descr="Arrow linking the health risk to the P&amp;C rule it strains"/>
          <p:cNvSpPr/>
          <p:nvPr/>
        </p:nvSpPr>
        <p:spPr>
          <a:xfrm>
            <a:off x="5860000" y="3158000"/>
            <a:ext cx="260000" cy="150000"/>
          </a:xfrm>
          <a:prstGeom prst="rightArrow">
            <a:avLst>
              <a:gd name="adj1" fmla="val 50000"/>
              <a:gd name="adj2" fmla="val 50000"/>
            </a:avLst>
          </a:prstGeom>
          <a:solidFill>
            <a:srgbClr val="FFB81C"/>
          </a:solidFill>
          <a:ln>
            <a:noFill/>
          </a:ln>
        </p:spPr>
        <p:txBody>
          <a:bodyPr/>
          <a:lstStyle/>
          <a:p>
            <a:endParaRPr lang="en-US"/>
          </a:p>
        </p:txBody>
      </p:sp>
      <p:sp>
        <p:nvSpPr>
          <p:cNvPr id="61" name="Pair Arrow 2" descr="Arrow linking the health risk to the P&amp;C rule it strains"/>
          <p:cNvSpPr/>
          <p:nvPr/>
        </p:nvSpPr>
        <p:spPr>
          <a:xfrm>
            <a:off x="5860000" y="3570000"/>
            <a:ext cx="260000" cy="150000"/>
          </a:xfrm>
          <a:prstGeom prst="rightArrow">
            <a:avLst>
              <a:gd name="adj1" fmla="val 50000"/>
              <a:gd name="adj2" fmla="val 50000"/>
            </a:avLst>
          </a:prstGeom>
          <a:solidFill>
            <a:srgbClr val="FFB81C"/>
          </a:solidFill>
          <a:ln>
            <a:noFill/>
          </a:ln>
        </p:spPr>
        <p:txBody>
          <a:bodyPr/>
          <a:lstStyle/>
          <a:p>
            <a:endParaRPr lang="en-US"/>
          </a:p>
        </p:txBody>
      </p:sp>
      <p:sp>
        <p:nvSpPr>
          <p:cNvPr id="62" name="Pair Arrow 3" descr="Arrow linking the health risk to the P&amp;C rule it strains"/>
          <p:cNvSpPr/>
          <p:nvPr/>
        </p:nvSpPr>
        <p:spPr>
          <a:xfrm>
            <a:off x="5860000" y="3982000"/>
            <a:ext cx="260000" cy="150000"/>
          </a:xfrm>
          <a:prstGeom prst="rightArrow">
            <a:avLst>
              <a:gd name="adj1" fmla="val 50000"/>
              <a:gd name="adj2" fmla="val 50000"/>
            </a:avLst>
          </a:prstGeom>
          <a:solidFill>
            <a:srgbClr val="FFB81C"/>
          </a:solidFill>
          <a:ln>
            <a:noFill/>
          </a:ln>
        </p:spPr>
        <p:txBody>
          <a:bodyPr/>
          <a:lstStyle/>
          <a:p>
            <a:endParaRPr lang="en-US"/>
          </a:p>
        </p:txBody>
      </p:sp>
      <p:sp>
        <p:nvSpPr>
          <p:cNvPr id="63" name="Pair Arrow 4" descr="Arrow linking the health risk to the P&amp;C rule it strains"/>
          <p:cNvSpPr/>
          <p:nvPr/>
        </p:nvSpPr>
        <p:spPr>
          <a:xfrm>
            <a:off x="5860000" y="4415000"/>
            <a:ext cx="260000" cy="150000"/>
          </a:xfrm>
          <a:prstGeom prst="rightArrow">
            <a:avLst>
              <a:gd name="adj1" fmla="val 50000"/>
              <a:gd name="adj2" fmla="val 50000"/>
            </a:avLst>
          </a:prstGeom>
          <a:solidFill>
            <a:srgbClr val="FFB81C"/>
          </a:solidFill>
          <a:ln>
            <a:noFill/>
          </a:ln>
        </p:spPr>
        <p:txBody>
          <a:bodyPr/>
          <a:lstStyle/>
          <a:p>
            <a:endParaRPr lang="en-US"/>
          </a:p>
        </p:txBody>
      </p:sp>
      <p:sp>
        <p:nvSpPr>
          <p:cNvPr id="64" name="Pair Arrow 5" descr="Arrow linking the health risk to the P&amp;C rule it strains"/>
          <p:cNvSpPr/>
          <p:nvPr/>
        </p:nvSpPr>
        <p:spPr>
          <a:xfrm>
            <a:off x="5860000" y="4826000"/>
            <a:ext cx="260000" cy="150000"/>
          </a:xfrm>
          <a:prstGeom prst="rightArrow">
            <a:avLst>
              <a:gd name="adj1" fmla="val 50000"/>
              <a:gd name="adj2" fmla="val 50000"/>
            </a:avLst>
          </a:prstGeom>
          <a:solidFill>
            <a:srgbClr val="FFB81C"/>
          </a:solidFill>
          <a:ln>
            <a:no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Why Product Design Matters</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dirty="0">
                <a:solidFill>
                  <a:srgbClr val="FFFFFF"/>
                </a:solidFill>
                <a:latin typeface="Montserrat"/>
                <a:cs typeface="Montserrat"/>
              </a:rPr>
              <a:t>Small design changes can materially affect profitability</a:t>
            </a:r>
            <a:endParaRPr lang="en-US" sz="2400"/>
          </a:p>
        </p:txBody>
      </p:sp>
      <p:sp>
        <p:nvSpPr>
          <p:cNvPr id="11" name="Card 1 Accent"/>
          <p:cNvSpPr/>
          <p:nvPr/>
        </p:nvSpPr>
        <p:spPr>
          <a:xfrm>
            <a:off x="8382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2" name="Card 1"/>
          <p:cNvSpPr/>
          <p:nvPr/>
        </p:nvSpPr>
        <p:spPr>
          <a:xfrm>
            <a:off x="9296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dirty="0">
                <a:solidFill>
                  <a:srgbClr val="002C71"/>
                </a:solidFill>
                <a:latin typeface="Source Sans 3"/>
                <a:cs typeface="Source Sans 3"/>
              </a:rPr>
              <a:t>Richer coverage drives higher utilization</a:t>
            </a:r>
            <a:endParaRPr lang="en-US" sz="2200"/>
          </a:p>
        </p:txBody>
      </p:sp>
      <p:sp>
        <p:nvSpPr>
          <p:cNvPr id="13" name="Card 2 Accent"/>
          <p:cNvSpPr/>
          <p:nvPr/>
        </p:nvSpPr>
        <p:spPr>
          <a:xfrm>
            <a:off x="61738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4" name="Card 2"/>
          <p:cNvSpPr/>
          <p:nvPr/>
        </p:nvSpPr>
        <p:spPr>
          <a:xfrm>
            <a:off x="62652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dirty="0">
                <a:solidFill>
                  <a:srgbClr val="002C71"/>
                </a:solidFill>
                <a:latin typeface="Source Sans 3"/>
                <a:cs typeface="Source Sans 3"/>
              </a:rPr>
              <a:t>Simpler products improve consumer understanding</a:t>
            </a:r>
            <a:endParaRPr lang="en-US" sz="2200"/>
          </a:p>
        </p:txBody>
      </p:sp>
      <p:sp>
        <p:nvSpPr>
          <p:cNvPr id="15" name="Card 3 Accent"/>
          <p:cNvSpPr/>
          <p:nvPr/>
        </p:nvSpPr>
        <p:spPr>
          <a:xfrm>
            <a:off x="8382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6" name="Card 3"/>
          <p:cNvSpPr/>
          <p:nvPr/>
        </p:nvSpPr>
        <p:spPr>
          <a:xfrm>
            <a:off x="9296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dirty="0">
                <a:solidFill>
                  <a:srgbClr val="002C71"/>
                </a:solidFill>
                <a:latin typeface="Source Sans 3"/>
                <a:cs typeface="Source Sans 3"/>
              </a:rPr>
              <a:t>Medical inflation pressures coverage limits and deductibles</a:t>
            </a:r>
            <a:endParaRPr lang="en-US" sz="2200"/>
          </a:p>
        </p:txBody>
      </p:sp>
      <p:sp>
        <p:nvSpPr>
          <p:cNvPr id="17" name="Card 4 Accent"/>
          <p:cNvSpPr/>
          <p:nvPr/>
        </p:nvSpPr>
        <p:spPr>
          <a:xfrm>
            <a:off x="61738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8" name="Card 4"/>
          <p:cNvSpPr/>
          <p:nvPr/>
        </p:nvSpPr>
        <p:spPr>
          <a:xfrm>
            <a:off x="62652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dirty="0">
                <a:solidFill>
                  <a:srgbClr val="002C71"/>
                </a:solidFill>
                <a:latin typeface="Source Sans 3"/>
                <a:cs typeface="Source Sans 3"/>
              </a:rPr>
              <a:t>P&amp;C pricing must remain actuarially sound despite health-like claim dynamics</a:t>
            </a:r>
            <a:endParaRPr lang="en-US" sz="2200"/>
          </a:p>
        </p:txBody>
      </p:sp>
      <p:pic>
        <p:nvPicPr>
          <p:cNvPr id="40" name="Card 1 Icon" descr="Shield with medical cross and upward arrow"/>
          <p:cNvPicPr>
            <a:picLocks noChangeAspect="1"/>
          </p:cNvPicPr>
          <p:nvPr/>
        </p:nvPicPr>
        <p:blipFill>
          <a:blip r:embed="rId3"/>
          <a:stretch>
            <a:fillRect/>
          </a:stretch>
        </p:blipFill>
        <p:spPr>
          <a:xfrm>
            <a:off x="1174887" y="2710000"/>
            <a:ext cx="649505" cy="780000"/>
          </a:xfrm>
          <a:prstGeom prst="rect">
            <a:avLst/>
          </a:prstGeom>
        </p:spPr>
      </p:pic>
      <p:pic>
        <p:nvPicPr>
          <p:cNvPr id="41" name="Card 2 Icon" descr="Lightbulb over a checked document"/>
          <p:cNvPicPr>
            <a:picLocks noChangeAspect="1"/>
          </p:cNvPicPr>
          <p:nvPr/>
        </p:nvPicPr>
        <p:blipFill>
          <a:blip r:embed="rId4"/>
          <a:stretch>
            <a:fillRect/>
          </a:stretch>
        </p:blipFill>
        <p:spPr>
          <a:xfrm>
            <a:off x="6445240" y="2710000"/>
            <a:ext cx="779999" cy="779999"/>
          </a:xfrm>
          <a:prstGeom prst="rect">
            <a:avLst/>
          </a:prstGeom>
        </p:spPr>
      </p:pic>
      <p:pic>
        <p:nvPicPr>
          <p:cNvPr id="42" name="Card 3 Icon" descr="Stethoscope with rising trend arrow"/>
          <p:cNvPicPr>
            <a:picLocks noChangeAspect="1"/>
          </p:cNvPicPr>
          <p:nvPr/>
        </p:nvPicPr>
        <p:blipFill>
          <a:blip r:embed="rId5"/>
          <a:stretch>
            <a:fillRect/>
          </a:stretch>
        </p:blipFill>
        <p:spPr>
          <a:xfrm>
            <a:off x="1130765" y="4365600"/>
            <a:ext cx="737750" cy="780000"/>
          </a:xfrm>
          <a:prstGeom prst="rect">
            <a:avLst/>
          </a:prstGeom>
        </p:spPr>
      </p:pic>
      <p:pic>
        <p:nvPicPr>
          <p:cNvPr id="43" name="Card 4 Icon" descr="Balance scale with calculator and paw print"/>
          <p:cNvPicPr>
            <a:picLocks noChangeAspect="1"/>
          </p:cNvPicPr>
          <p:nvPr/>
        </p:nvPicPr>
        <p:blipFill>
          <a:blip r:embed="rId6"/>
          <a:stretch>
            <a:fillRect/>
          </a:stretch>
        </p:blipFill>
        <p:spPr>
          <a:xfrm>
            <a:off x="6445240" y="4458378"/>
            <a:ext cx="780000" cy="5944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Pricing a Hybrid Risk</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Health-style claims, P&amp;C-style rules: pricing must bridge both</a:t>
            </a:r>
            <a:endParaRPr lang="en-US" sz="2400"/>
          </a:p>
        </p:txBody>
      </p:sp>
      <p:sp>
        <p:nvSpPr>
          <p:cNvPr id="11" name="Card 1 Accent"/>
          <p:cNvSpPr/>
          <p:nvPr/>
        </p:nvSpPr>
        <p:spPr>
          <a:xfrm>
            <a:off x="8382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2" name="Card 1"/>
          <p:cNvSpPr/>
          <p:nvPr/>
        </p:nvSpPr>
        <p:spPr>
          <a:xfrm>
            <a:off x="8382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b="0" i="0" dirty="0">
                <a:solidFill>
                  <a:srgbClr val="002C71"/>
                </a:solidFill>
                <a:latin typeface="Source Sans 3"/>
                <a:cs typeface="Source Sans 3"/>
              </a:rPr>
              <a:t>Age </a:t>
            </a:r>
            <a:r>
              <a:rPr lang="en-US" sz="2200" b="0" i="0">
                <a:solidFill>
                  <a:srgbClr val="002C71"/>
                </a:solidFill>
                <a:latin typeface="Source Sans 3"/>
                <a:cs typeface="Source Sans 3"/>
              </a:rPr>
              <a:t>curves shape </a:t>
            </a:r>
            <a:r>
              <a:rPr lang="en-US" sz="2200" b="0" i="0" dirty="0">
                <a:solidFill>
                  <a:srgbClr val="002C71"/>
                </a:solidFill>
                <a:latin typeface="Source Sans 3"/>
                <a:cs typeface="Source Sans 3"/>
              </a:rPr>
              <a:t>lifetime loss cost</a:t>
            </a:r>
            <a:r>
              <a:rPr lang="en-US" sz="2200" b="0" i="0">
                <a:solidFill>
                  <a:srgbClr val="002C71"/>
                </a:solidFill>
                <a:latin typeface="Source Sans 3"/>
                <a:cs typeface="Source Sans 3"/>
              </a:rPr>
              <a:t>, not just year‑one premium</a:t>
            </a:r>
            <a:endParaRPr lang="en-US" sz="2200"/>
          </a:p>
        </p:txBody>
      </p:sp>
      <p:sp>
        <p:nvSpPr>
          <p:cNvPr id="15" name="Card 3 Accent"/>
          <p:cNvSpPr/>
          <p:nvPr/>
        </p:nvSpPr>
        <p:spPr>
          <a:xfrm>
            <a:off x="44196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6" name="Card 3"/>
          <p:cNvSpPr/>
          <p:nvPr/>
        </p:nvSpPr>
        <p:spPr>
          <a:xfrm>
            <a:off x="44196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dirty="0">
                <a:solidFill>
                  <a:srgbClr val="002C71"/>
                </a:solidFill>
                <a:latin typeface="Source Sans 3"/>
              </a:rPr>
              <a:t>Chronic conditions persist and recur at each renewal</a:t>
            </a:r>
            <a:endParaRPr lang="en-US" sz="2200"/>
          </a:p>
        </p:txBody>
      </p:sp>
      <p:sp>
        <p:nvSpPr>
          <p:cNvPr id="17" name="Card 4 Accent"/>
          <p:cNvSpPr/>
          <p:nvPr/>
        </p:nvSpPr>
        <p:spPr>
          <a:xfrm>
            <a:off x="80010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8" name="Card 4"/>
          <p:cNvSpPr/>
          <p:nvPr/>
        </p:nvSpPr>
        <p:spPr>
          <a:xfrm>
            <a:off x="80010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b="0" i="0" dirty="0">
                <a:solidFill>
                  <a:srgbClr val="002C71"/>
                </a:solidFill>
                <a:latin typeface="Source Sans 3"/>
                <a:cs typeface="Source Sans 3"/>
              </a:rPr>
              <a:t>Wellness care </a:t>
            </a:r>
            <a:r>
              <a:rPr lang="en-US" sz="2200" b="0" i="0">
                <a:solidFill>
                  <a:srgbClr val="002C71"/>
                </a:solidFill>
                <a:latin typeface="Source Sans 3"/>
                <a:cs typeface="Source Sans 3"/>
              </a:rPr>
              <a:t>is predictable, </a:t>
            </a:r>
            <a:r>
              <a:rPr lang="en-US" sz="2200" b="0" i="0" dirty="0">
                <a:solidFill>
                  <a:srgbClr val="002C71"/>
                </a:solidFill>
                <a:latin typeface="Source Sans 3"/>
                <a:cs typeface="Source Sans 3"/>
              </a:rPr>
              <a:t>not a fortuitous</a:t>
            </a:r>
            <a:r>
              <a:rPr lang="en-US" sz="2200" b="0" i="0">
                <a:solidFill>
                  <a:srgbClr val="002C71"/>
                </a:solidFill>
                <a:latin typeface="Source Sans 3"/>
                <a:cs typeface="Source Sans 3"/>
              </a:rPr>
              <a:t> risk</a:t>
            </a:r>
            <a:endParaRPr lang="en-US" sz="2200"/>
          </a:p>
        </p:txBody>
      </p:sp>
      <p:pic>
        <p:nvPicPr>
          <p:cNvPr id="40" name="Card 1 Icon" descr="Senior dog beside a rising curve"/>
          <p:cNvPicPr>
            <a:picLocks noChangeAspect="1"/>
          </p:cNvPicPr>
          <p:nvPr/>
        </p:nvPicPr>
        <p:blipFill>
          <a:blip r:embed="rId3"/>
          <a:stretch>
            <a:fillRect/>
          </a:stretch>
        </p:blipFill>
        <p:spPr>
          <a:xfrm>
            <a:off x="2124600" y="2671440"/>
            <a:ext cx="780000" cy="780000"/>
          </a:xfrm>
          <a:prstGeom prst="rect">
            <a:avLst/>
          </a:prstGeom>
        </p:spPr>
      </p:pic>
      <p:pic>
        <p:nvPicPr>
          <p:cNvPr id="42" name="Card 3 Icon" descr="Heart with pulse inside repeat arrows"/>
          <p:cNvPicPr>
            <a:picLocks noChangeAspect="1"/>
          </p:cNvPicPr>
          <p:nvPr/>
        </p:nvPicPr>
        <p:blipFill>
          <a:blip r:embed="rId4"/>
          <a:stretch>
            <a:fillRect/>
          </a:stretch>
        </p:blipFill>
        <p:spPr>
          <a:xfrm>
            <a:off x="5706000" y="2671440"/>
            <a:ext cx="780000" cy="780000"/>
          </a:xfrm>
          <a:prstGeom prst="rect">
            <a:avLst/>
          </a:prstGeom>
        </p:spPr>
      </p:pic>
      <p:pic>
        <p:nvPicPr>
          <p:cNvPr id="43" name="Card 4 Icon" descr="Calendar checkmark with syringe"/>
          <p:cNvPicPr>
            <a:picLocks noChangeAspect="1"/>
          </p:cNvPicPr>
          <p:nvPr/>
        </p:nvPicPr>
        <p:blipFill>
          <a:blip r:embed="rId5"/>
          <a:stretch>
            <a:fillRect/>
          </a:stretch>
        </p:blipFill>
        <p:spPr>
          <a:xfrm>
            <a:off x="9287400" y="2671440"/>
            <a:ext cx="780000" cy="78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Regulating a Hybrid Product</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Health-style pricing meets P&amp;C regulatory scrutiny</a:t>
            </a:r>
            <a:endParaRPr lang="en-US" sz="2400"/>
          </a:p>
        </p:txBody>
      </p:sp>
      <p:sp>
        <p:nvSpPr>
          <p:cNvPr id="11" name="Card 1 Accent"/>
          <p:cNvSpPr/>
          <p:nvPr/>
        </p:nvSpPr>
        <p:spPr>
          <a:xfrm>
            <a:off x="8382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2" name="Card 1"/>
          <p:cNvSpPr/>
          <p:nvPr/>
        </p:nvSpPr>
        <p:spPr>
          <a:xfrm>
            <a:off x="8382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b="0" i="0">
                <a:solidFill>
                  <a:srgbClr val="002C71"/>
                </a:solidFill>
                <a:latin typeface="Source Sans 3"/>
                <a:cs typeface="Source Sans 3"/>
              </a:rPr>
              <a:t>Age factors raise renewal rates, but regulators resist automatic trend</a:t>
            </a:r>
            <a:endParaRPr lang="en-US" sz="2200"/>
          </a:p>
        </p:txBody>
      </p:sp>
      <p:sp>
        <p:nvSpPr>
          <p:cNvPr id="15" name="Card 3 Accent"/>
          <p:cNvSpPr/>
          <p:nvPr/>
        </p:nvSpPr>
        <p:spPr>
          <a:xfrm>
            <a:off x="44196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6" name="Card 3"/>
          <p:cNvSpPr/>
          <p:nvPr/>
        </p:nvSpPr>
        <p:spPr>
          <a:xfrm>
            <a:off x="44196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dirty="0">
                <a:solidFill>
                  <a:srgbClr val="002C71"/>
                </a:solidFill>
                <a:latin typeface="Source Sans 3"/>
              </a:rPr>
              <a:t>Pricing on utilization draws regulatory pushback</a:t>
            </a:r>
            <a:endParaRPr lang="en-US" sz="2200" dirty="0"/>
          </a:p>
        </p:txBody>
      </p:sp>
      <p:sp>
        <p:nvSpPr>
          <p:cNvPr id="17" name="Card 4 Accent"/>
          <p:cNvSpPr/>
          <p:nvPr/>
        </p:nvSpPr>
        <p:spPr>
          <a:xfrm>
            <a:off x="80010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8" name="Card 4"/>
          <p:cNvSpPr/>
          <p:nvPr/>
        </p:nvSpPr>
        <p:spPr>
          <a:xfrm>
            <a:off x="8001000" y="2441440"/>
            <a:ext cx="3352800" cy="2458560"/>
          </a:xfrm>
          <a:prstGeom prst="rect">
            <a:avLst/>
          </a:prstGeom>
          <a:solidFill>
            <a:srgbClr val="FFFFFF"/>
          </a:solidFill>
          <a:ln>
            <a:noFill/>
          </a:ln>
        </p:spPr>
        <p:txBody>
          <a:bodyPr wrap="square" lIns="182880" tIns="1130000" rIns="182880" bIns="91440" rtlCol="0" anchor="t">
            <a:normAutofit lnSpcReduction="10000"/>
          </a:bodyPr>
          <a:lstStyle/>
          <a:p>
            <a:pPr algn="ctr"/>
            <a:r>
              <a:rPr lang="en-US" sz="2200" b="0" i="0" dirty="0">
                <a:solidFill>
                  <a:srgbClr val="002C71"/>
                </a:solidFill>
                <a:latin typeface="Source Sans 3"/>
                <a:cs typeface="Source Sans 3"/>
              </a:rPr>
              <a:t>Health-style exclusions and waiting periods require P&amp;C-style disclosure</a:t>
            </a:r>
            <a:endParaRPr lang="en-US" sz="2200" dirty="0"/>
          </a:p>
        </p:txBody>
      </p:sp>
      <p:pic>
        <p:nvPicPr>
          <p:cNvPr id="40" name="Card 1 Icon" descr="Renewal arrows around a dollar sign with an up arrow"/>
          <p:cNvPicPr>
            <a:picLocks noChangeAspect="1"/>
          </p:cNvPicPr>
          <p:nvPr/>
        </p:nvPicPr>
        <p:blipFill>
          <a:blip r:embed="rId3"/>
          <a:stretch>
            <a:fillRect/>
          </a:stretch>
        </p:blipFill>
        <p:spPr>
          <a:xfrm>
            <a:off x="2124600" y="2671440"/>
            <a:ext cx="780000" cy="780000"/>
          </a:xfrm>
          <a:prstGeom prst="rect">
            <a:avLst/>
          </a:prstGeom>
        </p:spPr>
      </p:pic>
      <p:pic>
        <p:nvPicPr>
          <p:cNvPr id="42" name="Card 3 Icon" descr="Magnifying glass over a medical clipboard"/>
          <p:cNvPicPr>
            <a:picLocks noChangeAspect="1"/>
          </p:cNvPicPr>
          <p:nvPr/>
        </p:nvPicPr>
        <p:blipFill>
          <a:blip r:embed="rId4"/>
          <a:stretch>
            <a:fillRect/>
          </a:stretch>
        </p:blipFill>
        <p:spPr>
          <a:xfrm>
            <a:off x="5706000" y="2671440"/>
            <a:ext cx="780000" cy="780000"/>
          </a:xfrm>
          <a:prstGeom prst="rect">
            <a:avLst/>
          </a:prstGeom>
        </p:spPr>
      </p:pic>
      <p:pic>
        <p:nvPicPr>
          <p:cNvPr id="43" name="Card 4 Icon" descr="Document with an eye symbol"/>
          <p:cNvPicPr>
            <a:picLocks noChangeAspect="1"/>
          </p:cNvPicPr>
          <p:nvPr/>
        </p:nvPicPr>
        <p:blipFill>
          <a:blip r:embed="rId5"/>
          <a:stretch>
            <a:fillRect/>
          </a:stretch>
        </p:blipFill>
        <p:spPr>
          <a:xfrm>
            <a:off x="9287400" y="2671440"/>
            <a:ext cx="780000" cy="78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C5373-61D0-FE42-99A1-9CAFC361463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1478B2D-D553-1628-9CBC-C970BF8A3A0C}"/>
              </a:ext>
            </a:extLst>
          </p:cNvPr>
          <p:cNvSpPr txBox="1">
            <a:spLocks/>
          </p:cNvSpPr>
          <p:nvPr/>
        </p:nvSpPr>
        <p:spPr>
          <a:xfrm>
            <a:off x="809404" y="1616382"/>
            <a:ext cx="3900000" cy="1400000"/>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l"/>
            <a:r>
              <a:rPr lang="en-US" sz="3600" b="1" dirty="0">
                <a:solidFill>
                  <a:srgbClr val="002C71"/>
                </a:solidFill>
                <a:latin typeface="Montserrat" panose="00000500000000000000" pitchFamily="2" charset="0"/>
              </a:rPr>
              <a:t>Millennials Are Saving The Industry</a:t>
            </a:r>
          </a:p>
        </p:txBody>
      </p:sp>
      <p:sp>
        <p:nvSpPr>
          <p:cNvPr id="4" name="Rounded Rectangle 3">
            <a:extLst>
              <a:ext uri="{FF2B5EF4-FFF2-40B4-BE49-F238E27FC236}">
                <a16:creationId xmlns:a16="http://schemas.microsoft.com/office/drawing/2014/main" id="{1A6346C6-9FEE-013C-0FBF-BD8073C83AE5}"/>
              </a:ext>
            </a:extLst>
          </p:cNvPr>
          <p:cNvSpPr/>
          <p:nvPr/>
        </p:nvSpPr>
        <p:spPr>
          <a:xfrm>
            <a:off x="4824916" y="1615442"/>
            <a:ext cx="6536987" cy="3997418"/>
          </a:xfrm>
          <a:prstGeom prst="roundRect">
            <a:avLst>
              <a:gd name="adj" fmla="val 3411"/>
            </a:avLst>
          </a:prstGeom>
          <a:solidFill>
            <a:srgbClr val="E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CE8"/>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B50E4D29-75F7-E142-21F9-59E9B764522B}"/>
              </a:ext>
            </a:extLst>
          </p:cNvPr>
          <p:cNvSpPr txBox="1">
            <a:spLocks/>
          </p:cNvSpPr>
          <p:nvPr/>
        </p:nvSpPr>
        <p:spPr>
          <a:xfrm>
            <a:off x="4824917" y="1615442"/>
            <a:ext cx="6536987" cy="39974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002C71"/>
                </a:solidFill>
                <a:latin typeface="Source Sans 3"/>
                <a:cs typeface="Source Sans 3"/>
              </a:rPr>
              <a:t>Explosive growth in an old product</a:t>
            </a:r>
          </a:p>
          <a:p>
            <a:pPr marL="0" indent="0">
              <a:buNone/>
            </a:pPr>
            <a:r>
              <a:rPr lang="en-US" dirty="0">
                <a:solidFill>
                  <a:srgbClr val="002C71"/>
                </a:solidFill>
                <a:latin typeface="Source Sans 3"/>
                <a:cs typeface="Source Sans 3"/>
              </a:rPr>
              <a:t>More than forty years since the first policy (Lassie, 1982)</a:t>
            </a:r>
          </a:p>
          <a:p>
            <a:pPr marL="0" indent="0">
              <a:buNone/>
            </a:pPr>
            <a:endParaRPr lang="en-US" dirty="0">
              <a:solidFill>
                <a:srgbClr val="002C71"/>
              </a:solidFill>
              <a:latin typeface="Source Sans 3"/>
              <a:cs typeface="Source Sans 3"/>
            </a:endParaRPr>
          </a:p>
          <a:p>
            <a:pPr marL="0" indent="0">
              <a:buNone/>
            </a:pPr>
            <a:r>
              <a:rPr lang="en-US" i="1" dirty="0">
                <a:solidFill>
                  <a:srgbClr val="002C71"/>
                </a:solidFill>
                <a:latin typeface="Source Sans 3"/>
                <a:cs typeface="Source Sans 3"/>
              </a:rPr>
              <a:t>What do you do when the book doubles before the losses do?</a:t>
            </a:r>
            <a:endParaRPr lang="en-US" dirty="0">
              <a:solidFill>
                <a:srgbClr val="002C71"/>
              </a:solidFill>
              <a:latin typeface="Source Sans 3"/>
              <a:cs typeface="Source Sans 3"/>
            </a:endParaRPr>
          </a:p>
          <a:p>
            <a:pPr marL="0" indent="0">
              <a:buNone/>
            </a:pPr>
            <a:endParaRPr lang="en-US" dirty="0">
              <a:solidFill>
                <a:srgbClr val="002C71"/>
              </a:solidFill>
              <a:latin typeface="Source Sans 3"/>
              <a:cs typeface="Source Sans 3"/>
            </a:endParaRPr>
          </a:p>
          <a:p>
            <a:pPr marL="0" indent="0">
              <a:buNone/>
            </a:pPr>
            <a:endParaRPr lang="en-US" dirty="0">
              <a:solidFill>
                <a:srgbClr val="002C71"/>
              </a:solidFill>
              <a:latin typeface="Source Sans 3"/>
              <a:cs typeface="Source Sans 3"/>
            </a:endParaRPr>
          </a:p>
        </p:txBody>
      </p:sp>
      <p:sp>
        <p:nvSpPr>
          <p:cNvPr id="900" name="Image Placeholder" descr="Image placeholder: Young owner with a new puppy"/>
          <p:cNvSpPr/>
          <p:nvPr/>
        </p:nvSpPr>
        <p:spPr>
          <a:xfrm>
            <a:off x="809404" y="3700000"/>
            <a:ext cx="3800000" cy="1912860"/>
          </a:xfrm>
          <a:prstGeom prst="roundRect">
            <a:avLst>
              <a:gd name="adj" fmla="val 6000"/>
            </a:avLst>
          </a:prstGeom>
          <a:solidFill>
            <a:srgbClr val="F2F2F2"/>
          </a:solidFill>
          <a:ln w="19050">
            <a:solidFill>
              <a:srgbClr val="002C71"/>
            </a:solidFill>
            <a:prstDash val="dash"/>
          </a:ln>
        </p:spPr>
        <p:txBody>
          <a:bodyPr lIns="182880" rIns="182880" anchor="ctr">
            <a:normAutofit/>
          </a:bodyPr>
          <a:lstStyle/>
          <a:p>
            <a:pPr algn="ctr"/>
            <a:r>
              <a:rPr lang="en-US" sz="1400" b="1" dirty="0">
                <a:solidFill>
                  <a:srgbClr val="595959"/>
                </a:solidFill>
                <a:latin typeface="Source Sans 3"/>
                <a:cs typeface="Source Sans 3"/>
              </a:rPr>
              <a:t>Image placeholder</a:t>
            </a:r>
          </a:p>
        </p:txBody>
      </p:sp>
    </p:spTree>
    <p:extLst>
      <p:ext uri="{BB962C8B-B14F-4D97-AF65-F5344CB8AC3E}">
        <p14:creationId xmlns:p14="http://schemas.microsoft.com/office/powerpoint/2010/main" val="716319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Growth Without Innovation</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Exposure is booming; product design is not</a:t>
            </a:r>
            <a:endParaRPr lang="en-US" sz="2400"/>
          </a:p>
        </p:txBody>
      </p:sp>
      <p:sp>
        <p:nvSpPr>
          <p:cNvPr id="11" name="Card 1 Accent"/>
          <p:cNvSpPr/>
          <p:nvPr/>
        </p:nvSpPr>
        <p:spPr>
          <a:xfrm>
            <a:off x="8382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2" name="Card 1"/>
          <p:cNvSpPr/>
          <p:nvPr/>
        </p:nvSpPr>
        <p:spPr>
          <a:xfrm>
            <a:off x="9296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New carriers and subsidiaries enter on low rates, not new products</a:t>
            </a:r>
            <a:endParaRPr lang="en-US" sz="2200"/>
          </a:p>
        </p:txBody>
      </p:sp>
      <p:sp>
        <p:nvSpPr>
          <p:cNvPr id="13" name="Card 2 Accent"/>
          <p:cNvSpPr/>
          <p:nvPr/>
        </p:nvSpPr>
        <p:spPr>
          <a:xfrm>
            <a:off x="61738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4" name="Card 2"/>
          <p:cNvSpPr/>
          <p:nvPr/>
        </p:nvSpPr>
        <p:spPr>
          <a:xfrm>
            <a:off x="62652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Copycat coverage leaves price as the main way to compete</a:t>
            </a:r>
            <a:endParaRPr lang="en-US" sz="2200"/>
          </a:p>
        </p:txBody>
      </p:sp>
      <p:sp>
        <p:nvSpPr>
          <p:cNvPr id="15" name="Card 3 Accent"/>
          <p:cNvSpPr/>
          <p:nvPr/>
        </p:nvSpPr>
        <p:spPr>
          <a:xfrm>
            <a:off x="8382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6" name="Card 3"/>
          <p:cNvSpPr/>
          <p:nvPr/>
        </p:nvSpPr>
        <p:spPr>
          <a:xfrm>
            <a:off x="9296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Penetration stays low: cost, confusion, exclusions</a:t>
            </a:r>
            <a:endParaRPr lang="en-US" sz="2200"/>
          </a:p>
        </p:txBody>
      </p:sp>
      <p:sp>
        <p:nvSpPr>
          <p:cNvPr id="17" name="Card 4 Accent"/>
          <p:cNvSpPr/>
          <p:nvPr/>
        </p:nvSpPr>
        <p:spPr>
          <a:xfrm>
            <a:off x="61738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8" name="Card 4"/>
          <p:cNvSpPr/>
          <p:nvPr/>
        </p:nvSpPr>
        <p:spPr>
          <a:xfrm>
            <a:off x="62652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Distribution is innovating; the products themselves are not</a:t>
            </a:r>
            <a:endParaRPr lang="en-US" sz="2200"/>
          </a:p>
        </p:txBody>
      </p:sp>
      <p:pic>
        <p:nvPicPr>
          <p:cNvPr id="40" name="Card 1 Icon" descr="Icon: new carrier entering the market"/>
          <p:cNvPicPr>
            <a:picLocks noChangeAspect="1"/>
          </p:cNvPicPr>
          <p:nvPr/>
        </p:nvPicPr>
        <p:blipFill>
          <a:blip r:embed="rId3"/>
          <a:stretch>
            <a:fillRect/>
          </a:stretch>
        </p:blipFill>
        <p:spPr>
          <a:xfrm>
            <a:off x="1130765" y="2710000"/>
            <a:ext cx="780000" cy="780000"/>
          </a:xfrm>
          <a:prstGeom prst="rect">
            <a:avLst/>
          </a:prstGeom>
        </p:spPr>
      </p:pic>
      <p:pic>
        <p:nvPicPr>
          <p:cNvPr id="41" name="Card 2 Icon" descr="Icon: identical copied policies"/>
          <p:cNvPicPr>
            <a:picLocks noChangeAspect="1"/>
          </p:cNvPicPr>
          <p:nvPr/>
        </p:nvPicPr>
        <p:blipFill>
          <a:blip r:embed="rId4"/>
          <a:stretch>
            <a:fillRect/>
          </a:stretch>
        </p:blipFill>
        <p:spPr>
          <a:xfrm>
            <a:off x="6445240" y="2710000"/>
            <a:ext cx="780000" cy="780000"/>
          </a:xfrm>
          <a:prstGeom prst="rect">
            <a:avLst/>
          </a:prstGeom>
        </p:spPr>
      </p:pic>
      <p:pic>
        <p:nvPicPr>
          <p:cNvPr id="42" name="Card 3 Icon" descr="Icon: low market penetration"/>
          <p:cNvPicPr>
            <a:picLocks noChangeAspect="1"/>
          </p:cNvPicPr>
          <p:nvPr/>
        </p:nvPicPr>
        <p:blipFill>
          <a:blip r:embed="rId5"/>
          <a:stretch>
            <a:fillRect/>
          </a:stretch>
        </p:blipFill>
        <p:spPr>
          <a:xfrm>
            <a:off x="1130765" y="4365600"/>
            <a:ext cx="780000" cy="780000"/>
          </a:xfrm>
          <a:prstGeom prst="rect">
            <a:avLst/>
          </a:prstGeom>
        </p:spPr>
      </p:pic>
      <p:pic>
        <p:nvPicPr>
          <p:cNvPr id="43" name="Card 4 Icon" descr="Icon: connected distribution network with a sales tag"/>
          <p:cNvPicPr>
            <a:picLocks noChangeAspect="1"/>
          </p:cNvPicPr>
          <p:nvPr/>
        </p:nvPicPr>
        <p:blipFill>
          <a:blip r:embed="rId6"/>
          <a:stretch>
            <a:fillRect/>
          </a:stretch>
        </p:blipFill>
        <p:spPr>
          <a:xfrm>
            <a:off x="6445240" y="4365600"/>
            <a:ext cx="780000" cy="78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Pricing a Fast-Growing Book</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Growth outran the data; pricing must catch up</a:t>
            </a:r>
            <a:endParaRPr lang="en-US" sz="2400"/>
          </a:p>
        </p:txBody>
      </p:sp>
      <p:sp>
        <p:nvSpPr>
          <p:cNvPr id="11" name="Card 1 Accent"/>
          <p:cNvSpPr/>
          <p:nvPr/>
        </p:nvSpPr>
        <p:spPr>
          <a:xfrm>
            <a:off x="8382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2" name="Card 1"/>
          <p:cNvSpPr/>
          <p:nvPr/>
        </p:nvSpPr>
        <p:spPr>
          <a:xfrm>
            <a:off x="9296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Thin loss history made adverse selection common and costly</a:t>
            </a:r>
            <a:endParaRPr lang="en-US" sz="2200"/>
          </a:p>
        </p:txBody>
      </p:sp>
      <p:sp>
        <p:nvSpPr>
          <p:cNvPr id="13" name="Card 2 Accent"/>
          <p:cNvSpPr/>
          <p:nvPr/>
        </p:nvSpPr>
        <p:spPr>
          <a:xfrm>
            <a:off x="61738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4" name="Card 2"/>
          <p:cNvSpPr/>
          <p:nvPr/>
        </p:nvSpPr>
        <p:spPr>
          <a:xfrm>
            <a:off x="62652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Growth strains adequacy: file rate increases early and often</a:t>
            </a:r>
            <a:endParaRPr lang="en-US" sz="2200"/>
          </a:p>
        </p:txBody>
      </p:sp>
      <p:sp>
        <p:nvSpPr>
          <p:cNvPr id="15" name="Card 3 Accent"/>
          <p:cNvSpPr/>
          <p:nvPr/>
        </p:nvSpPr>
        <p:spPr>
          <a:xfrm>
            <a:off x="8382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6" name="Card 3"/>
          <p:cNvSpPr/>
          <p:nvPr/>
        </p:nvSpPr>
        <p:spPr>
          <a:xfrm>
            <a:off x="9296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New data makes sophisticated pricing possible and necessary</a:t>
            </a:r>
            <a:endParaRPr lang="en-US" sz="2200"/>
          </a:p>
        </p:txBody>
      </p:sp>
      <p:sp>
        <p:nvSpPr>
          <p:cNvPr id="17" name="Card 4 Accent"/>
          <p:cNvSpPr/>
          <p:nvPr/>
        </p:nvSpPr>
        <p:spPr>
          <a:xfrm>
            <a:off x="61738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8" name="Card 4"/>
          <p:cNvSpPr/>
          <p:nvPr/>
        </p:nvSpPr>
        <p:spPr>
          <a:xfrm>
            <a:off x="62652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Big increases push healthy pets out, worsening the pool</a:t>
            </a:r>
            <a:endParaRPr lang="en-US" sz="2200"/>
          </a:p>
        </p:txBody>
      </p:sp>
      <p:pic>
        <p:nvPicPr>
          <p:cNvPr id="40" name="Card 1 Icon" descr="Icon: thin loss history"/>
          <p:cNvPicPr>
            <a:picLocks noChangeAspect="1"/>
          </p:cNvPicPr>
          <p:nvPr/>
        </p:nvPicPr>
        <p:blipFill>
          <a:blip r:embed="rId3"/>
          <a:stretch>
            <a:fillRect/>
          </a:stretch>
        </p:blipFill>
        <p:spPr>
          <a:xfrm>
            <a:off x="1130765" y="2710000"/>
            <a:ext cx="780000" cy="780000"/>
          </a:xfrm>
          <a:prstGeom prst="rect">
            <a:avLst/>
          </a:prstGeom>
        </p:spPr>
      </p:pic>
      <p:pic>
        <p:nvPicPr>
          <p:cNvPr id="41" name="Card 2 Icon" descr="Icon: rate filing increase"/>
          <p:cNvPicPr>
            <a:picLocks noChangeAspect="1"/>
          </p:cNvPicPr>
          <p:nvPr/>
        </p:nvPicPr>
        <p:blipFill>
          <a:blip r:embed="rId4"/>
          <a:stretch>
            <a:fillRect/>
          </a:stretch>
        </p:blipFill>
        <p:spPr>
          <a:xfrm>
            <a:off x="6445240" y="2710000"/>
            <a:ext cx="780000" cy="780000"/>
          </a:xfrm>
          <a:prstGeom prst="rect">
            <a:avLst/>
          </a:prstGeom>
        </p:spPr>
      </p:pic>
      <p:pic>
        <p:nvPicPr>
          <p:cNvPr id="42" name="Card 3 Icon" descr="Icon: data-driven pricing"/>
          <p:cNvPicPr>
            <a:picLocks noChangeAspect="1"/>
          </p:cNvPicPr>
          <p:nvPr/>
        </p:nvPicPr>
        <p:blipFill>
          <a:blip r:embed="rId5"/>
          <a:stretch>
            <a:fillRect/>
          </a:stretch>
        </p:blipFill>
        <p:spPr>
          <a:xfrm>
            <a:off x="1130765" y="4365600"/>
            <a:ext cx="780000" cy="780000"/>
          </a:xfrm>
          <a:prstGeom prst="rect">
            <a:avLst/>
          </a:prstGeom>
        </p:spPr>
      </p:pic>
      <p:pic>
        <p:nvPicPr>
          <p:cNvPr id="43" name="Card 4 Icon" descr="Icon: healthy dog leaving through a door with a downward arrow"/>
          <p:cNvPicPr>
            <a:picLocks noChangeAspect="1"/>
          </p:cNvPicPr>
          <p:nvPr/>
        </p:nvPicPr>
        <p:blipFill>
          <a:blip r:embed="rId6"/>
          <a:stretch>
            <a:fillRect/>
          </a:stretch>
        </p:blipFill>
        <p:spPr>
          <a:xfrm>
            <a:off x="6445240" y="4365600"/>
            <a:ext cx="780000" cy="78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Regulation Catches Up</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Rapid growth is earning pet insurance its own rules</a:t>
            </a:r>
            <a:endParaRPr lang="en-US" sz="2400"/>
          </a:p>
        </p:txBody>
      </p:sp>
      <p:sp>
        <p:nvSpPr>
          <p:cNvPr id="11" name="Card 1 Accent"/>
          <p:cNvSpPr/>
          <p:nvPr/>
        </p:nvSpPr>
        <p:spPr>
          <a:xfrm>
            <a:off x="8382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2" name="Card 1"/>
          <p:cNvSpPr/>
          <p:nvPr/>
        </p:nvSpPr>
        <p:spPr>
          <a:xfrm>
            <a:off x="8382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b="0" i="0" dirty="0">
                <a:solidFill>
                  <a:srgbClr val="002C71"/>
                </a:solidFill>
                <a:latin typeface="Source Sans 3"/>
                <a:cs typeface="Source Sans 3"/>
              </a:rPr>
              <a:t>Pet is only now becoming its own line with regulatory distinction</a:t>
            </a:r>
            <a:endParaRPr lang="en-US" sz="2200" dirty="0"/>
          </a:p>
        </p:txBody>
      </p:sp>
      <p:sp>
        <p:nvSpPr>
          <p:cNvPr id="15" name="Card 3 Accent"/>
          <p:cNvSpPr/>
          <p:nvPr/>
        </p:nvSpPr>
        <p:spPr>
          <a:xfrm>
            <a:off x="44196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6" name="Card 3"/>
          <p:cNvSpPr/>
          <p:nvPr/>
        </p:nvSpPr>
        <p:spPr>
          <a:xfrm>
            <a:off x="44196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a:solidFill>
                  <a:srgbClr val="002C71"/>
                </a:solidFill>
                <a:latin typeface="Source Sans 3"/>
              </a:rPr>
              <a:t>More states continue to adopt the NAIC Pet Insurance Model Act</a:t>
            </a:r>
            <a:endParaRPr lang="en-US" sz="2200"/>
          </a:p>
        </p:txBody>
      </p:sp>
      <p:sp>
        <p:nvSpPr>
          <p:cNvPr id="17" name="Card 4 Accent"/>
          <p:cNvSpPr/>
          <p:nvPr/>
        </p:nvSpPr>
        <p:spPr>
          <a:xfrm>
            <a:off x="80010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8" name="Card 4"/>
          <p:cNvSpPr/>
          <p:nvPr/>
        </p:nvSpPr>
        <p:spPr>
          <a:xfrm>
            <a:off x="80010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b="0" i="0">
                <a:solidFill>
                  <a:srgbClr val="002C71"/>
                </a:solidFill>
                <a:latin typeface="Source Sans 3"/>
                <a:cs typeface="Source Sans 3"/>
              </a:rPr>
              <a:t>Disclosure and consumer protection rules keep evolving</a:t>
            </a:r>
            <a:endParaRPr lang="en-US" sz="2200"/>
          </a:p>
        </p:txBody>
      </p:sp>
      <p:pic>
        <p:nvPicPr>
          <p:cNvPr id="40" name="Card 1 Icon" descr="One folder separated from a stack"/>
          <p:cNvPicPr>
            <a:picLocks noChangeAspect="1"/>
          </p:cNvPicPr>
          <p:nvPr/>
        </p:nvPicPr>
        <p:blipFill>
          <a:blip r:embed="rId3"/>
          <a:stretch>
            <a:fillRect/>
          </a:stretch>
        </p:blipFill>
        <p:spPr>
          <a:xfrm>
            <a:off x="2124600" y="2671440"/>
            <a:ext cx="780000" cy="780000"/>
          </a:xfrm>
          <a:prstGeom prst="rect">
            <a:avLst/>
          </a:prstGeom>
        </p:spPr>
      </p:pic>
      <p:pic>
        <p:nvPicPr>
          <p:cNvPr id="42" name="Card 3 Icon" descr="Government building with a checkmark"/>
          <p:cNvPicPr>
            <a:picLocks noChangeAspect="1"/>
          </p:cNvPicPr>
          <p:nvPr/>
        </p:nvPicPr>
        <p:blipFill>
          <a:blip r:embed="rId4"/>
          <a:stretch>
            <a:fillRect/>
          </a:stretch>
        </p:blipFill>
        <p:spPr>
          <a:xfrm>
            <a:off x="5706000" y="2671440"/>
            <a:ext cx="780000" cy="780000"/>
          </a:xfrm>
          <a:prstGeom prst="rect">
            <a:avLst/>
          </a:prstGeom>
        </p:spPr>
      </p:pic>
      <p:pic>
        <p:nvPicPr>
          <p:cNvPr id="43" name="Card 4 Icon" descr="Document with a shield and refresh arrows"/>
          <p:cNvPicPr>
            <a:picLocks noChangeAspect="1"/>
          </p:cNvPicPr>
          <p:nvPr/>
        </p:nvPicPr>
        <p:blipFill>
          <a:blip r:embed="rId5"/>
          <a:stretch>
            <a:fillRect/>
          </a:stretch>
        </p:blipFill>
        <p:spPr>
          <a:xfrm>
            <a:off x="9287400" y="2671440"/>
            <a:ext cx="780000" cy="78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86491-1C97-E5F3-91F6-DE74A02069A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91E6844-811E-D216-E104-0C1085111FA8}"/>
              </a:ext>
            </a:extLst>
          </p:cNvPr>
          <p:cNvSpPr txBox="1">
            <a:spLocks/>
          </p:cNvSpPr>
          <p:nvPr/>
        </p:nvSpPr>
        <p:spPr>
          <a:xfrm>
            <a:off x="809404" y="1616382"/>
            <a:ext cx="3900000" cy="1400000"/>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l"/>
            <a:r>
              <a:rPr lang="en-US" sz="3600" b="1" dirty="0">
                <a:solidFill>
                  <a:srgbClr val="002C71"/>
                </a:solidFill>
                <a:latin typeface="Montserrat" panose="00000500000000000000" pitchFamily="2" charset="0"/>
              </a:rPr>
              <a:t>Millennials Are Killing The Industry</a:t>
            </a:r>
          </a:p>
        </p:txBody>
      </p:sp>
      <p:sp>
        <p:nvSpPr>
          <p:cNvPr id="4" name="Rounded Rectangle 3">
            <a:extLst>
              <a:ext uri="{FF2B5EF4-FFF2-40B4-BE49-F238E27FC236}">
                <a16:creationId xmlns:a16="http://schemas.microsoft.com/office/drawing/2014/main" id="{18F131EC-3B00-41EB-4153-E2567BAAEA9F}"/>
              </a:ext>
            </a:extLst>
          </p:cNvPr>
          <p:cNvSpPr/>
          <p:nvPr/>
        </p:nvSpPr>
        <p:spPr>
          <a:xfrm>
            <a:off x="4824916" y="1615442"/>
            <a:ext cx="6536987" cy="3997418"/>
          </a:xfrm>
          <a:prstGeom prst="roundRect">
            <a:avLst>
              <a:gd name="adj" fmla="val 3411"/>
            </a:avLst>
          </a:prstGeom>
          <a:solidFill>
            <a:srgbClr val="E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CE8"/>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F122EE40-EC31-64F1-D9F3-58A2B812133D}"/>
              </a:ext>
            </a:extLst>
          </p:cNvPr>
          <p:cNvSpPr txBox="1">
            <a:spLocks/>
          </p:cNvSpPr>
          <p:nvPr/>
        </p:nvSpPr>
        <p:spPr>
          <a:xfrm>
            <a:off x="4824917" y="1615442"/>
            <a:ext cx="6536987" cy="39974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rgbClr val="002C71"/>
                </a:solidFill>
                <a:latin typeface="Source Sans 3"/>
                <a:cs typeface="Source Sans 3"/>
              </a:rPr>
              <a:t>Dramatic inflation and behavior growth</a:t>
            </a:r>
          </a:p>
          <a:p>
            <a:pPr marL="0" indent="0">
              <a:buNone/>
            </a:pPr>
            <a:r>
              <a:rPr lang="en-US">
                <a:solidFill>
                  <a:srgbClr val="002C71"/>
                </a:solidFill>
                <a:latin typeface="Source Sans 3"/>
                <a:cs typeface="Source Sans 3"/>
              </a:rPr>
              <a:t>Higher vet costs, more advanced treatment, increased utilization, and greater consumer demand are pushing claim costs up faster than the book is growing.</a:t>
            </a:r>
          </a:p>
          <a:p>
            <a:pPr marL="0" indent="0">
              <a:buNone/>
            </a:pPr>
            <a:endParaRPr lang="en-US" i="1">
              <a:solidFill>
                <a:srgbClr val="002C71"/>
              </a:solidFill>
              <a:latin typeface="Source Sans 3"/>
              <a:cs typeface="Source Sans 3"/>
            </a:endParaRPr>
          </a:p>
          <a:p>
            <a:pPr marL="0" indent="0">
              <a:buNone/>
            </a:pPr>
            <a:r>
              <a:rPr lang="en-US" i="1">
                <a:solidFill>
                  <a:srgbClr val="002C71"/>
                </a:solidFill>
                <a:latin typeface="Source Sans 3"/>
                <a:cs typeface="Source Sans 3"/>
              </a:rPr>
              <a:t>What happens when pets get human-grade medicine, and owners want to use all of it?</a:t>
            </a:r>
          </a:p>
        </p:txBody>
      </p:sp>
      <p:sp>
        <p:nvSpPr>
          <p:cNvPr id="900" name="Image Placeholder" descr="Image placeholder: Pet in a high-tech vet clinic"/>
          <p:cNvSpPr/>
          <p:nvPr/>
        </p:nvSpPr>
        <p:spPr>
          <a:xfrm>
            <a:off x="809404" y="3700000"/>
            <a:ext cx="3800000" cy="1912860"/>
          </a:xfrm>
          <a:prstGeom prst="roundRect">
            <a:avLst>
              <a:gd name="adj" fmla="val 6000"/>
            </a:avLst>
          </a:prstGeom>
          <a:solidFill>
            <a:srgbClr val="F2F2F2"/>
          </a:solidFill>
          <a:ln w="19050">
            <a:solidFill>
              <a:srgbClr val="002C71"/>
            </a:solidFill>
            <a:prstDash val="dash"/>
          </a:ln>
        </p:spPr>
        <p:txBody>
          <a:bodyPr lIns="182880" rIns="182880" anchor="ctr">
            <a:normAutofit/>
          </a:bodyPr>
          <a:lstStyle/>
          <a:p>
            <a:pPr algn="ctr"/>
            <a:r>
              <a:rPr lang="en-US" sz="1400" b="1" dirty="0">
                <a:solidFill>
                  <a:srgbClr val="595959"/>
                </a:solidFill>
                <a:latin typeface="Source Sans 3"/>
                <a:cs typeface="Source Sans 3"/>
              </a:rPr>
              <a:t>Image placeholder</a:t>
            </a:r>
          </a:p>
        </p:txBody>
      </p:sp>
    </p:spTree>
    <p:extLst>
      <p:ext uri="{BB962C8B-B14F-4D97-AF65-F5344CB8AC3E}">
        <p14:creationId xmlns:p14="http://schemas.microsoft.com/office/powerpoint/2010/main" val="225719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Designing for Better Care</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Rising care standards reshape what policies must cover</a:t>
            </a:r>
            <a:endParaRPr lang="en-US" sz="2400"/>
          </a:p>
        </p:txBody>
      </p:sp>
      <p:sp>
        <p:nvSpPr>
          <p:cNvPr id="11" name="Card 1 Accent"/>
          <p:cNvSpPr/>
          <p:nvPr/>
        </p:nvSpPr>
        <p:spPr>
          <a:xfrm>
            <a:off x="8382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2" name="Card 1"/>
          <p:cNvSpPr/>
          <p:nvPr/>
        </p:nvSpPr>
        <p:spPr>
          <a:xfrm>
            <a:off x="9296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Insureds increasingly expect the “gold standard” of care</a:t>
            </a:r>
            <a:endParaRPr lang="en-US" sz="2200"/>
          </a:p>
        </p:txBody>
      </p:sp>
      <p:sp>
        <p:nvSpPr>
          <p:cNvPr id="13" name="Card 2 Accent"/>
          <p:cNvSpPr/>
          <p:nvPr/>
        </p:nvSpPr>
        <p:spPr>
          <a:xfrm>
            <a:off x="61738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4" name="Card 2"/>
          <p:cNvSpPr/>
          <p:nvPr/>
        </p:nvSpPr>
        <p:spPr>
          <a:xfrm>
            <a:off x="62652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Having coverage itself drives utilization and inflation</a:t>
            </a:r>
            <a:endParaRPr lang="en-US" sz="2200"/>
          </a:p>
        </p:txBody>
      </p:sp>
      <p:sp>
        <p:nvSpPr>
          <p:cNvPr id="15" name="Card 3 Accent"/>
          <p:cNvSpPr/>
          <p:nvPr/>
        </p:nvSpPr>
        <p:spPr>
          <a:xfrm>
            <a:off x="8382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6" name="Card 3"/>
          <p:cNvSpPr/>
          <p:nvPr/>
        </p:nvSpPr>
        <p:spPr>
          <a:xfrm>
            <a:off x="9296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Coverage must keep pace: telemedicine, rehab, alternative care</a:t>
            </a:r>
            <a:endParaRPr lang="en-US" sz="2200"/>
          </a:p>
        </p:txBody>
      </p:sp>
      <p:sp>
        <p:nvSpPr>
          <p:cNvPr id="17" name="Card 4 Accent"/>
          <p:cNvSpPr/>
          <p:nvPr/>
        </p:nvSpPr>
        <p:spPr>
          <a:xfrm>
            <a:off x="61738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8" name="Card 4"/>
          <p:cNvSpPr/>
          <p:nvPr/>
        </p:nvSpPr>
        <p:spPr>
          <a:xfrm>
            <a:off x="62652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Fixed deductibles and limits erode as vet costs rise</a:t>
            </a:r>
            <a:endParaRPr lang="en-US" sz="2200"/>
          </a:p>
        </p:txBody>
      </p:sp>
      <p:pic>
        <p:nvPicPr>
          <p:cNvPr id="40" name="Card 1 Icon" descr="Icon: gold medal with medical cross"/>
          <p:cNvPicPr>
            <a:picLocks noChangeAspect="1"/>
          </p:cNvPicPr>
          <p:nvPr/>
        </p:nvPicPr>
        <p:blipFill>
          <a:blip r:embed="rId3"/>
          <a:stretch>
            <a:fillRect/>
          </a:stretch>
        </p:blipFill>
        <p:spPr>
          <a:xfrm>
            <a:off x="1130765" y="2710000"/>
            <a:ext cx="780000" cy="780000"/>
          </a:xfrm>
          <a:prstGeom prst="rect">
            <a:avLst/>
          </a:prstGeom>
        </p:spPr>
      </p:pic>
      <p:pic>
        <p:nvPicPr>
          <p:cNvPr id="41" name="Card 2 Icon" descr="Icon: insurance card with upward arrow"/>
          <p:cNvPicPr>
            <a:picLocks noChangeAspect="1"/>
          </p:cNvPicPr>
          <p:nvPr/>
        </p:nvPicPr>
        <p:blipFill>
          <a:blip r:embed="rId4"/>
          <a:stretch>
            <a:fillRect/>
          </a:stretch>
        </p:blipFill>
        <p:spPr>
          <a:xfrm>
            <a:off x="6445240" y="2710000"/>
            <a:ext cx="780000" cy="780000"/>
          </a:xfrm>
          <a:prstGeom prst="rect">
            <a:avLst/>
          </a:prstGeom>
        </p:spPr>
      </p:pic>
      <p:pic>
        <p:nvPicPr>
          <p:cNvPr id="42" name="Card 3 Icon" descr="Icon: checklist with stethoscope and refresh arrows"/>
          <p:cNvPicPr>
            <a:picLocks noChangeAspect="1"/>
          </p:cNvPicPr>
          <p:nvPr/>
        </p:nvPicPr>
        <p:blipFill>
          <a:blip r:embed="rId5"/>
          <a:stretch>
            <a:fillRect/>
          </a:stretch>
        </p:blipFill>
        <p:spPr>
          <a:xfrm>
            <a:off x="1130765" y="4365600"/>
            <a:ext cx="780000" cy="780000"/>
          </a:xfrm>
          <a:prstGeom prst="rect">
            <a:avLst/>
          </a:prstGeom>
        </p:spPr>
      </p:pic>
      <p:pic>
        <p:nvPicPr>
          <p:cNvPr id="43" name="Card 4 Icon" descr="Icon: shrinking shield with overflowing coins"/>
          <p:cNvPicPr>
            <a:picLocks noChangeAspect="1"/>
          </p:cNvPicPr>
          <p:nvPr/>
        </p:nvPicPr>
        <p:blipFill>
          <a:blip r:embed="rId6"/>
          <a:stretch>
            <a:fillRect/>
          </a:stretch>
        </p:blipFill>
        <p:spPr>
          <a:xfrm>
            <a:off x="6445240" y="4365600"/>
            <a:ext cx="780000" cy="78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Pricing a Rising Cost Curve</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Severity and frequency are climbing at the same time</a:t>
            </a:r>
            <a:endParaRPr lang="en-US" sz="2400"/>
          </a:p>
        </p:txBody>
      </p:sp>
      <p:sp>
        <p:nvSpPr>
          <p:cNvPr id="11" name="Card 1 Accent"/>
          <p:cNvSpPr/>
          <p:nvPr/>
        </p:nvSpPr>
        <p:spPr>
          <a:xfrm>
            <a:off x="8382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2" name="Card 1"/>
          <p:cNvSpPr/>
          <p:nvPr/>
        </p:nvSpPr>
        <p:spPr>
          <a:xfrm>
            <a:off x="9296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Costlier medicine plus higher utilization hits rates twice</a:t>
            </a:r>
            <a:endParaRPr lang="en-US" sz="2200"/>
          </a:p>
        </p:txBody>
      </p:sp>
      <p:sp>
        <p:nvSpPr>
          <p:cNvPr id="13" name="Card 2 Accent"/>
          <p:cNvSpPr/>
          <p:nvPr/>
        </p:nvSpPr>
        <p:spPr>
          <a:xfrm>
            <a:off x="6173800" y="23500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4" name="Card 2"/>
          <p:cNvSpPr/>
          <p:nvPr/>
        </p:nvSpPr>
        <p:spPr>
          <a:xfrm>
            <a:off x="6265240" y="23500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Utilization signals owner behavior more than pet health</a:t>
            </a:r>
            <a:endParaRPr lang="en-US" sz="2200"/>
          </a:p>
        </p:txBody>
      </p:sp>
      <p:sp>
        <p:nvSpPr>
          <p:cNvPr id="15" name="Card 3 Accent"/>
          <p:cNvSpPr/>
          <p:nvPr/>
        </p:nvSpPr>
        <p:spPr>
          <a:xfrm>
            <a:off x="8382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6" name="Card 3"/>
          <p:cNvSpPr/>
          <p:nvPr/>
        </p:nvSpPr>
        <p:spPr>
          <a:xfrm>
            <a:off x="9296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DOIs deny utilization rating but allow “claims free”</a:t>
            </a:r>
            <a:endParaRPr lang="en-US" sz="2200"/>
          </a:p>
        </p:txBody>
      </p:sp>
      <p:sp>
        <p:nvSpPr>
          <p:cNvPr id="17" name="Card 4 Accent"/>
          <p:cNvSpPr/>
          <p:nvPr/>
        </p:nvSpPr>
        <p:spPr>
          <a:xfrm>
            <a:off x="6173800" y="4005600"/>
            <a:ext cx="91440" cy="1500000"/>
          </a:xfrm>
          <a:prstGeom prst="rect">
            <a:avLst/>
          </a:prstGeom>
          <a:solidFill>
            <a:srgbClr val="FFB81C"/>
          </a:solidFill>
          <a:ln>
            <a:noFill/>
          </a:ln>
        </p:spPr>
        <p:txBody>
          <a:bodyPr wrap="square" lIns="182880" tIns="45720" rIns="137160" bIns="45720" rtlCol="0" anchor="ctr">
            <a:normAutofit/>
          </a:bodyPr>
          <a:lstStyle/>
          <a:p>
            <a:pPr algn="l"/>
            <a:endParaRPr lang="en-US" sz="2200"/>
          </a:p>
        </p:txBody>
      </p:sp>
      <p:sp>
        <p:nvSpPr>
          <p:cNvPr id="18" name="Card 4"/>
          <p:cNvSpPr/>
          <p:nvPr/>
        </p:nvSpPr>
        <p:spPr>
          <a:xfrm>
            <a:off x="6265240" y="4005600"/>
            <a:ext cx="5088560" cy="1500000"/>
          </a:xfrm>
          <a:prstGeom prst="rect">
            <a:avLst/>
          </a:prstGeom>
          <a:solidFill>
            <a:srgbClr val="FFFFFF"/>
          </a:solidFill>
          <a:ln>
            <a:noFill/>
          </a:ln>
        </p:spPr>
        <p:txBody>
          <a:bodyPr wrap="square" lIns="1110000" tIns="45720" rIns="137160" bIns="45720" rtlCol="0" anchor="ctr">
            <a:normAutofit/>
          </a:bodyPr>
          <a:lstStyle/>
          <a:p>
            <a:pPr algn="l"/>
            <a:r>
              <a:rPr lang="en-US" sz="2200" b="0" i="0">
                <a:solidFill>
                  <a:srgbClr val="002C71"/>
                </a:solidFill>
                <a:latin typeface="Source Sans 3"/>
                <a:cs typeface="Source Sans 3"/>
              </a:rPr>
              <a:t>Fast-changing veterinary care dates ratemaking assumptions</a:t>
            </a:r>
            <a:endParaRPr lang="en-US" sz="2200"/>
          </a:p>
        </p:txBody>
      </p:sp>
      <p:pic>
        <p:nvPicPr>
          <p:cNvPr id="40" name="Card 1 Icon" descr="Icon: two boxing gloves"/>
          <p:cNvPicPr>
            <a:picLocks noChangeAspect="1"/>
          </p:cNvPicPr>
          <p:nvPr/>
        </p:nvPicPr>
        <p:blipFill>
          <a:blip r:embed="rId3"/>
          <a:stretch>
            <a:fillRect/>
          </a:stretch>
        </p:blipFill>
        <p:spPr>
          <a:xfrm>
            <a:off x="1130765" y="2710000"/>
            <a:ext cx="780000" cy="780000"/>
          </a:xfrm>
          <a:prstGeom prst="rect">
            <a:avLst/>
          </a:prstGeom>
        </p:spPr>
      </p:pic>
      <p:pic>
        <p:nvPicPr>
          <p:cNvPr id="41" name="Card 2 Icon" descr="Icon: person walking a dog to a veterinary clinic"/>
          <p:cNvPicPr>
            <a:picLocks noChangeAspect="1"/>
          </p:cNvPicPr>
          <p:nvPr/>
        </p:nvPicPr>
        <p:blipFill>
          <a:blip r:embed="rId4"/>
          <a:stretch>
            <a:fillRect/>
          </a:stretch>
        </p:blipFill>
        <p:spPr>
          <a:xfrm>
            <a:off x="6445240" y="2710000"/>
            <a:ext cx="780000" cy="780000"/>
          </a:xfrm>
          <a:prstGeom prst="rect">
            <a:avLst/>
          </a:prstGeom>
        </p:spPr>
      </p:pic>
      <p:pic>
        <p:nvPicPr>
          <p:cNvPr id="42" name="Card 3 Icon" descr="Icon: magnifying glass over a bar chart"/>
          <p:cNvPicPr>
            <a:picLocks noChangeAspect="1"/>
          </p:cNvPicPr>
          <p:nvPr/>
        </p:nvPicPr>
        <p:blipFill>
          <a:blip r:embed="rId5"/>
          <a:stretch>
            <a:fillRect/>
          </a:stretch>
        </p:blipFill>
        <p:spPr>
          <a:xfrm>
            <a:off x="1130765" y="4365600"/>
            <a:ext cx="780000" cy="780000"/>
          </a:xfrm>
          <a:prstGeom prst="rect">
            <a:avLst/>
          </a:prstGeom>
        </p:spPr>
      </p:pic>
      <p:pic>
        <p:nvPicPr>
          <p:cNvPr id="43" name="Card 4 Icon" descr="Icon: calculator with clock and warning triangle"/>
          <p:cNvPicPr>
            <a:picLocks noChangeAspect="1"/>
          </p:cNvPicPr>
          <p:nvPr/>
        </p:nvPicPr>
        <p:blipFill>
          <a:blip r:embed="rId6"/>
          <a:stretch>
            <a:fillRect/>
          </a:stretch>
        </p:blipFill>
        <p:spPr>
          <a:xfrm>
            <a:off x="6445240" y="4365600"/>
            <a:ext cx="780000" cy="78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5344" y="365125"/>
            <a:ext cx="7564583" cy="1100000"/>
          </a:xfrm>
        </p:spPr>
        <p:txBody>
          <a:bodyPr>
            <a:normAutofit/>
          </a:bodyPr>
          <a:lstStyle/>
          <a:p>
            <a:r>
              <a:rPr lang="en-US" sz="3600" b="1">
                <a:solidFill>
                  <a:srgbClr val="002C71"/>
                </a:solidFill>
                <a:latin typeface="Montserrat"/>
                <a:cs typeface="Montserrat"/>
              </a:rPr>
              <a:t>Rate Need Meets Rate Approval</a:t>
            </a:r>
          </a:p>
        </p:txBody>
      </p:sp>
      <p:sp>
        <p:nvSpPr>
          <p:cNvPr id="10" name="Key Takeaway"/>
          <p:cNvSpPr/>
          <p:nvPr/>
        </p:nvSpPr>
        <p:spPr>
          <a:xfrm>
            <a:off x="838200" y="1550000"/>
            <a:ext cx="10515600" cy="600000"/>
          </a:xfrm>
          <a:prstGeom prst="rect">
            <a:avLst/>
          </a:prstGeom>
          <a:solidFill>
            <a:srgbClr val="002C71"/>
          </a:solidFill>
          <a:ln>
            <a:noFill/>
          </a:ln>
        </p:spPr>
        <p:txBody>
          <a:bodyPr wrap="square" lIns="182880" tIns="45720" rIns="137160" bIns="45720" rtlCol="0" anchor="ctr">
            <a:normAutofit/>
          </a:bodyPr>
          <a:lstStyle/>
          <a:p>
            <a:pPr algn="ctr"/>
            <a:r>
              <a:rPr lang="en-US" sz="2400" b="1" i="0">
                <a:solidFill>
                  <a:srgbClr val="FFFFFF"/>
                </a:solidFill>
                <a:latin typeface="Montserrat"/>
                <a:cs typeface="Montserrat"/>
              </a:rPr>
              <a:t>Cost pressure collided with the rate approval process</a:t>
            </a:r>
            <a:endParaRPr lang="en-US" sz="2400"/>
          </a:p>
        </p:txBody>
      </p:sp>
      <p:sp>
        <p:nvSpPr>
          <p:cNvPr id="11" name="Card 1 Accent"/>
          <p:cNvSpPr/>
          <p:nvPr/>
        </p:nvSpPr>
        <p:spPr>
          <a:xfrm>
            <a:off x="8382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2" name="Card 1"/>
          <p:cNvSpPr/>
          <p:nvPr/>
        </p:nvSpPr>
        <p:spPr>
          <a:xfrm>
            <a:off x="8382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b="0" i="0">
                <a:solidFill>
                  <a:srgbClr val="002C71"/>
                </a:solidFill>
                <a:latin typeface="Source Sans 3"/>
                <a:cs typeface="Source Sans 3"/>
              </a:rPr>
              <a:t>Every carrier needed steep rate increases at once</a:t>
            </a:r>
            <a:endParaRPr lang="en-US" sz="2200"/>
          </a:p>
        </p:txBody>
      </p:sp>
      <p:sp>
        <p:nvSpPr>
          <p:cNvPr id="15" name="Card 3 Accent"/>
          <p:cNvSpPr/>
          <p:nvPr/>
        </p:nvSpPr>
        <p:spPr>
          <a:xfrm>
            <a:off x="44196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6" name="Card 3"/>
          <p:cNvSpPr/>
          <p:nvPr/>
        </p:nvSpPr>
        <p:spPr>
          <a:xfrm>
            <a:off x="44196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a:solidFill>
                  <a:srgbClr val="002C71"/>
                </a:solidFill>
                <a:latin typeface="Source Sans 3"/>
              </a:rPr>
              <a:t>Many states denied or capped the filings that were needed</a:t>
            </a:r>
            <a:endParaRPr lang="en-US" sz="2200"/>
          </a:p>
        </p:txBody>
      </p:sp>
      <p:sp>
        <p:nvSpPr>
          <p:cNvPr id="17" name="Card 4 Accent"/>
          <p:cNvSpPr/>
          <p:nvPr/>
        </p:nvSpPr>
        <p:spPr>
          <a:xfrm>
            <a:off x="8001000" y="2350000"/>
            <a:ext cx="3352800" cy="91440"/>
          </a:xfrm>
          <a:prstGeom prst="rect">
            <a:avLst/>
          </a:prstGeom>
          <a:solidFill>
            <a:srgbClr val="FFB81C"/>
          </a:solidFill>
          <a:ln>
            <a:noFill/>
          </a:ln>
        </p:spPr>
        <p:txBody>
          <a:bodyPr wrap="square" lIns="182880" tIns="45720" rIns="137160" bIns="45720" rtlCol="0" anchor="ctr">
            <a:normAutofit fontScale="25000" lnSpcReduction="20000"/>
          </a:bodyPr>
          <a:lstStyle/>
          <a:p>
            <a:pPr algn="l"/>
            <a:endParaRPr lang="en-US" sz="2200"/>
          </a:p>
        </p:txBody>
      </p:sp>
      <p:sp>
        <p:nvSpPr>
          <p:cNvPr id="18" name="Card 4"/>
          <p:cNvSpPr/>
          <p:nvPr/>
        </p:nvSpPr>
        <p:spPr>
          <a:xfrm>
            <a:off x="8001000" y="2441440"/>
            <a:ext cx="3352800" cy="2458560"/>
          </a:xfrm>
          <a:prstGeom prst="rect">
            <a:avLst/>
          </a:prstGeom>
          <a:solidFill>
            <a:srgbClr val="FFFFFF"/>
          </a:solidFill>
          <a:ln>
            <a:noFill/>
          </a:ln>
        </p:spPr>
        <p:txBody>
          <a:bodyPr wrap="square" lIns="182880" tIns="1130000" rIns="182880" bIns="91440" rtlCol="0" anchor="t">
            <a:normAutofit/>
          </a:bodyPr>
          <a:lstStyle/>
          <a:p>
            <a:pPr algn="ctr"/>
            <a:r>
              <a:rPr lang="en-US" sz="2200" b="0" i="0">
                <a:solidFill>
                  <a:srgbClr val="002C71"/>
                </a:solidFill>
                <a:latin typeface="Source Sans 3"/>
                <a:cs typeface="Source Sans 3"/>
              </a:rPr>
              <a:t>The result was mass non-renewals and shrinking availability</a:t>
            </a:r>
            <a:endParaRPr lang="en-US" sz="2200"/>
          </a:p>
        </p:txBody>
      </p:sp>
      <p:pic>
        <p:nvPicPr>
          <p:cNvPr id="40" name="Card 1 Icon" descr="Icon: steeply rising arrow over a dollar sign"/>
          <p:cNvPicPr>
            <a:picLocks noChangeAspect="1"/>
          </p:cNvPicPr>
          <p:nvPr/>
        </p:nvPicPr>
        <p:blipFill>
          <a:blip r:embed="rId3"/>
          <a:stretch>
            <a:fillRect/>
          </a:stretch>
        </p:blipFill>
        <p:spPr>
          <a:xfrm>
            <a:off x="2124600" y="2671440"/>
            <a:ext cx="780000" cy="780000"/>
          </a:xfrm>
          <a:prstGeom prst="rect">
            <a:avLst/>
          </a:prstGeom>
        </p:spPr>
      </p:pic>
      <p:pic>
        <p:nvPicPr>
          <p:cNvPr id="42" name="Card 3 Icon" descr="Icon: stamped filing blocked by a bar"/>
          <p:cNvPicPr>
            <a:picLocks noChangeAspect="1"/>
          </p:cNvPicPr>
          <p:nvPr/>
        </p:nvPicPr>
        <p:blipFill>
          <a:blip r:embed="rId4"/>
          <a:stretch>
            <a:fillRect/>
          </a:stretch>
        </p:blipFill>
        <p:spPr>
          <a:xfrm>
            <a:off x="5706000" y="2671440"/>
            <a:ext cx="780000" cy="780000"/>
          </a:xfrm>
          <a:prstGeom prst="rect">
            <a:avLst/>
          </a:prstGeom>
        </p:spPr>
      </p:pic>
      <p:pic>
        <p:nvPicPr>
          <p:cNvPr id="43" name="Card 4 Icon" descr="Icon: policy documents with an X and an exit door"/>
          <p:cNvPicPr>
            <a:picLocks noChangeAspect="1"/>
          </p:cNvPicPr>
          <p:nvPr/>
        </p:nvPicPr>
        <p:blipFill>
          <a:blip r:embed="rId5"/>
          <a:stretch>
            <a:fillRect/>
          </a:stretch>
        </p:blipFill>
        <p:spPr>
          <a:xfrm>
            <a:off x="9287400" y="2671440"/>
            <a:ext cx="780000" cy="78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86491-1C97-E5F3-91F6-DE74A02069A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91E6844-811E-D216-E104-0C1085111FA8}"/>
              </a:ext>
            </a:extLst>
          </p:cNvPr>
          <p:cNvSpPr txBox="1">
            <a:spLocks/>
          </p:cNvSpPr>
          <p:nvPr/>
        </p:nvSpPr>
        <p:spPr>
          <a:xfrm>
            <a:off x="809404" y="1616382"/>
            <a:ext cx="3900000" cy="1400000"/>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l"/>
            <a:r>
              <a:rPr lang="en-US" sz="3600" b="1">
                <a:solidFill>
                  <a:srgbClr val="002C71"/>
                </a:solidFill>
                <a:latin typeface="Montserrat" panose="00000500000000000000" pitchFamily="2" charset="0"/>
              </a:rPr>
              <a:t>Questions?</a:t>
            </a:r>
          </a:p>
        </p:txBody>
      </p:sp>
      <p:sp>
        <p:nvSpPr>
          <p:cNvPr id="4" name="Rounded Rectangle 3">
            <a:extLst>
              <a:ext uri="{FF2B5EF4-FFF2-40B4-BE49-F238E27FC236}">
                <a16:creationId xmlns:a16="http://schemas.microsoft.com/office/drawing/2014/main" id="{18F131EC-3B00-41EB-4153-E2567BAAEA9F}"/>
              </a:ext>
            </a:extLst>
          </p:cNvPr>
          <p:cNvSpPr/>
          <p:nvPr/>
        </p:nvSpPr>
        <p:spPr>
          <a:xfrm>
            <a:off x="4824916" y="1615442"/>
            <a:ext cx="6536987" cy="3997418"/>
          </a:xfrm>
          <a:prstGeom prst="roundRect">
            <a:avLst>
              <a:gd name="adj" fmla="val 3411"/>
            </a:avLst>
          </a:prstGeom>
          <a:solidFill>
            <a:srgbClr val="E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CE8"/>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F122EE40-EC31-64F1-D9F3-58A2B812133D}"/>
              </a:ext>
            </a:extLst>
          </p:cNvPr>
          <p:cNvSpPr txBox="1">
            <a:spLocks/>
          </p:cNvSpPr>
          <p:nvPr/>
        </p:nvSpPr>
        <p:spPr>
          <a:xfrm>
            <a:off x="4824917" y="1615442"/>
            <a:ext cx="6536987" cy="39974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rgbClr val="002C71"/>
                </a:solidFill>
                <a:latin typeface="Source Sans 3"/>
                <a:cs typeface="Source Sans 3"/>
              </a:rPr>
              <a:t>Thank you</a:t>
            </a:r>
          </a:p>
          <a:p>
            <a:pPr marL="0" indent="0">
              <a:buNone/>
            </a:pPr>
            <a:r>
              <a:rPr lang="en-US">
                <a:solidFill>
                  <a:srgbClr val="002C71"/>
                </a:solidFill>
                <a:latin typeface="Source Sans 3"/>
                <a:cs typeface="Source Sans 3"/>
              </a:rPr>
              <a:t>We would love to hear your questions, pushback, and pet insurance stories.</a:t>
            </a:r>
          </a:p>
          <a:p>
            <a:pPr marL="0" indent="0">
              <a:buNone/>
            </a:pPr>
            <a:endParaRPr lang="en-US" i="1">
              <a:solidFill>
                <a:srgbClr val="002C71"/>
              </a:solidFill>
              <a:latin typeface="Source Sans 3"/>
              <a:cs typeface="Source Sans 3"/>
            </a:endParaRPr>
          </a:p>
          <a:p>
            <a:pPr marL="0" indent="0">
              <a:buNone/>
            </a:pPr>
            <a:r>
              <a:rPr lang="en-US" i="1">
                <a:solidFill>
                  <a:srgbClr val="002C71"/>
                </a:solidFill>
                <a:latin typeface="Source Sans 3"/>
                <a:cs typeface="Source Sans 3"/>
              </a:rPr>
              <a:t>Daniel Tevin, FCAS  |  Sean Malloy, FCAS</a:t>
            </a:r>
          </a:p>
        </p:txBody>
      </p:sp>
      <p:sp>
        <p:nvSpPr>
          <p:cNvPr id="900" name="Image Placeholder" descr="Image placeholder: Curious pet with a tilted head"/>
          <p:cNvSpPr/>
          <p:nvPr/>
        </p:nvSpPr>
        <p:spPr>
          <a:xfrm>
            <a:off x="809404" y="3100000"/>
            <a:ext cx="3800000" cy="2512860"/>
          </a:xfrm>
          <a:prstGeom prst="roundRect">
            <a:avLst>
              <a:gd name="adj" fmla="val 6000"/>
            </a:avLst>
          </a:prstGeom>
          <a:solidFill>
            <a:srgbClr val="F2F2F2"/>
          </a:solidFill>
          <a:ln w="19050">
            <a:solidFill>
              <a:srgbClr val="002C71"/>
            </a:solidFill>
            <a:prstDash val="dash"/>
          </a:ln>
        </p:spPr>
        <p:txBody>
          <a:bodyPr lIns="182880" rIns="182880" anchor="ctr">
            <a:normAutofit/>
          </a:bodyPr>
          <a:lstStyle/>
          <a:p>
            <a:pPr algn="ctr"/>
            <a:r>
              <a:rPr lang="en-US" sz="1400" b="1" dirty="0">
                <a:solidFill>
                  <a:srgbClr val="595959"/>
                </a:solidFill>
                <a:latin typeface="Source Sans 3"/>
                <a:cs typeface="Source Sans 3"/>
              </a:rPr>
              <a:t>Image placeholder</a:t>
            </a:r>
          </a:p>
        </p:txBody>
      </p:sp>
    </p:spTree>
    <p:extLst>
      <p:ext uri="{BB962C8B-B14F-4D97-AF65-F5344CB8AC3E}">
        <p14:creationId xmlns:p14="http://schemas.microsoft.com/office/powerpoint/2010/main" val="225719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7BA96-98A3-A5FF-1985-7935AA75C5C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0BE4465-269F-46E6-554D-B3A28C102B96}"/>
              </a:ext>
            </a:extLst>
          </p:cNvPr>
          <p:cNvSpPr>
            <a:spLocks noGrp="1"/>
          </p:cNvSpPr>
          <p:nvPr>
            <p:ph type="ctrTitle"/>
          </p:nvPr>
        </p:nvSpPr>
        <p:spPr/>
        <p:txBody>
          <a:bodyPr/>
          <a:lstStyle/>
          <a:p>
            <a:r>
              <a:rPr lang="en-US" b="1" dirty="0">
                <a:latin typeface="+mj-lt"/>
              </a:rPr>
              <a:t>Accessibility </a:t>
            </a:r>
            <a:br>
              <a:rPr lang="en-US" b="1" dirty="0">
                <a:latin typeface="+mj-lt"/>
              </a:rPr>
            </a:br>
            <a:r>
              <a:rPr lang="en-US" b="1" dirty="0">
                <a:latin typeface="+mj-lt"/>
              </a:rPr>
              <a:t>&amp; Presentation Standards</a:t>
            </a:r>
          </a:p>
        </p:txBody>
      </p:sp>
    </p:spTree>
    <p:extLst>
      <p:ext uri="{BB962C8B-B14F-4D97-AF65-F5344CB8AC3E}">
        <p14:creationId xmlns:p14="http://schemas.microsoft.com/office/powerpoint/2010/main" val="981559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CE1B797-8143-9691-59A8-5D9967F18A62}"/>
              </a:ext>
            </a:extLst>
          </p:cNvPr>
          <p:cNvSpPr txBox="1">
            <a:spLocks/>
          </p:cNvSpPr>
          <p:nvPr/>
        </p:nvSpPr>
        <p:spPr>
          <a:xfrm>
            <a:off x="816609" y="826658"/>
            <a:ext cx="10447125" cy="758951"/>
          </a:xfrm>
          <a:prstGeom prst="rect">
            <a:avLst/>
          </a:prstGeom>
        </p:spPr>
        <p:txBody>
          <a:bodyPr/>
          <a:lstStyle>
            <a:lvl1pPr algn="l" defTabSz="914400" rtl="0" eaLnBrk="1" latinLnBrk="0" hangingPunct="1">
              <a:lnSpc>
                <a:spcPct val="100000"/>
              </a:lnSpc>
              <a:spcBef>
                <a:spcPct val="0"/>
              </a:spcBef>
              <a:buNone/>
              <a:defRPr sz="3600" b="1" i="0" kern="1200" cap="none" spc="20" baseline="0">
                <a:solidFill>
                  <a:schemeClr val="tx2"/>
                </a:solidFill>
                <a:latin typeface="Montserrat" pitchFamily="2" charset="77"/>
                <a:ea typeface="Lato" panose="020F0502020204030203" pitchFamily="34" charset="0"/>
                <a:cs typeface="Lato" panose="020F050202020403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20" normalizeH="0" baseline="0" noProof="0">
                <a:ln>
                  <a:noFill/>
                </a:ln>
                <a:solidFill>
                  <a:srgbClr val="002C71"/>
                </a:solidFill>
                <a:effectLst/>
                <a:uLnTx/>
                <a:uFillTx/>
                <a:latin typeface="Montserrat" pitchFamily="2" charset="77"/>
                <a:ea typeface="Lato" panose="020F0502020204030203" pitchFamily="34" charset="0"/>
                <a:cs typeface="Lato" panose="020F0502020204030203" pitchFamily="34" charset="0"/>
              </a:rPr>
              <a:t>Color Accessibility Standards</a:t>
            </a:r>
            <a:endParaRPr kumimoji="0" lang="en-US" sz="3600" b="1" i="0" u="none" strike="noStrike" kern="1200" cap="none" spc="20" normalizeH="0" baseline="0" noProof="0" dirty="0">
              <a:ln>
                <a:noFill/>
              </a:ln>
              <a:solidFill>
                <a:srgbClr val="002C71"/>
              </a:solidFill>
              <a:effectLst/>
              <a:uLnTx/>
              <a:uFillTx/>
              <a:latin typeface="Montserrat" pitchFamily="2" charset="77"/>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EC8EB69A-A362-73AB-A9FE-7EE743E474F6}"/>
              </a:ext>
            </a:extLst>
          </p:cNvPr>
          <p:cNvSpPr txBox="1"/>
          <p:nvPr/>
        </p:nvSpPr>
        <p:spPr>
          <a:xfrm>
            <a:off x="4803494" y="2101042"/>
            <a:ext cx="6460240" cy="415498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Maintain strong contrast between typography and background colors.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hlinkClick r:id="rId2"/>
              </a:rPr>
              <a:t>Utilize contrast checker</a:t>
            </a:r>
            <a:r>
              <a:rPr kumimoji="0" lang="en-US" sz="2200" b="0" i="0" u="none" strike="noStrike" kern="1200" cap="none" spc="0" normalizeH="0" baseline="0" noProof="0" dirty="0">
                <a:ln>
                  <a:noFill/>
                </a:ln>
                <a:solidFill>
                  <a:srgbClr val="222222"/>
                </a:solidFill>
                <a:effectLst/>
                <a:uLnTx/>
                <a:uFillTx/>
                <a:latin typeface="Arial"/>
                <a:ea typeface="+mn-ea"/>
                <a:cs typeface="+mn-cs"/>
              </a:rPr>
              <a:t> when working outside of brand colors.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Avoid light text on light backgrounds or dark text on dark backgrounds.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Use CAS Blue or Deep Blue for primary body copy whenever possible.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Use white typography only on approved dark brand backgrounds.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Avoid relying on color alone to communicate meaning in charts or diagrams.</a:t>
            </a:r>
            <a:endParaRPr kumimoji="0" lang="en-US" sz="2200" b="0" i="0" u="none" strike="noStrike" kern="1200" cap="none" spc="0" normalizeH="0" baseline="0" noProof="0" dirty="0">
              <a:ln>
                <a:noFill/>
              </a:ln>
              <a:solidFill>
                <a:srgbClr val="0C2340"/>
              </a:solidFill>
              <a:effectLst/>
              <a:uLnTx/>
              <a:uFillTx/>
              <a:latin typeface="Arial"/>
              <a:ea typeface="+mn-ea"/>
              <a:cs typeface="+mn-cs"/>
            </a:endParaRPr>
          </a:p>
        </p:txBody>
      </p:sp>
      <p:sp>
        <p:nvSpPr>
          <p:cNvPr id="5" name="TextBox 4">
            <a:extLst>
              <a:ext uri="{FF2B5EF4-FFF2-40B4-BE49-F238E27FC236}">
                <a16:creationId xmlns:a16="http://schemas.microsoft.com/office/drawing/2014/main" id="{FF91022A-9B62-46C2-DA91-054232BF8553}"/>
              </a:ext>
            </a:extLst>
          </p:cNvPr>
          <p:cNvSpPr txBox="1"/>
          <p:nvPr/>
        </p:nvSpPr>
        <p:spPr>
          <a:xfrm>
            <a:off x="816609" y="2101042"/>
            <a:ext cx="3604920" cy="258987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22222"/>
                </a:solidFill>
                <a:effectLst/>
                <a:uLnTx/>
                <a:uFillTx/>
                <a:latin typeface="Arial"/>
                <a:ea typeface="+mn-ea"/>
                <a:cs typeface="+mn-cs"/>
              </a:rPr>
              <a:t>CAS color combinations are designed to support readability and accessibility across presentations and branded materials.</a:t>
            </a:r>
          </a:p>
        </p:txBody>
      </p:sp>
    </p:spTree>
    <p:extLst>
      <p:ext uri="{BB962C8B-B14F-4D97-AF65-F5344CB8AC3E}">
        <p14:creationId xmlns:p14="http://schemas.microsoft.com/office/powerpoint/2010/main" val="1996066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6160327D-EAE3-F903-AE98-375C586EEC5A}"/>
              </a:ext>
            </a:extLst>
          </p:cNvPr>
          <p:cNvSpPr/>
          <p:nvPr/>
        </p:nvSpPr>
        <p:spPr>
          <a:xfrm>
            <a:off x="8270329" y="1983857"/>
            <a:ext cx="3419941" cy="4226899"/>
          </a:xfrm>
          <a:prstGeom prst="roundRect">
            <a:avLst>
              <a:gd name="adj" fmla="val 3411"/>
            </a:avLst>
          </a:prstGeom>
          <a:solidFill>
            <a:srgbClr val="E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CE8"/>
              </a:solidFill>
              <a:effectLst/>
              <a:uLnTx/>
              <a:uFillTx/>
              <a:latin typeface="Arial"/>
              <a:ea typeface="+mn-ea"/>
              <a:cs typeface="+mn-cs"/>
            </a:endParaRPr>
          </a:p>
        </p:txBody>
      </p:sp>
      <p:sp>
        <p:nvSpPr>
          <p:cNvPr id="4" name="Rounded Rectangle 3">
            <a:extLst>
              <a:ext uri="{FF2B5EF4-FFF2-40B4-BE49-F238E27FC236}">
                <a16:creationId xmlns:a16="http://schemas.microsoft.com/office/drawing/2014/main" id="{2D42B067-F57F-6C7E-7D65-B47DA17C48D9}"/>
              </a:ext>
            </a:extLst>
          </p:cNvPr>
          <p:cNvSpPr/>
          <p:nvPr/>
        </p:nvSpPr>
        <p:spPr>
          <a:xfrm>
            <a:off x="4284995" y="1983858"/>
            <a:ext cx="3897977" cy="4226899"/>
          </a:xfrm>
          <a:prstGeom prst="roundRect">
            <a:avLst>
              <a:gd name="adj" fmla="val 3411"/>
            </a:avLst>
          </a:prstGeom>
          <a:solidFill>
            <a:srgbClr val="E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CE8"/>
              </a:solidFill>
              <a:effectLst/>
              <a:uLnTx/>
              <a:uFillTx/>
              <a:latin typeface="Arial"/>
              <a:ea typeface="+mn-ea"/>
              <a:cs typeface="+mn-cs"/>
            </a:endParaRPr>
          </a:p>
        </p:txBody>
      </p:sp>
      <p:sp>
        <p:nvSpPr>
          <p:cNvPr id="5" name="Title 1">
            <a:extLst>
              <a:ext uri="{FF2B5EF4-FFF2-40B4-BE49-F238E27FC236}">
                <a16:creationId xmlns:a16="http://schemas.microsoft.com/office/drawing/2014/main" id="{90B85FD6-C3A7-6F24-37E0-31FEF524ECAC}"/>
              </a:ext>
            </a:extLst>
          </p:cNvPr>
          <p:cNvSpPr txBox="1">
            <a:spLocks/>
          </p:cNvSpPr>
          <p:nvPr/>
        </p:nvSpPr>
        <p:spPr>
          <a:xfrm>
            <a:off x="816609" y="826658"/>
            <a:ext cx="10447125" cy="758951"/>
          </a:xfrm>
          <a:prstGeom prst="rect">
            <a:avLst/>
          </a:prstGeom>
        </p:spPr>
        <p:txBody>
          <a:bodyPr>
            <a:normAutofit/>
          </a:bodyPr>
          <a:lstStyle>
            <a:lvl1pPr algn="l" defTabSz="914400" rtl="0" eaLnBrk="1" latinLnBrk="0" hangingPunct="1">
              <a:lnSpc>
                <a:spcPct val="100000"/>
              </a:lnSpc>
              <a:spcBef>
                <a:spcPct val="0"/>
              </a:spcBef>
              <a:buNone/>
              <a:defRPr sz="3600" b="1" i="0" kern="1200" cap="none" spc="20" baseline="0">
                <a:solidFill>
                  <a:schemeClr val="tx2"/>
                </a:solidFill>
                <a:latin typeface="Montserrat" pitchFamily="2" charset="77"/>
                <a:ea typeface="Lato" panose="020F0502020204030203" pitchFamily="34" charset="0"/>
                <a:cs typeface="Lato" panose="020F050202020403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20" normalizeH="0" baseline="0" noProof="0">
                <a:ln>
                  <a:noFill/>
                </a:ln>
                <a:solidFill>
                  <a:srgbClr val="002C71"/>
                </a:solidFill>
                <a:effectLst/>
                <a:uLnTx/>
                <a:uFillTx/>
                <a:latin typeface="Montserrat" pitchFamily="2" charset="77"/>
                <a:ea typeface="Lato" panose="020F0502020204030203" pitchFamily="34" charset="0"/>
                <a:cs typeface="Lato" panose="020F0502020204030203" pitchFamily="34" charset="0"/>
              </a:rPr>
              <a:t>Typography Accessibility Standards</a:t>
            </a:r>
            <a:endParaRPr kumimoji="0" lang="en-US" sz="3600" b="1" i="0" u="none" strike="noStrike" kern="1200" cap="none" spc="20" normalizeH="0" baseline="0" noProof="0" dirty="0">
              <a:ln>
                <a:noFill/>
              </a:ln>
              <a:solidFill>
                <a:srgbClr val="002C71"/>
              </a:solidFill>
              <a:effectLst/>
              <a:uLnTx/>
              <a:uFillTx/>
              <a:latin typeface="Montserrat" pitchFamily="2" charset="77"/>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D7CA1F3D-EF09-1ABD-6F79-E636D9BD9924}"/>
              </a:ext>
            </a:extLst>
          </p:cNvPr>
          <p:cNvSpPr txBox="1"/>
          <p:nvPr/>
        </p:nvSpPr>
        <p:spPr>
          <a:xfrm>
            <a:off x="4363893" y="2112999"/>
            <a:ext cx="3723205" cy="337066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222222"/>
                </a:solidFill>
                <a:effectLst/>
                <a:uLnTx/>
                <a:uFillTx/>
                <a:latin typeface="Arial"/>
                <a:ea typeface="+mn-ea"/>
                <a:cs typeface="+mn-cs"/>
              </a:rPr>
              <a:t>Recommended Sizes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222222"/>
                </a:solidFill>
                <a:effectLst/>
                <a:uLnTx/>
                <a:uFillTx/>
                <a:latin typeface="Arial"/>
                <a:ea typeface="+mn-ea"/>
                <a:cs typeface="+mn-cs"/>
              </a:rPr>
              <a:t>Main Slide Titles:</a:t>
            </a:r>
            <a:r>
              <a:rPr kumimoji="0" lang="en-US" sz="1600" b="0" i="0" u="none" strike="noStrike" kern="1200" cap="none" spc="0" normalizeH="0" baseline="0" noProof="0" dirty="0">
                <a:ln>
                  <a:noFill/>
                </a:ln>
                <a:solidFill>
                  <a:srgbClr val="222222"/>
                </a:solidFill>
                <a:effectLst/>
                <a:uLnTx/>
                <a:uFillTx/>
                <a:latin typeface="Arial"/>
                <a:ea typeface="+mn-ea"/>
                <a:cs typeface="+mn-cs"/>
              </a:rPr>
              <a:t> 30–36 pt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222222"/>
                </a:solidFill>
                <a:effectLst/>
                <a:uLnTx/>
                <a:uFillTx/>
                <a:latin typeface="Arial"/>
                <a:ea typeface="+mn-ea"/>
                <a:cs typeface="+mn-cs"/>
              </a:rPr>
              <a:t>Section Headers/Subheads:</a:t>
            </a:r>
            <a:r>
              <a:rPr kumimoji="0" lang="en-US" sz="1600" b="0" i="0" u="none" strike="noStrike" kern="1200" cap="none" spc="0" normalizeH="0" baseline="0" noProof="0" dirty="0">
                <a:ln>
                  <a:noFill/>
                </a:ln>
                <a:solidFill>
                  <a:srgbClr val="222222"/>
                </a:solidFill>
                <a:effectLst/>
                <a:uLnTx/>
                <a:uFillTx/>
                <a:latin typeface="Arial"/>
                <a:ea typeface="+mn-ea"/>
                <a:cs typeface="+mn-cs"/>
              </a:rPr>
              <a:t> 22-28 pt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222222"/>
                </a:solidFill>
                <a:effectLst/>
                <a:uLnTx/>
                <a:uFillTx/>
                <a:latin typeface="Arial"/>
                <a:ea typeface="+mn-ea"/>
                <a:cs typeface="+mn-cs"/>
              </a:rPr>
              <a:t>Body Copy:</a:t>
            </a:r>
            <a:r>
              <a:rPr kumimoji="0" lang="en-US" sz="1600" b="0" i="0" u="none" strike="noStrike" kern="1200" cap="none" spc="0" normalizeH="0" baseline="0" noProof="0" dirty="0">
                <a:ln>
                  <a:noFill/>
                </a:ln>
                <a:solidFill>
                  <a:srgbClr val="222222"/>
                </a:solidFill>
                <a:effectLst/>
                <a:uLnTx/>
                <a:uFillTx/>
                <a:latin typeface="Arial"/>
                <a:ea typeface="+mn-ea"/>
                <a:cs typeface="+mn-cs"/>
              </a:rPr>
              <a:t> Minimum 22 pt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222222"/>
                </a:solidFill>
                <a:effectLst/>
                <a:uLnTx/>
                <a:uFillTx/>
                <a:latin typeface="Arial"/>
                <a:ea typeface="+mn-ea"/>
                <a:cs typeface="+mn-cs"/>
              </a:rPr>
              <a:t>Captions &amp; Notes:</a:t>
            </a:r>
            <a:r>
              <a:rPr kumimoji="0" lang="en-US" sz="1600" b="0" i="0" u="none" strike="noStrike" kern="1200" cap="none" spc="0" normalizeH="0" baseline="0" noProof="0" dirty="0">
                <a:ln>
                  <a:noFill/>
                </a:ln>
                <a:solidFill>
                  <a:srgbClr val="222222"/>
                </a:solidFill>
                <a:effectLst/>
                <a:uLnTx/>
                <a:uFillTx/>
                <a:latin typeface="Arial"/>
                <a:ea typeface="+mn-ea"/>
                <a:cs typeface="+mn-cs"/>
              </a:rPr>
              <a:t> Minimum 22 pt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222222"/>
                </a:solidFill>
                <a:effectLst/>
                <a:uLnTx/>
                <a:uFillTx/>
                <a:latin typeface="Arial"/>
                <a:ea typeface="+mn-ea"/>
                <a:cs typeface="+mn-cs"/>
              </a:rPr>
              <a:t>Charts, Graphs &amp; Data Labels:</a:t>
            </a:r>
            <a:r>
              <a:rPr kumimoji="0" lang="en-US" sz="1600" b="0" i="0" u="none" strike="noStrike" kern="1200" cap="none" spc="0" normalizeH="0" baseline="0" noProof="0" dirty="0">
                <a:ln>
                  <a:noFill/>
                </a:ln>
                <a:solidFill>
                  <a:srgbClr val="222222"/>
                </a:solidFill>
                <a:effectLst/>
                <a:uLnTx/>
                <a:uFillTx/>
                <a:latin typeface="Arial"/>
                <a:ea typeface="+mn-ea"/>
                <a:cs typeface="+mn-cs"/>
              </a:rPr>
              <a:t> Minimum 16 pt, though this will still be difficult to view. Alt text is critical.</a:t>
            </a:r>
            <a:endParaRPr kumimoji="0" lang="en-US" sz="1600" b="0" i="0" u="none" strike="noStrike" kern="1200" cap="none" spc="0" normalizeH="0" baseline="0" noProof="0" dirty="0">
              <a:ln>
                <a:noFill/>
              </a:ln>
              <a:solidFill>
                <a:srgbClr val="0C2340"/>
              </a:solidFill>
              <a:effectLst/>
              <a:uLnTx/>
              <a:uFillTx/>
              <a:latin typeface="Arial"/>
              <a:ea typeface="+mn-ea"/>
              <a:cs typeface="+mn-cs"/>
            </a:endParaRPr>
          </a:p>
        </p:txBody>
      </p:sp>
      <p:sp>
        <p:nvSpPr>
          <p:cNvPr id="7" name="TextBox 6">
            <a:extLst>
              <a:ext uri="{FF2B5EF4-FFF2-40B4-BE49-F238E27FC236}">
                <a16:creationId xmlns:a16="http://schemas.microsoft.com/office/drawing/2014/main" id="{BCD095AE-5241-566E-8EB7-90BDC838E873}"/>
              </a:ext>
            </a:extLst>
          </p:cNvPr>
          <p:cNvSpPr txBox="1"/>
          <p:nvPr/>
        </p:nvSpPr>
        <p:spPr>
          <a:xfrm>
            <a:off x="816609" y="2101042"/>
            <a:ext cx="3303978" cy="344177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22222"/>
                </a:solidFill>
                <a:effectLst/>
                <a:uLnTx/>
                <a:uFillTx/>
                <a:latin typeface="Arial"/>
                <a:ea typeface="+mn-ea"/>
                <a:cs typeface="+mn-cs"/>
              </a:rPr>
              <a:t>To support accessibility and readability standards, CAS materials should use clear typographic hierarchy and sufficient font sizing across presentations.</a:t>
            </a:r>
          </a:p>
        </p:txBody>
      </p:sp>
      <p:sp>
        <p:nvSpPr>
          <p:cNvPr id="8" name="TextBox 7">
            <a:extLst>
              <a:ext uri="{FF2B5EF4-FFF2-40B4-BE49-F238E27FC236}">
                <a16:creationId xmlns:a16="http://schemas.microsoft.com/office/drawing/2014/main" id="{908C5D5A-B15B-A7D6-3006-CC7BF0DCCCB7}"/>
              </a:ext>
            </a:extLst>
          </p:cNvPr>
          <p:cNvSpPr txBox="1"/>
          <p:nvPr/>
        </p:nvSpPr>
        <p:spPr>
          <a:xfrm>
            <a:off x="8384991" y="2112999"/>
            <a:ext cx="3193621" cy="300133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222222"/>
                </a:solidFill>
                <a:effectLst/>
                <a:uLnTx/>
                <a:uFillTx/>
                <a:latin typeface="Arial"/>
                <a:ea typeface="+mn-ea"/>
                <a:cs typeface="+mn-cs"/>
              </a:rPr>
              <a:t>Font Usage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222222"/>
                </a:solidFill>
                <a:effectLst/>
                <a:uLnTx/>
                <a:uFillTx/>
                <a:latin typeface="Arial"/>
                <a:ea typeface="+mn-ea"/>
                <a:cs typeface="+mn-cs"/>
              </a:rPr>
              <a:t>Use </a:t>
            </a:r>
            <a:r>
              <a:rPr kumimoji="0" lang="en-US" sz="1600" b="1" i="0" u="none" strike="noStrike" kern="1200" cap="none" spc="0" normalizeH="0" baseline="0" noProof="0" dirty="0">
                <a:ln>
                  <a:noFill/>
                </a:ln>
                <a:solidFill>
                  <a:srgbClr val="222222"/>
                </a:solidFill>
                <a:effectLst/>
                <a:uLnTx/>
                <a:uFillTx/>
                <a:latin typeface="Arial"/>
                <a:ea typeface="+mn-ea"/>
                <a:cs typeface="+mn-cs"/>
              </a:rPr>
              <a:t>Montserrat</a:t>
            </a:r>
            <a:r>
              <a:rPr kumimoji="0" lang="en-US" sz="1600" b="0" i="0" u="none" strike="noStrike" kern="1200" cap="none" spc="0" normalizeH="0" baseline="0" noProof="0" dirty="0">
                <a:ln>
                  <a:noFill/>
                </a:ln>
                <a:solidFill>
                  <a:srgbClr val="222222"/>
                </a:solidFill>
                <a:effectLst/>
                <a:uLnTx/>
                <a:uFillTx/>
                <a:latin typeface="Arial"/>
                <a:ea typeface="+mn-ea"/>
                <a:cs typeface="+mn-cs"/>
              </a:rPr>
              <a:t> for headlines and section headers.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222222"/>
                </a:solidFill>
                <a:effectLst/>
                <a:uLnTx/>
                <a:uFillTx/>
                <a:latin typeface="Arial"/>
                <a:ea typeface="+mn-ea"/>
                <a:cs typeface="+mn-cs"/>
              </a:rPr>
              <a:t>Use </a:t>
            </a:r>
            <a:r>
              <a:rPr kumimoji="0" lang="en-US" sz="1600" b="1" i="0" u="none" strike="noStrike" kern="1200" cap="none" spc="0" normalizeH="0" baseline="0" noProof="0" dirty="0">
                <a:ln>
                  <a:noFill/>
                </a:ln>
                <a:solidFill>
                  <a:srgbClr val="222222"/>
                </a:solidFill>
                <a:effectLst/>
                <a:uLnTx/>
                <a:uFillTx/>
                <a:latin typeface="Arial"/>
                <a:ea typeface="+mn-ea"/>
                <a:cs typeface="+mn-cs"/>
              </a:rPr>
              <a:t>Source Sans 3</a:t>
            </a:r>
            <a:r>
              <a:rPr kumimoji="0" lang="en-US" sz="1600" b="0" i="0" u="none" strike="noStrike" kern="1200" cap="none" spc="0" normalizeH="0" baseline="0" noProof="0" dirty="0">
                <a:ln>
                  <a:noFill/>
                </a:ln>
                <a:solidFill>
                  <a:srgbClr val="222222"/>
                </a:solidFill>
                <a:effectLst/>
                <a:uLnTx/>
                <a:uFillTx/>
                <a:latin typeface="Arial"/>
                <a:ea typeface="+mn-ea"/>
                <a:cs typeface="+mn-cs"/>
              </a:rPr>
              <a:t> for body copy, captions, charts, and supporting text.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222222"/>
                </a:solidFill>
                <a:effectLst/>
                <a:uLnTx/>
                <a:uFillTx/>
                <a:latin typeface="Arial"/>
                <a:ea typeface="+mn-ea"/>
                <a:cs typeface="+mn-cs"/>
              </a:rPr>
              <a:t>Use bold strategically for emphasis and hierarchy.</a:t>
            </a:r>
            <a:endParaRPr kumimoji="0" lang="en-US" sz="1600" b="0" i="0" u="none" strike="noStrike" kern="1200" cap="none" spc="0" normalizeH="0" baseline="0" noProof="0" dirty="0">
              <a:ln>
                <a:noFill/>
              </a:ln>
              <a:solidFill>
                <a:srgbClr val="0C2340"/>
              </a:solidFill>
              <a:effectLst/>
              <a:uLnTx/>
              <a:uFillTx/>
              <a:latin typeface="Arial"/>
              <a:ea typeface="+mn-ea"/>
              <a:cs typeface="+mn-cs"/>
            </a:endParaRPr>
          </a:p>
        </p:txBody>
      </p:sp>
    </p:spTree>
    <p:extLst>
      <p:ext uri="{BB962C8B-B14F-4D97-AF65-F5344CB8AC3E}">
        <p14:creationId xmlns:p14="http://schemas.microsoft.com/office/powerpoint/2010/main" val="1038291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699CD8F-47E9-2D81-8E1E-368D25BAFBB2}"/>
              </a:ext>
            </a:extLst>
          </p:cNvPr>
          <p:cNvSpPr txBox="1">
            <a:spLocks/>
          </p:cNvSpPr>
          <p:nvPr/>
        </p:nvSpPr>
        <p:spPr>
          <a:xfrm>
            <a:off x="816609" y="826658"/>
            <a:ext cx="10447125" cy="758951"/>
          </a:xfrm>
          <a:prstGeom prst="rect">
            <a:avLst/>
          </a:prstGeom>
        </p:spPr>
        <p:txBody>
          <a:bodyPr>
            <a:normAutofit/>
          </a:bodyPr>
          <a:lstStyle>
            <a:lvl1pPr algn="l" defTabSz="914400" rtl="0" eaLnBrk="1" latinLnBrk="0" hangingPunct="1">
              <a:lnSpc>
                <a:spcPct val="100000"/>
              </a:lnSpc>
              <a:spcBef>
                <a:spcPct val="0"/>
              </a:spcBef>
              <a:buNone/>
              <a:defRPr sz="3400" b="1" i="0" kern="1200" cap="none" spc="20" baseline="0">
                <a:solidFill>
                  <a:schemeClr val="tx2"/>
                </a:solidFill>
                <a:latin typeface="Montserrat" pitchFamily="2" charset="77"/>
                <a:ea typeface="Lato" panose="020F0502020204030203" pitchFamily="34" charset="0"/>
                <a:cs typeface="Lato" panose="020F050202020403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20" normalizeH="0" baseline="0" noProof="0">
                <a:ln>
                  <a:noFill/>
                </a:ln>
                <a:solidFill>
                  <a:srgbClr val="002C71"/>
                </a:solidFill>
                <a:effectLst/>
                <a:uLnTx/>
                <a:uFillTx/>
                <a:latin typeface="Montserrat" pitchFamily="2" charset="77"/>
                <a:ea typeface="Lato" panose="020F0502020204030203" pitchFamily="34" charset="0"/>
                <a:cs typeface="Lato" panose="020F0502020204030203" pitchFamily="34" charset="0"/>
              </a:rPr>
              <a:t>Presentation Content &amp; Structure Standards</a:t>
            </a:r>
            <a:endParaRPr kumimoji="0" lang="en-US" sz="3400" b="1" i="0" u="none" strike="noStrike" kern="1200" cap="none" spc="20" normalizeH="0" baseline="0" noProof="0" dirty="0">
              <a:ln>
                <a:noFill/>
              </a:ln>
              <a:solidFill>
                <a:srgbClr val="002C71"/>
              </a:solidFill>
              <a:effectLst/>
              <a:uLnTx/>
              <a:uFillTx/>
              <a:latin typeface="Montserrat" pitchFamily="2" charset="77"/>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45E7540B-06B4-35E9-41BE-F121A7CFB8D6}"/>
              </a:ext>
            </a:extLst>
          </p:cNvPr>
          <p:cNvSpPr txBox="1"/>
          <p:nvPr/>
        </p:nvSpPr>
        <p:spPr>
          <a:xfrm>
            <a:off x="5127585" y="2101042"/>
            <a:ext cx="6425892" cy="3533531"/>
          </a:xfrm>
          <a:prstGeom prst="rect">
            <a:avLst/>
          </a:prstGeom>
          <a:noFill/>
        </p:spPr>
        <p:txBody>
          <a:bodyPr wrap="square" rtlCol="0">
            <a:spAutoFit/>
          </a:body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Organize slides around one primary takeaway.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Use concise bullet points instead of dense paragraphs.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Use clear visual hierarchy through headlines, spacing, alignment, and layout structure.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Maintain consistent layouts and formatting throughout the presentation.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Leave adequate white space around text, charts, and visual elements.</a:t>
            </a:r>
            <a:endParaRPr kumimoji="0" lang="en-US" sz="2200" b="0" i="0" u="none" strike="noStrike" kern="1200" cap="none" spc="0" normalizeH="0" baseline="0" noProof="0" dirty="0">
              <a:ln>
                <a:noFill/>
              </a:ln>
              <a:solidFill>
                <a:srgbClr val="0C2340"/>
              </a:solidFill>
              <a:effectLst/>
              <a:uLnTx/>
              <a:uFillTx/>
              <a:latin typeface="Arial"/>
              <a:ea typeface="+mn-ea"/>
              <a:cs typeface="+mn-cs"/>
            </a:endParaRPr>
          </a:p>
        </p:txBody>
      </p:sp>
      <p:sp>
        <p:nvSpPr>
          <p:cNvPr id="5" name="TextBox 4">
            <a:extLst>
              <a:ext uri="{FF2B5EF4-FFF2-40B4-BE49-F238E27FC236}">
                <a16:creationId xmlns:a16="http://schemas.microsoft.com/office/drawing/2014/main" id="{35F2D3A5-27DA-0805-B0CC-DCB5ECA9551D}"/>
              </a:ext>
            </a:extLst>
          </p:cNvPr>
          <p:cNvSpPr txBox="1"/>
          <p:nvPr/>
        </p:nvSpPr>
        <p:spPr>
          <a:xfrm>
            <a:off x="816608" y="2101042"/>
            <a:ext cx="3836415" cy="3013069"/>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22222"/>
                </a:solidFill>
                <a:effectLst/>
                <a:uLnTx/>
                <a:uFillTx/>
                <a:latin typeface="Arial"/>
                <a:ea typeface="+mn-ea"/>
                <a:cs typeface="+mn-cs"/>
              </a:rPr>
              <a:t>Accessible presentations prioritize clarity, hierarchy, and readability to help audiences quickly interpret information in both in-person and virtual environments.</a:t>
            </a:r>
          </a:p>
        </p:txBody>
      </p:sp>
    </p:spTree>
    <p:extLst>
      <p:ext uri="{BB962C8B-B14F-4D97-AF65-F5344CB8AC3E}">
        <p14:creationId xmlns:p14="http://schemas.microsoft.com/office/powerpoint/2010/main" val="3882325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C9F1C8F-DC12-ECCF-DE67-D15736C9A3BB}"/>
              </a:ext>
            </a:extLst>
          </p:cNvPr>
          <p:cNvSpPr txBox="1">
            <a:spLocks/>
          </p:cNvSpPr>
          <p:nvPr/>
        </p:nvSpPr>
        <p:spPr>
          <a:xfrm>
            <a:off x="816609" y="826658"/>
            <a:ext cx="10447125" cy="758951"/>
          </a:xfrm>
          <a:prstGeom prst="rect">
            <a:avLst/>
          </a:prstGeom>
        </p:spPr>
        <p:txBody>
          <a:bodyPr/>
          <a:lstStyle>
            <a:lvl1pPr algn="l" defTabSz="914400" rtl="0" eaLnBrk="1" latinLnBrk="0" hangingPunct="1">
              <a:lnSpc>
                <a:spcPct val="100000"/>
              </a:lnSpc>
              <a:spcBef>
                <a:spcPct val="0"/>
              </a:spcBef>
              <a:buNone/>
              <a:defRPr sz="3600" b="1" i="0" kern="1200" cap="none" spc="20" baseline="0">
                <a:solidFill>
                  <a:schemeClr val="tx2"/>
                </a:solidFill>
                <a:latin typeface="Montserrat" pitchFamily="2" charset="77"/>
                <a:ea typeface="Lato" panose="020F0502020204030203" pitchFamily="34" charset="0"/>
                <a:cs typeface="Lato" panose="020F050202020403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20" normalizeH="0" baseline="0" noProof="0">
                <a:ln>
                  <a:noFill/>
                </a:ln>
                <a:solidFill>
                  <a:srgbClr val="002C71"/>
                </a:solidFill>
                <a:effectLst/>
                <a:uLnTx/>
                <a:uFillTx/>
                <a:latin typeface="Montserrat" pitchFamily="2" charset="77"/>
                <a:ea typeface="Lato" panose="020F0502020204030203" pitchFamily="34" charset="0"/>
                <a:cs typeface="Lato" panose="020F0502020204030203" pitchFamily="34" charset="0"/>
              </a:rPr>
              <a:t>Technical Presentation Best Practices</a:t>
            </a:r>
            <a:endParaRPr kumimoji="0" lang="en-US" sz="3600" b="1" i="0" u="none" strike="noStrike" kern="1200" cap="none" spc="20" normalizeH="0" baseline="0" noProof="0" dirty="0">
              <a:ln>
                <a:noFill/>
              </a:ln>
              <a:solidFill>
                <a:srgbClr val="002C71"/>
              </a:solidFill>
              <a:effectLst/>
              <a:uLnTx/>
              <a:uFillTx/>
              <a:latin typeface="Montserrat" pitchFamily="2" charset="77"/>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06E86851-56E0-083C-780F-4C943E5E5F15}"/>
              </a:ext>
            </a:extLst>
          </p:cNvPr>
          <p:cNvSpPr txBox="1"/>
          <p:nvPr/>
        </p:nvSpPr>
        <p:spPr>
          <a:xfrm>
            <a:off x="4632446" y="1962497"/>
            <a:ext cx="6956384" cy="3919471"/>
          </a:xfrm>
          <a:prstGeom prst="rect">
            <a:avLst/>
          </a:prstGeom>
          <a:noFill/>
        </p:spPr>
        <p:txBody>
          <a:bodyPr wrap="square" rtlCol="0">
            <a:spAutoFit/>
          </a:body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Simplify complex charts and tables.</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Highlight key insights rather than displaying raw data without context.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Avoid spreadsheet screenshots or crowded tables.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Label charts and graphs directly.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Use callouts or visuals to guide interpretation of technical visuals.</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Ensure all videos are captioned (</a:t>
            </a:r>
            <a:r>
              <a:rPr kumimoji="0" lang="en-US" sz="2200" b="0" i="0" u="none" strike="noStrike" kern="1200" cap="none" spc="0" normalizeH="0" baseline="0" noProof="0" dirty="0">
                <a:ln>
                  <a:noFill/>
                </a:ln>
                <a:solidFill>
                  <a:srgbClr val="222222"/>
                </a:solidFill>
                <a:effectLst/>
                <a:uLnTx/>
                <a:uFillTx/>
                <a:latin typeface="Arial"/>
                <a:ea typeface="+mn-ea"/>
                <a:cs typeface="+mn-cs"/>
                <a:hlinkClick r:id="rId2"/>
              </a:rPr>
              <a:t>YouTube</a:t>
            </a:r>
            <a:r>
              <a:rPr kumimoji="0" lang="en-US" sz="2200" b="0" i="0" u="none" strike="noStrike" kern="1200" cap="none" spc="0" normalizeH="0" baseline="0" noProof="0" dirty="0">
                <a:ln>
                  <a:noFill/>
                </a:ln>
                <a:solidFill>
                  <a:srgbClr val="222222"/>
                </a:solidFill>
                <a:effectLst/>
                <a:uLnTx/>
                <a:uFillTx/>
                <a:latin typeface="Arial"/>
                <a:ea typeface="+mn-ea"/>
                <a:cs typeface="+mn-cs"/>
              </a:rPr>
              <a:t> &amp; </a:t>
            </a:r>
            <a:r>
              <a:rPr kumimoji="0" lang="en-US" sz="2200" b="0" i="0" u="none" strike="noStrike" kern="1200" cap="none" spc="0" normalizeH="0" baseline="0" noProof="0" dirty="0">
                <a:ln>
                  <a:noFill/>
                </a:ln>
                <a:solidFill>
                  <a:srgbClr val="222222"/>
                </a:solidFill>
                <a:effectLst/>
                <a:uLnTx/>
                <a:uFillTx/>
                <a:latin typeface="Arial"/>
                <a:ea typeface="+mn-ea"/>
                <a:cs typeface="+mn-cs"/>
                <a:hlinkClick r:id="rId3"/>
              </a:rPr>
              <a:t>Vimeo</a:t>
            </a:r>
            <a:r>
              <a:rPr kumimoji="0" lang="en-US" sz="2200" b="0" i="0" u="none" strike="noStrike" kern="1200" cap="none" spc="0" normalizeH="0" baseline="0" noProof="0" dirty="0">
                <a:ln>
                  <a:noFill/>
                </a:ln>
                <a:solidFill>
                  <a:srgbClr val="222222"/>
                </a:solidFill>
                <a:effectLst/>
                <a:uLnTx/>
                <a:uFillTx/>
                <a:latin typeface="Arial"/>
                <a:ea typeface="+mn-ea"/>
                <a:cs typeface="+mn-cs"/>
              </a:rPr>
              <a:t>) </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Ensure charts, labels, and legends remain legible when projected or viewed virtually.</a:t>
            </a:r>
            <a:endParaRPr kumimoji="0" lang="en-US" sz="2200" b="0" i="0" u="none" strike="noStrike" kern="1200" cap="none" spc="0" normalizeH="0" baseline="0" noProof="0" dirty="0">
              <a:ln>
                <a:noFill/>
              </a:ln>
              <a:solidFill>
                <a:srgbClr val="0C2340"/>
              </a:solidFill>
              <a:effectLst/>
              <a:uLnTx/>
              <a:uFillTx/>
              <a:latin typeface="Arial"/>
              <a:ea typeface="+mn-ea"/>
              <a:cs typeface="+mn-cs"/>
            </a:endParaRPr>
          </a:p>
        </p:txBody>
      </p:sp>
      <p:sp>
        <p:nvSpPr>
          <p:cNvPr id="5" name="TextBox 4">
            <a:extLst>
              <a:ext uri="{FF2B5EF4-FFF2-40B4-BE49-F238E27FC236}">
                <a16:creationId xmlns:a16="http://schemas.microsoft.com/office/drawing/2014/main" id="{00D75191-8E90-D7F7-004B-B6596D77803B}"/>
              </a:ext>
            </a:extLst>
          </p:cNvPr>
          <p:cNvSpPr txBox="1"/>
          <p:nvPr/>
        </p:nvSpPr>
        <p:spPr>
          <a:xfrm>
            <a:off x="816608" y="2101042"/>
            <a:ext cx="3454449" cy="258987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22222"/>
                </a:solidFill>
                <a:effectLst/>
                <a:uLnTx/>
                <a:uFillTx/>
                <a:latin typeface="Arial"/>
                <a:ea typeface="+mn-ea"/>
                <a:cs typeface="+mn-cs"/>
              </a:rPr>
              <a:t>CAS presentations often include technical and data-driven content. Prioritize clarity and interpretation over volume of information.</a:t>
            </a:r>
          </a:p>
        </p:txBody>
      </p:sp>
    </p:spTree>
    <p:extLst>
      <p:ext uri="{BB962C8B-B14F-4D97-AF65-F5344CB8AC3E}">
        <p14:creationId xmlns:p14="http://schemas.microsoft.com/office/powerpoint/2010/main" val="2701318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3AA50EB-5E8B-CB9C-D666-D61F8ADFC5FC}"/>
              </a:ext>
            </a:extLst>
          </p:cNvPr>
          <p:cNvSpPr txBox="1">
            <a:spLocks/>
          </p:cNvSpPr>
          <p:nvPr/>
        </p:nvSpPr>
        <p:spPr>
          <a:xfrm>
            <a:off x="816609" y="826658"/>
            <a:ext cx="10447125" cy="758951"/>
          </a:xfrm>
          <a:prstGeom prst="rect">
            <a:avLst/>
          </a:prstGeom>
        </p:spPr>
        <p:txBody>
          <a:bodyPr/>
          <a:lstStyle>
            <a:lvl1pPr algn="l" defTabSz="914400" rtl="0" eaLnBrk="1" latinLnBrk="0" hangingPunct="1">
              <a:lnSpc>
                <a:spcPct val="100000"/>
              </a:lnSpc>
              <a:spcBef>
                <a:spcPct val="0"/>
              </a:spcBef>
              <a:buNone/>
              <a:defRPr sz="3600" b="1" i="0" kern="1200" cap="none" spc="20" baseline="0">
                <a:solidFill>
                  <a:schemeClr val="tx2"/>
                </a:solidFill>
                <a:latin typeface="Montserrat" pitchFamily="2" charset="77"/>
                <a:ea typeface="Lato" panose="020F0502020204030203" pitchFamily="34" charset="0"/>
                <a:cs typeface="Lato" panose="020F050202020403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20" normalizeH="0" baseline="0" noProof="0">
                <a:ln>
                  <a:noFill/>
                </a:ln>
                <a:solidFill>
                  <a:srgbClr val="002C71"/>
                </a:solidFill>
                <a:effectLst/>
                <a:uLnTx/>
                <a:uFillTx/>
                <a:latin typeface="Montserrat" pitchFamily="2" charset="77"/>
                <a:ea typeface="Lato" panose="020F0502020204030203" pitchFamily="34" charset="0"/>
                <a:cs typeface="Lato" panose="020F0502020204030203" pitchFamily="34" charset="0"/>
              </a:rPr>
              <a:t>Accessibility Review Checklist</a:t>
            </a:r>
            <a:endParaRPr kumimoji="0" lang="en-US" sz="3600" b="1" i="0" u="none" strike="noStrike" kern="1200" cap="none" spc="20" normalizeH="0" baseline="0" noProof="0" dirty="0">
              <a:ln>
                <a:noFill/>
              </a:ln>
              <a:solidFill>
                <a:srgbClr val="002C71"/>
              </a:solidFill>
              <a:effectLst/>
              <a:uLnTx/>
              <a:uFillTx/>
              <a:latin typeface="Montserrat" pitchFamily="2" charset="77"/>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549FC385-D188-DDB8-7740-6593691EB221}"/>
              </a:ext>
            </a:extLst>
          </p:cNvPr>
          <p:cNvSpPr txBox="1"/>
          <p:nvPr/>
        </p:nvSpPr>
        <p:spPr>
          <a:xfrm>
            <a:off x="1490553" y="1842277"/>
            <a:ext cx="6588576" cy="4305409"/>
          </a:xfrm>
          <a:prstGeom prst="rect">
            <a:avLst/>
          </a:prstGeom>
          <a:noFill/>
        </p:spPr>
        <p:txBody>
          <a:bodyPr wrap="square" rtlCol="0">
            <a:spAutoFit/>
          </a:bodyPr>
          <a:lstStyle/>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Typography meets minimum size standards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Color contrast is readable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Slides are not overcrowded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Visual hierarchy is clear and consistent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Charts and labels are legible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Alt text added to meaningful visuals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Decorative visuals marked appropriately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Reading order is logical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Videos include captions when applicable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Presentation tested in Presentation Mode </a:t>
            </a:r>
          </a:p>
          <a:p>
            <a:pPr marL="285750" marR="0" lvl="0" indent="-285750" algn="l" defTabSz="914400" rtl="0" eaLnBrk="1" fontAlgn="auto" latinLnBrk="0" hangingPunct="1">
              <a:lnSpc>
                <a:spcPct val="114000"/>
              </a:lnSpc>
              <a:spcBef>
                <a:spcPts val="0"/>
              </a:spcBef>
              <a:spcAft>
                <a:spcPts val="0"/>
              </a:spcAft>
              <a:buClrTx/>
              <a:buSzTx/>
              <a:buFont typeface="Wingdings" pitchFamily="2" charset="2"/>
              <a:buChar char="q"/>
              <a:tabLst/>
              <a:defRPr/>
            </a:pPr>
            <a:r>
              <a:rPr kumimoji="0" lang="en-US" sz="2200" b="0" i="0" u="none" strike="noStrike" kern="1200" cap="none" spc="0" normalizeH="0" baseline="0" noProof="0" dirty="0">
                <a:ln>
                  <a:noFill/>
                </a:ln>
                <a:solidFill>
                  <a:srgbClr val="222222"/>
                </a:solidFill>
                <a:effectLst/>
                <a:uLnTx/>
                <a:uFillTx/>
                <a:latin typeface="Arial"/>
                <a:ea typeface="+mn-ea"/>
                <a:cs typeface="+mn-cs"/>
              </a:rPr>
              <a:t>PDF export reviewed for readability</a:t>
            </a:r>
            <a:endParaRPr kumimoji="0" lang="en-US" sz="2200" b="0" i="0" u="none" strike="noStrike" kern="1200" cap="none" spc="0" normalizeH="0" baseline="0" noProof="0" dirty="0">
              <a:ln>
                <a:noFill/>
              </a:ln>
              <a:solidFill>
                <a:srgbClr val="0C2340"/>
              </a:solidFill>
              <a:effectLst/>
              <a:uLnTx/>
              <a:uFillTx/>
              <a:latin typeface="Arial"/>
              <a:ea typeface="+mn-ea"/>
              <a:cs typeface="+mn-cs"/>
            </a:endParaRPr>
          </a:p>
        </p:txBody>
      </p:sp>
    </p:spTree>
    <p:extLst>
      <p:ext uri="{BB962C8B-B14F-4D97-AF65-F5344CB8AC3E}">
        <p14:creationId xmlns:p14="http://schemas.microsoft.com/office/powerpoint/2010/main" val="672423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AS light">
  <a:themeElements>
    <a:clrScheme name="CAS 2026 Brand Theme">
      <a:dk1>
        <a:srgbClr val="222222"/>
      </a:dk1>
      <a:lt1>
        <a:srgbClr val="F0ECE8"/>
      </a:lt1>
      <a:dk2>
        <a:srgbClr val="002C71"/>
      </a:dk2>
      <a:lt2>
        <a:srgbClr val="FFB81C"/>
      </a:lt2>
      <a:accent1>
        <a:srgbClr val="74D2E7"/>
      </a:accent1>
      <a:accent2>
        <a:srgbClr val="0C2340"/>
      </a:accent2>
      <a:accent3>
        <a:srgbClr val="00BF6F"/>
      </a:accent3>
      <a:accent4>
        <a:srgbClr val="0083D3"/>
      </a:accent4>
      <a:accent5>
        <a:srgbClr val="6F5091"/>
      </a:accent5>
      <a:accent6>
        <a:srgbClr val="FF6914"/>
      </a:accent6>
      <a:hlink>
        <a:srgbClr val="002C71"/>
      </a:hlink>
      <a:folHlink>
        <a:srgbClr val="002C71"/>
      </a:folHlink>
    </a:clrScheme>
    <a:fontScheme name="Arial Standar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sualty Actuarial Society PPT (v2 5.22.26) 6-1" id="{CEAAE967-8638-D84E-95CD-47218A63ACBD}" vid="{BF497BB6-9164-B14E-AF7C-5096A153F91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9EF824EE8C45478C8138952FAD69DB" ma:contentTypeVersion="20" ma:contentTypeDescription="Create a new document." ma:contentTypeScope="" ma:versionID="f747e127d1a4beca40e3ec9cd99ba486">
  <xsd:schema xmlns:xsd="http://www.w3.org/2001/XMLSchema" xmlns:xs="http://www.w3.org/2001/XMLSchema" xmlns:p="http://schemas.microsoft.com/office/2006/metadata/properties" xmlns:ns1="http://schemas.microsoft.com/sharepoint/v3" xmlns:ns2="951955d5-31c7-4a2d-8890-c223a0aa899b" xmlns:ns3="5f24ab68-4802-49b7-8321-84c7131551f0" xmlns:ns4="035059a0-d0ab-420a-99f5-7e53cb92e6c1" targetNamespace="http://schemas.microsoft.com/office/2006/metadata/properties" ma:root="true" ma:fieldsID="acf62f4e3422b5c0fc03d5d01a9e248a" ns1:_="" ns2:_="" ns3:_="" ns4:_="">
    <xsd:import namespace="http://schemas.microsoft.com/sharepoint/v3"/>
    <xsd:import namespace="951955d5-31c7-4a2d-8890-c223a0aa899b"/>
    <xsd:import namespace="5f24ab68-4802-49b7-8321-84c7131551f0"/>
    <xsd:import namespace="035059a0-d0ab-420a-99f5-7e53cb92e6c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1955d5-31c7-4a2d-8890-c223a0aa89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0560b896-8886-498a-a042-c3e26b9789a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24ab68-4802-49b7-8321-84c7131551f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35059a0-d0ab-420a-99f5-7e53cb92e6c1"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83201866-58c0-4721-a452-d4356fe7de4e}" ma:internalName="TaxCatchAll" ma:showField="CatchAllData" ma:web="035059a0-d0ab-420a-99f5-7e53cb92e6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951955d5-31c7-4a2d-8890-c223a0aa899b">
      <Terms xmlns="http://schemas.microsoft.com/office/infopath/2007/PartnerControls"/>
    </lcf76f155ced4ddcb4097134ff3c332f>
    <TaxCatchAll xmlns="035059a0-d0ab-420a-99f5-7e53cb92e6c1" xsi:nil="true"/>
  </documentManagement>
</p:properties>
</file>

<file path=customXml/itemProps1.xml><?xml version="1.0" encoding="utf-8"?>
<ds:datastoreItem xmlns:ds="http://schemas.openxmlformats.org/officeDocument/2006/customXml" ds:itemID="{06D69A85-494C-41E7-81AE-33B0386E8D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1955d5-31c7-4a2d-8890-c223a0aa899b"/>
    <ds:schemaRef ds:uri="5f24ab68-4802-49b7-8321-84c7131551f0"/>
    <ds:schemaRef ds:uri="035059a0-d0ab-420a-99f5-7e53cb92e6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F71CDBE-2AAB-4E28-B494-D4EAA83B59DB}">
  <ds:schemaRefs>
    <ds:schemaRef ds:uri="http://schemas.microsoft.com/sharepoint/v3/contenttype/forms"/>
  </ds:schemaRefs>
</ds:datastoreItem>
</file>

<file path=customXml/itemProps3.xml><?xml version="1.0" encoding="utf-8"?>
<ds:datastoreItem xmlns:ds="http://schemas.openxmlformats.org/officeDocument/2006/customXml" ds:itemID="{EB6CC138-1461-406F-835D-822983C5A162}">
  <ds:schemaRefs>
    <ds:schemaRef ds:uri="http://schemas.microsoft.com/office/2006/metadata/properties"/>
    <ds:schemaRef ds:uri="http://schemas.microsoft.com/office/infopath/2007/PartnerControls"/>
    <ds:schemaRef ds:uri="http://schemas.microsoft.com/sharepoint/v3"/>
    <ds:schemaRef ds:uri="951955d5-31c7-4a2d-8890-c223a0aa899b"/>
    <ds:schemaRef ds:uri="035059a0-d0ab-420a-99f5-7e53cb92e6c1"/>
  </ds:schemaRefs>
</ds:datastoreItem>
</file>

<file path=docMetadata/LabelInfo.xml><?xml version="1.0" encoding="utf-8"?>
<clbl:labelList xmlns:clbl="http://schemas.microsoft.com/office/2020/mipLabelMetadata">
  <clbl:label id="{dd2e4901-b5ad-42ae-9e9d-f456e52148af}" enabled="1" method="Privileged" siteId="{3b07dc1f-22e7-4be1-ac66-a88bf3550222}" contentBits="0" removed="0"/>
</clbl:labelList>
</file>

<file path=docProps/app.xml><?xml version="1.0" encoding="utf-8"?>
<Properties xmlns="http://schemas.openxmlformats.org/officeDocument/2006/extended-properties" xmlns:vt="http://schemas.openxmlformats.org/officeDocument/2006/docPropsVTypes">
  <TotalTime>411</TotalTime>
  <Words>4678</Words>
  <Application>Microsoft Office PowerPoint</Application>
  <PresentationFormat>Widescreen</PresentationFormat>
  <Paragraphs>285</Paragraphs>
  <Slides>28</Slides>
  <Notes>15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Aptos</vt:lpstr>
      <vt:lpstr>Arial</vt:lpstr>
      <vt:lpstr>Arial Black</vt:lpstr>
      <vt:lpstr>Montserrat</vt:lpstr>
      <vt:lpstr>Montserrat Medium</vt:lpstr>
      <vt:lpstr>Poppins Light</vt:lpstr>
      <vt:lpstr>Source Sans 3</vt:lpstr>
      <vt:lpstr>Wingdings</vt:lpstr>
      <vt:lpstr>Office Theme</vt:lpstr>
      <vt:lpstr>CAS light</vt:lpstr>
      <vt:lpstr>PowerPoint Presentation</vt:lpstr>
      <vt:lpstr>Antitrust Notice </vt:lpstr>
      <vt:lpstr>Pet Insurance</vt:lpstr>
      <vt:lpstr>Meet Your Presenters</vt:lpstr>
      <vt:lpstr>Poll EV’s</vt:lpstr>
      <vt:lpstr>PowerPoint Presentation</vt:lpstr>
      <vt:lpstr>U.S. Pet Insurance Market</vt:lpstr>
      <vt:lpstr>Coverage &amp; Policy Structure</vt:lpstr>
      <vt:lpstr>PowerPoint Presentation</vt:lpstr>
      <vt:lpstr>Health Risk, P&amp;C Rules</vt:lpstr>
      <vt:lpstr>Why Product Design Matters</vt:lpstr>
      <vt:lpstr>Pricing a Hybrid Risk</vt:lpstr>
      <vt:lpstr>Regulating a Hybrid Product</vt:lpstr>
      <vt:lpstr>PowerPoint Presentation</vt:lpstr>
      <vt:lpstr>Growth Without Innovation</vt:lpstr>
      <vt:lpstr>Pricing a Fast-Growing Book</vt:lpstr>
      <vt:lpstr>Regulation Catches Up</vt:lpstr>
      <vt:lpstr>PowerPoint Presentation</vt:lpstr>
      <vt:lpstr>Designing for Better Care</vt:lpstr>
      <vt:lpstr>Pricing a Rising Cost Curve</vt:lpstr>
      <vt:lpstr>Rate Need Meets Rate Approval</vt:lpstr>
      <vt:lpstr>PowerPoint Presentation</vt:lpstr>
      <vt:lpstr>Accessibility  &amp; Presentation Standards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 Jackman</dc:creator>
  <cp:lastModifiedBy>Tevin, Daniel</cp:lastModifiedBy>
  <cp:revision>11</cp:revision>
  <dcterms:created xsi:type="dcterms:W3CDTF">2026-07-27T12:18:41Z</dcterms:created>
  <dcterms:modified xsi:type="dcterms:W3CDTF">2026-09-29T18:41:59Z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0x010100659EF824EE8C45478C8138952FAD69DB</vt:lpwstr>
  </property>
</Properties>
</file>